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68" r:id="rId4"/>
    <p:sldId id="258" r:id="rId5"/>
    <p:sldId id="259" r:id="rId6"/>
    <p:sldId id="260" r:id="rId7"/>
    <p:sldId id="269" r:id="rId8"/>
    <p:sldId id="261" r:id="rId9"/>
    <p:sldId id="262" r:id="rId10"/>
    <p:sldId id="263" r:id="rId11"/>
    <p:sldId id="264" r:id="rId12"/>
    <p:sldId id="270" r:id="rId13"/>
    <p:sldId id="265" r:id="rId14"/>
    <p:sldId id="266" r:id="rId15"/>
    <p:sldId id="271" r:id="rId16"/>
    <p:sldId id="267"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6" d="100"/>
          <a:sy n="116" d="100"/>
        </p:scale>
        <p:origin x="208" y="4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892167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Session 1 of the Symbiosis Autonomous AI Systems and Agent-Based Computing course. Open by setting expectations: this is a 12-session journey that starts from AI fundamentals and builds all the way to multi-agent systems and responsible AI. Today's session is the foundation everything else stands on, so take time to make sure concepts land before moving fast in later sessions. Briefly introduce yourself, your background, and why agentic AI matters right now in industry. Mention that every session in this course will have a hands-on lab, and that today's lab (building a resume with GenAI) will actually be reused and evolved across the next several sessions — so what students create today becomes the running example for prompt engineering, APIs, embeddings, RAG, and agents later in the course. This continuity is a good hook to mention up front to build engagement. Timing: keep this intro to 2 minutes.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agenda quickly (30-45 seconds) so students know the shape of the hour. Emphasize that this session is intentionally concept-heavy and low-code — the goal is to build a mental model of the AI landscape before we touch tools. Point out that the last ~12 minutes are hands-on: they'll actually use a GenAI tool (ChatGPT, Claude, Gemini, Copilot — whatever is available/approved in the lab) to generate a resume for a fictional student. Mention that timings are approximate and you'll flex based on how discussion goes, but the lab time is protected — it will happen even if we have to compress the history section.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7F61F8-7812-401C-CF4B-CAD2CDFD9D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E57C78-569F-08DB-8FA3-A41D1C9D5C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F97DC0-D3F1-A1E4-5616-94BF6F1454E6}"/>
              </a:ext>
            </a:extLst>
          </p:cNvPr>
          <p:cNvSpPr>
            <a:spLocks noGrp="1"/>
          </p:cNvSpPr>
          <p:nvPr>
            <p:ph type="body" idx="1"/>
          </p:nvPr>
        </p:nvSpPr>
        <p:spPr/>
        <p:txBody>
          <a:bodyPr/>
          <a:lstStyle/>
          <a:p>
            <a:r>
              <a:rPr lang="en-US" dirty="0"/>
              <a:t>Walk through the agenda quickly (30-45 seconds) so students know the shape of the hour. Emphasize that this session is intentionally concept-heavy and low-code — the goal is to build a mental model of the AI landscape before we touch tools. Point out that the last ~12 minutes are hands-on: they'll actually use a GenAI tool (ChatGPT, Claude, Gemini, Copilot — whatever is available/approved in the lab) to generate a resume for a fictional student. Mention that timings are approximate and you'll flex based on how discussion goes, but the lab time is protected — it will happen even if we have to compress the history section.</a:t>
            </a:r>
          </a:p>
        </p:txBody>
      </p:sp>
      <p:sp>
        <p:nvSpPr>
          <p:cNvPr id="4" name="Slide Number Placeholder 3">
            <a:extLst>
              <a:ext uri="{FF2B5EF4-FFF2-40B4-BE49-F238E27FC236}">
                <a16:creationId xmlns:a16="http://schemas.microsoft.com/office/drawing/2014/main" id="{7B699DAE-DE0D-B1F3-A3D6-FED6AD5B4761}"/>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35911695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Move through this timeline briskly — the goal is a mental map, not a history lecture. Key narrative: AI did not start with ChatGPT. It has gone through repeated cycles of hype and 'AI winters' since the 1950s. 1950s: Turing asks 'can machines think', and the field is formally named at the 1956 Dartmouth workshop. 1980s: expert systems try to hard-code human knowledge as rules — useful but brittle and expensive to maintain. 1990s-2000s: the shift to learning from data (machine learning) instead of hand-written rules. 2012 onward: deep learning, fueled by GPUs and massive datasets, makes image recognition and speech recognition dramatically better. 2020-2022: generative models (GPT-3, DALL-E, diffusion models) start producing original text, images, code. 2023 onward: models begin to plan, call tools, and act with autonomy — this is the 'agentic' shift the whole course is about. Optional discussion prompt if time allows: ask students where they think we are on this curve today, and where it goes next.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important slide of the session — students should leave able to redraw this ladder from memory. Walk left to right: Traditional AI is hand-coded rules (e.g. a tax calculator, a chess engine with hard-coded strategies) — no learning happens. Machine Learning flips this: instead of writing rules, we show the system labeled examples and it learns the pattern (e.g. spam detection, credit scoring). Deep Learning is a specific, very powerful family of ML using layered neural networks — it's what made image recognition, speech recognition, and eventually language modeling practical at scale. Generative AI is a deep learning model trained to produce new content rather than just classify or predict a number — text, images, audio, code. Agentic AI is the newest layer: instead of just responding to one prompt, the system can plan a multi-step approach, decide what tool to use, take actions, observe results, and adjust — working toward a goal with reduced human micromanagement. Stress the closing line on the slide: each stage builds on the previous one, it doesn't discard it. Modern agentic systems still rely on deep learning and generative models underneath.</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one relatable example per category and pause for questions before moving on — this distinction recurs throughout the course. Predictive AI is the 'oldest practical' category: it looks at historical data and estimates a number or label — will this transaction be fraud, will this customer churn, what will demand be next month. Generative AI is what most students already associate with 'AI' today: given a prompt, it produces new content that didn't exist before — an essay, an image, a snippet of code. Agentic AI is the newest and the throughline of this entire course: rather than answering one question, an agent is given a goal, and it plans a sequence of steps, may call external tools or APIs, observes results, and adjusts its plan — with much less step-by-step human instruction. A quick way to frame it: predictive AI answers a question, generative AI creates an artifact, agentic AI completes a task. Note that these are not mutually exclusive — a resume-writing agent (today's lab, evolved later in the course) is generative today and will become agentic by Session 10.</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C261DE-F9DD-2427-ADD8-A71C2B6556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C7FA04-9260-8173-06E8-E32E08E93F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7EC427-9852-CB4D-EBC5-24840258ECC1}"/>
              </a:ext>
            </a:extLst>
          </p:cNvPr>
          <p:cNvSpPr>
            <a:spLocks noGrp="1"/>
          </p:cNvSpPr>
          <p:nvPr>
            <p:ph type="body" idx="1"/>
          </p:nvPr>
        </p:nvSpPr>
        <p:spPr/>
        <p:txBody>
          <a:bodyPr/>
          <a:lstStyle/>
          <a:p>
            <a:r>
              <a:rPr lang="en-US" dirty="0"/>
              <a:t>Walk through the agenda quickly (30-45 seconds) so students know the shape of the hour. Emphasize that this session is intentionally concept-heavy and low-code — the goal is to build a mental model of the AI landscape before we touch tools. Point out that the last ~12 minutes are hands-on: they'll actually use a GenAI tool (ChatGPT, Claude, Gemini, Copilot — whatever is available/approved in the lab) to generate a resume for a fictional student. Mention that timings are approximate and you'll flex based on how discussion goes, but the lab time is protected — it will happen even if we have to compress the history section.</a:t>
            </a:r>
          </a:p>
        </p:txBody>
      </p:sp>
      <p:sp>
        <p:nvSpPr>
          <p:cNvPr id="4" name="Slide Number Placeholder 3">
            <a:extLst>
              <a:ext uri="{FF2B5EF4-FFF2-40B4-BE49-F238E27FC236}">
                <a16:creationId xmlns:a16="http://schemas.microsoft.com/office/drawing/2014/main" id="{DEE491AC-6EEF-7D4E-2A1A-754093B54900}"/>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23559683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light — full technical depth on tokens, transformers, and context windows is Session 2's job. The goal here is just to plant the two vocabulary terms students will hear constantly: GenAI and LLM. Explain GenAI first as the umbrella category (models that create new content). Then explain that LLMs are the specific kind of GenAI model focused on language — reading and producing text. The 'how it works in one line' point is the single most useful mental model for a beginner: the model is essentially doing very sophisticated next-word prediction, trained on huge amounts of text, and that's why it can sometimes sound confident but be wrong — it's predicting plausible text, not looking up verified facts. Close by connecting to the course arc: LLMs are the 'brain' that later gets combined with memory, tools, and planning to become an agent — which is exactly where this course is headed.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preview slide — full agent architecture (planning, tools, function calling, task decomposition) is covered in depth in Session 10, so keep this to the big idea only. The core distinction to land: a plain chatbot responds to one prompt at a time with no persistent goal. An agent is given a goal and loops — reason about what to do, plan the next step, optionally use a tool or take an action, observe the result, and repeat until the goal is done or it needs human input. Use a simple example: 'Book me the cheapest flight to Mumbai next weekend' — a chatbot would just describe how to search for flights; an agent would actually search, compare prices across sites, and complete the booking (or draft it for approval). Memory matters because multi-step tasks need to remember what's already been tried. Land the italic line at the bottom as the one-sentence definition students should walk away with.</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clears up a genuinely confusing area of vocabulary that students will hear used loosely and inconsistently in the industry. Chatbot: think customer-support chat widgets — mainly conversational, single question-and-answer turns. Copilot: embedded in a specific tool to help you do your job faster — e.g. GitHub Copilot suggests code inline while you keep coding; the human drives, the AI assists. Assistant: broader in scope than a copilot — e.g. Siri, Alexa, or Google Assistant help across several everyday tasks (reminders, calendar, questions), but are still largely reactive to your requests. Agent: the most autonomous — given a goal, it can plan multiple steps, invoke tools, and carry out actions with reduced supervision, only checking in with a human at key checkpoints. Point at the bottom line: this isn't four unrelated categories, it's a spectrum of increasing autonomy. Ask students to place tools they already use (e.g. Google Maps suggestions vs. an AI trip planner that books everything) on this spectrum as a quick interactive check.</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make the taxonomy from the last three slides feel concrete and immediate — every student has used at least four of these six examples this week. Go quickly, one sentence each, and ask 'which category is this?' before revealing to keep it interactive. Netflix/Spotify: predictive AI scoring what you're likely to enjoy. ChatGPT/Copilot/Midjourney: generative AI producing new text, code, and images. Siri/Alexa: assistants handling a broad range of voice-driven tasks, still reactive. AI travel or coding agents (e.g. autonomous coding agents that open pull requests): agentic AI carrying out multi-step tasks with reduced supervision. Fraud detection: predictive AI scoring risk in real time at checkout. Autonomous driving: a strong agentic example — continuously perceiving, planning, and acting in a dynamic environment. Close by noting that most real products blend these categories rather than being purely one type.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7B676E-29B5-58FF-3688-CC553149D4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11BA18-DB73-E6D2-8687-0BBA4A9467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5DDD5E-BB6F-000C-3D88-BD1CEA8E199F}"/>
              </a:ext>
            </a:extLst>
          </p:cNvPr>
          <p:cNvSpPr>
            <a:spLocks noGrp="1"/>
          </p:cNvSpPr>
          <p:nvPr>
            <p:ph type="body" idx="1"/>
          </p:nvPr>
        </p:nvSpPr>
        <p:spPr/>
        <p:txBody>
          <a:bodyPr/>
          <a:lstStyle/>
          <a:p>
            <a:r>
              <a:rPr lang="en-US" dirty="0"/>
              <a:t>Walk through the agenda quickly (30-45 seconds) so students know the shape of the hour. Emphasize that this session is intentionally concept-heavy and low-code — the goal is to build a mental model of the AI landscape before we touch tools. Point out that the last ~12 minutes are hands-on: they'll actually use a GenAI tool (ChatGPT, Claude, Gemini, Copilot — whatever is available/approved in the lab) to generate a resume for a fictional student. Mention that timings are approximate and you'll flex based on how discussion goes, but the lab time is protected — it will happen even if we have to compress the history section.</a:t>
            </a:r>
          </a:p>
        </p:txBody>
      </p:sp>
      <p:sp>
        <p:nvSpPr>
          <p:cNvPr id="4" name="Slide Number Placeholder 3">
            <a:extLst>
              <a:ext uri="{FF2B5EF4-FFF2-40B4-BE49-F238E27FC236}">
                <a16:creationId xmlns:a16="http://schemas.microsoft.com/office/drawing/2014/main" id="{33D8353B-235A-A7DC-9084-FF4B0700CD44}"/>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352191969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protected hands-on segment — budget roughly 10 minutes to build plus 2-3 minutes for a couple of quick presentations. Instructions: each student (or pair, depending on lab capacity) invents a fictional student profile on the spot — name, degree/branch, 2-3 skills, and one project or internship. They then use any available GenAI tool to generate a one-page resume from that profile via a single prompt. Circulate while they work and watch for common issues: overly vague prompts producing generic resumes, or output that invents unrealistic details. Don't over-correct yet — session 2 is specifically about how prompt phrasing changes output quality, so let some rough results happen naturally; you'll reference them next session. For presentation, ask for 2-3 volunteers to briefly show their prompt and the output on screen. Emphasize the note in the deliverable box: they should hold onto this resume and prompt, because it becomes the running example reused in Sessions 2, 3, 4, 5, 6, 7, 8, 9, 10, and 11 — so what they build now has payoff across the whole course.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through these five takeaways as a closing recap rather than introducing new information — this is the checkpoint before moving to Session 2. If time allows, cold-call a student to explain one takeaway in their own words as a quick comprehension check. This is also a good moment to address any lingering questions from the lab exercise. Reinforce that today was intentionally conceptual and low-tool; starting next session, the course gets progressively more hands-on and technical, building directly on the vocabulary established today.</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6288AC-3C43-04BE-6A3F-6FD8477990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37C1A2-94AE-170C-8FD0-F199060A16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BCB780-D7B8-9658-A530-2C4B35966CB8}"/>
              </a:ext>
            </a:extLst>
          </p:cNvPr>
          <p:cNvSpPr>
            <a:spLocks noGrp="1"/>
          </p:cNvSpPr>
          <p:nvPr>
            <p:ph type="body" idx="1"/>
          </p:nvPr>
        </p:nvSpPr>
        <p:spPr/>
        <p:txBody>
          <a:bodyPr/>
          <a:lstStyle/>
          <a:p>
            <a:r>
              <a:rPr lang="en-US" dirty="0"/>
              <a:t>Walk through the agenda quickly (30-45 seconds) so students know the shape of the hour. Emphasize that this session is intentionally concept-heavy and low-code — the goal is to build a mental model of the AI landscape before we touch tools. Point out that the last ~12 minutes are hands-on: they'll actually use a GenAI tool (ChatGPT, Claude, Gemini, Copilot — whatever is available/approved in the lab) to generate a resume for a fictional student. Mention that timings are approximate and you'll flex based on how discussion goes, but the lab time is protected — it will happen even if we have to compress the history section.</a:t>
            </a:r>
          </a:p>
        </p:txBody>
      </p:sp>
      <p:sp>
        <p:nvSpPr>
          <p:cNvPr id="4" name="Slide Number Placeholder 3">
            <a:extLst>
              <a:ext uri="{FF2B5EF4-FFF2-40B4-BE49-F238E27FC236}">
                <a16:creationId xmlns:a16="http://schemas.microsoft.com/office/drawing/2014/main" id="{A7D6B9AC-3BC2-CFE7-5855-542969C7DBC9}"/>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390077988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session by previewing Session 2 so students see the throughline: today established what LLMs and GenAI are conceptually; next session opens the hood on how LLMs actually behave — tokens, transformers at a high level, pretraining vs fine-tuning, and context windows — all explained without heavy math, aimed at this being a beginner-friendly ramp. Remind students that the Session 2 lab reuses today's resume prompt: they'll test the same request with different prompt phrasing and compare how output quality changes, which sets up the deeper prompt-engineering sessions (4 and 5) that follow. End with a quick check for questions, and thank the class for their participation.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 Id="rId9"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2.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21.png"/><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6.png"/><Relationship Id="rId7"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10.png"/><Relationship Id="rId4" Type="http://schemas.openxmlformats.org/officeDocument/2006/relationships/image" Target="../media/image19.png"/><Relationship Id="rId9" Type="http://schemas.openxmlformats.org/officeDocument/2006/relationships/image" Target="../media/image24.png"/></Relationships>
</file>

<file path=ppt/slides/_rels/slide1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28.png"/><Relationship Id="rId4" Type="http://schemas.openxmlformats.org/officeDocument/2006/relationships/image" Target="../media/image27.png"/></Relationships>
</file>

<file path=ppt/slides/_rels/slide1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1F3B"/>
        </a:solidFill>
        <a:effectLst/>
      </p:bgPr>
    </p:bg>
    <p:spTree>
      <p:nvGrpSpPr>
        <p:cNvPr id="1" name=""/>
        <p:cNvGrpSpPr/>
        <p:nvPr/>
      </p:nvGrpSpPr>
      <p:grpSpPr>
        <a:xfrm>
          <a:off x="0" y="0"/>
          <a:ext cx="0" cy="0"/>
          <a:chOff x="0" y="0"/>
          <a:chExt cx="0" cy="0"/>
        </a:xfrm>
      </p:grpSpPr>
      <p:sp>
        <p:nvSpPr>
          <p:cNvPr id="2" name="Shape 0"/>
          <p:cNvSpPr/>
          <p:nvPr/>
        </p:nvSpPr>
        <p:spPr>
          <a:xfrm>
            <a:off x="9692640" y="-1463040"/>
            <a:ext cx="5029200" cy="5029200"/>
          </a:xfrm>
          <a:prstGeom prst="ellipse">
            <a:avLst/>
          </a:prstGeom>
          <a:solidFill>
            <a:srgbClr val="2B2F55"/>
          </a:solidFill>
          <a:ln/>
        </p:spPr>
        <p:txBody>
          <a:bodyPr/>
          <a:lstStyle/>
          <a:p>
            <a:endParaRPr lang="en-US"/>
          </a:p>
        </p:txBody>
      </p:sp>
      <p:sp>
        <p:nvSpPr>
          <p:cNvPr id="3" name="Shape 1"/>
          <p:cNvSpPr/>
          <p:nvPr/>
        </p:nvSpPr>
        <p:spPr>
          <a:xfrm>
            <a:off x="10607040" y="4206240"/>
            <a:ext cx="2926080" cy="2926080"/>
          </a:xfrm>
          <a:prstGeom prst="ellipse">
            <a:avLst/>
          </a:prstGeom>
          <a:solidFill>
            <a:srgbClr val="2B2F55"/>
          </a:solidFill>
          <a:ln/>
        </p:spPr>
        <p:txBody>
          <a:bodyPr/>
          <a:lstStyle/>
          <a:p>
            <a:endParaRPr lang="en-US"/>
          </a:p>
        </p:txBody>
      </p:sp>
      <p:sp>
        <p:nvSpPr>
          <p:cNvPr id="4" name="Shape 2"/>
          <p:cNvSpPr/>
          <p:nvPr/>
        </p:nvSpPr>
        <p:spPr>
          <a:xfrm>
            <a:off x="640080" y="640080"/>
            <a:ext cx="731520" cy="731520"/>
          </a:xfrm>
          <a:prstGeom prst="ellipse">
            <a:avLst/>
          </a:prstGeom>
          <a:solidFill>
            <a:srgbClr val="6C63FF"/>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830275" y="830275"/>
            <a:ext cx="351130" cy="351130"/>
          </a:xfrm>
          <a:prstGeom prst="rect">
            <a:avLst/>
          </a:prstGeom>
        </p:spPr>
      </p:pic>
      <p:sp>
        <p:nvSpPr>
          <p:cNvPr id="6" name="Text 3"/>
          <p:cNvSpPr/>
          <p:nvPr/>
        </p:nvSpPr>
        <p:spPr>
          <a:xfrm>
            <a:off x="594360" y="1600200"/>
            <a:ext cx="9144000" cy="320040"/>
          </a:xfrm>
          <a:prstGeom prst="rect">
            <a:avLst/>
          </a:prstGeom>
          <a:noFill/>
          <a:ln/>
        </p:spPr>
        <p:txBody>
          <a:bodyPr wrap="square" lIns="0" tIns="0" rIns="0" bIns="0" rtlCol="0" anchor="ctr"/>
          <a:lstStyle/>
          <a:p>
            <a:pPr marL="0" indent="0">
              <a:buNone/>
            </a:pPr>
            <a:r>
              <a:rPr lang="en-US" sz="1300" b="1" kern="0" spc="200" dirty="0">
                <a:solidFill>
                  <a:srgbClr val="00C2A8"/>
                </a:solidFill>
                <a:latin typeface="Calibri" pitchFamily="34" charset="0"/>
                <a:ea typeface="Calibri" pitchFamily="34" charset="-122"/>
                <a:cs typeface="Calibri" pitchFamily="34" charset="-120"/>
              </a:rPr>
              <a:t>SYMBIOSIS  ·  AUTONOMOUS AI SYSTEMS &amp; AGENT-BASED COMPUTING</a:t>
            </a:r>
            <a:endParaRPr lang="en-US" sz="1300" dirty="0"/>
          </a:p>
        </p:txBody>
      </p:sp>
      <p:sp>
        <p:nvSpPr>
          <p:cNvPr id="7" name="Text 4"/>
          <p:cNvSpPr/>
          <p:nvPr/>
        </p:nvSpPr>
        <p:spPr>
          <a:xfrm>
            <a:off x="548640" y="1965960"/>
            <a:ext cx="9601200" cy="1920240"/>
          </a:xfrm>
          <a:prstGeom prst="rect">
            <a:avLst/>
          </a:prstGeom>
          <a:noFill/>
          <a:ln/>
        </p:spPr>
        <p:txBody>
          <a:bodyPr wrap="square" lIns="0" tIns="0" rIns="0" bIns="0" rtlCol="0" anchor="ctr"/>
          <a:lstStyle/>
          <a:p>
            <a:pPr marL="0" indent="0">
              <a:lnSpc>
                <a:spcPts val="5000"/>
              </a:lnSpc>
              <a:buNone/>
            </a:pPr>
            <a:r>
              <a:rPr lang="en-US" sz="4400" b="1" dirty="0">
                <a:solidFill>
                  <a:srgbClr val="FFFFFF"/>
                </a:solidFill>
                <a:latin typeface="Cambria" pitchFamily="34" charset="0"/>
                <a:ea typeface="Cambria" pitchFamily="34" charset="-122"/>
                <a:cs typeface="Cambria" pitchFamily="34" charset="-120"/>
              </a:rPr>
              <a:t>Introduction to AI,</a:t>
            </a:r>
            <a:endParaRPr lang="en-US" sz="4400" dirty="0"/>
          </a:p>
          <a:p>
            <a:pPr marL="0" indent="0">
              <a:lnSpc>
                <a:spcPts val="5000"/>
              </a:lnSpc>
              <a:buNone/>
            </a:pPr>
            <a:r>
              <a:rPr lang="en-US" sz="4400" b="1" dirty="0">
                <a:solidFill>
                  <a:srgbClr val="FFFFFF"/>
                </a:solidFill>
                <a:latin typeface="Cambria" pitchFamily="34" charset="0"/>
                <a:ea typeface="Cambria" pitchFamily="34" charset="-122"/>
                <a:cs typeface="Cambria" pitchFamily="34" charset="-120"/>
              </a:rPr>
              <a:t>Generative AI, and Agentic AI</a:t>
            </a:r>
            <a:endParaRPr lang="en-US" sz="4400" dirty="0"/>
          </a:p>
        </p:txBody>
      </p:sp>
      <p:sp>
        <p:nvSpPr>
          <p:cNvPr id="8" name="Text 5"/>
          <p:cNvSpPr/>
          <p:nvPr/>
        </p:nvSpPr>
        <p:spPr>
          <a:xfrm>
            <a:off x="594360" y="3977640"/>
            <a:ext cx="5486400" cy="365760"/>
          </a:xfrm>
          <a:prstGeom prst="rect">
            <a:avLst/>
          </a:prstGeom>
          <a:noFill/>
          <a:ln/>
        </p:spPr>
        <p:txBody>
          <a:bodyPr wrap="square" lIns="0" tIns="0" rIns="0" bIns="0" rtlCol="0" anchor="ctr"/>
          <a:lstStyle/>
          <a:p>
            <a:pPr marL="0" indent="0">
              <a:buNone/>
            </a:pPr>
            <a:r>
              <a:rPr lang="en-US" sz="1600" dirty="0">
                <a:solidFill>
                  <a:srgbClr val="C9CCE8"/>
                </a:solidFill>
                <a:latin typeface="Calibri" pitchFamily="34" charset="0"/>
                <a:ea typeface="Calibri" pitchFamily="34" charset="-122"/>
                <a:cs typeface="Calibri" pitchFamily="34" charset="-120"/>
              </a:rPr>
              <a:t>Session 1 of 12</a:t>
            </a:r>
            <a:endParaRPr lang="en-US" sz="1600" dirty="0"/>
          </a:p>
        </p:txBody>
      </p:sp>
      <p:sp>
        <p:nvSpPr>
          <p:cNvPr id="9" name="Shape 6"/>
          <p:cNvSpPr/>
          <p:nvPr/>
        </p:nvSpPr>
        <p:spPr>
          <a:xfrm>
            <a:off x="548640" y="5349240"/>
            <a:ext cx="6949440" cy="960120"/>
          </a:xfrm>
          <a:prstGeom prst="roundRect">
            <a:avLst>
              <a:gd name="adj" fmla="val 7619"/>
            </a:avLst>
          </a:prstGeom>
          <a:solidFill>
            <a:srgbClr val="2B2F55"/>
          </a:solidFill>
          <a:ln/>
        </p:spPr>
        <p:txBody>
          <a:bodyPr/>
          <a:lstStyle/>
          <a:p>
            <a:endParaRPr lang="en-US"/>
          </a:p>
        </p:txBody>
      </p:sp>
      <p:sp>
        <p:nvSpPr>
          <p:cNvPr id="10" name="Text 7"/>
          <p:cNvSpPr/>
          <p:nvPr/>
        </p:nvSpPr>
        <p:spPr>
          <a:xfrm>
            <a:off x="822960" y="5486400"/>
            <a:ext cx="6400800" cy="320040"/>
          </a:xfrm>
          <a:prstGeom prst="rect">
            <a:avLst/>
          </a:prstGeom>
          <a:noFill/>
          <a:ln/>
        </p:spPr>
        <p:txBody>
          <a:bodyPr wrap="square" lIns="0" tIns="0" rIns="0" bIns="0" rtlCol="0" anchor="ctr"/>
          <a:lstStyle/>
          <a:p>
            <a:pPr marL="0" indent="0">
              <a:buNone/>
            </a:pPr>
            <a:r>
              <a:rPr lang="en-US" sz="1300" b="1" dirty="0">
                <a:solidFill>
                  <a:srgbClr val="9AA0C3"/>
                </a:solidFill>
                <a:latin typeface="Calibri" pitchFamily="34" charset="0"/>
                <a:ea typeface="Calibri" pitchFamily="34" charset="-122"/>
                <a:cs typeface="Calibri" pitchFamily="34" charset="-120"/>
              </a:rPr>
              <a:t>Presenter:  </a:t>
            </a:r>
            <a:r>
              <a:rPr lang="en-US" sz="1300" dirty="0">
                <a:solidFill>
                  <a:srgbClr val="FFFFFF"/>
                </a:solidFill>
                <a:latin typeface="Calibri" pitchFamily="34" charset="0"/>
                <a:ea typeface="Calibri" pitchFamily="34" charset="-122"/>
                <a:cs typeface="Calibri" pitchFamily="34" charset="-120"/>
              </a:rPr>
              <a:t>Dinesh Wadhwani</a:t>
            </a:r>
            <a:endParaRPr lang="en-US" sz="1300" dirty="0"/>
          </a:p>
        </p:txBody>
      </p:sp>
      <p:sp>
        <p:nvSpPr>
          <p:cNvPr id="11" name="Text 8"/>
          <p:cNvSpPr/>
          <p:nvPr/>
        </p:nvSpPr>
        <p:spPr>
          <a:xfrm>
            <a:off x="822960" y="5852160"/>
            <a:ext cx="6400800" cy="320040"/>
          </a:xfrm>
          <a:prstGeom prst="rect">
            <a:avLst/>
          </a:prstGeom>
          <a:noFill/>
          <a:ln/>
        </p:spPr>
        <p:txBody>
          <a:bodyPr wrap="square" lIns="0" tIns="0" rIns="0" bIns="0" rtlCol="0" anchor="ctr"/>
          <a:lstStyle/>
          <a:p>
            <a:pPr marL="0" indent="0">
              <a:buNone/>
            </a:pPr>
            <a:r>
              <a:rPr lang="en-US" sz="1300" b="1" dirty="0">
                <a:solidFill>
                  <a:srgbClr val="9AA0C3"/>
                </a:solidFill>
                <a:latin typeface="Calibri" pitchFamily="34" charset="0"/>
                <a:ea typeface="Calibri" pitchFamily="34" charset="-122"/>
                <a:cs typeface="Calibri" pitchFamily="34" charset="-120"/>
              </a:rPr>
              <a:t>Focus:  </a:t>
            </a:r>
            <a:r>
              <a:rPr lang="en-US" sz="1300" dirty="0">
                <a:solidFill>
                  <a:srgbClr val="FFFFFF"/>
                </a:solidFill>
                <a:latin typeface="Calibri" pitchFamily="34" charset="0"/>
                <a:ea typeface="Calibri" pitchFamily="34" charset="-122"/>
                <a:cs typeface="Calibri" pitchFamily="34" charset="-120"/>
              </a:rPr>
              <a:t>AI foundations → Generative AI → Agentic AI</a:t>
            </a:r>
            <a:endParaRPr lang="en-US" sz="1300" dirty="0"/>
          </a:p>
        </p:txBody>
      </p:sp>
      <p:sp>
        <p:nvSpPr>
          <p:cNvPr id="12" name="Text 9"/>
          <p:cNvSpPr/>
          <p:nvPr/>
        </p:nvSpPr>
        <p:spPr>
          <a:xfrm>
            <a:off x="8595360" y="5486400"/>
            <a:ext cx="2926080" cy="731520"/>
          </a:xfrm>
          <a:prstGeom prst="rect">
            <a:avLst/>
          </a:prstGeom>
          <a:noFill/>
          <a:ln/>
        </p:spPr>
        <p:txBody>
          <a:bodyPr wrap="square" lIns="0" tIns="0" rIns="0" bIns="0" rtlCol="0" anchor="ctr"/>
          <a:lstStyle/>
          <a:p>
            <a:pPr marL="0" indent="0" algn="r">
              <a:buNone/>
            </a:pPr>
            <a:r>
              <a:rPr lang="en-US" sz="1300" dirty="0">
                <a:solidFill>
                  <a:srgbClr val="C9CCE8"/>
                </a:solidFill>
                <a:latin typeface="Calibri" pitchFamily="34" charset="0"/>
                <a:ea typeface="Calibri" pitchFamily="34" charset="-122"/>
                <a:cs typeface="Calibri" pitchFamily="34" charset="-120"/>
              </a:rPr>
              <a:t>Duration: 60 minutes</a:t>
            </a:r>
            <a:endParaRPr lang="en-US" sz="1300" dirty="0"/>
          </a:p>
        </p:txBody>
      </p:sp>
      <p:sp>
        <p:nvSpPr>
          <p:cNvPr id="14" name="Text 10"/>
          <p:cNvSpPr/>
          <p:nvPr/>
        </p:nvSpPr>
        <p:spPr>
          <a:xfrm>
            <a:off x="457200" y="6446520"/>
            <a:ext cx="7315200" cy="274320"/>
          </a:xfrm>
          <a:prstGeom prst="rect">
            <a:avLst/>
          </a:prstGeom>
          <a:noFill/>
          <a:ln/>
        </p:spPr>
        <p:txBody>
          <a:bodyPr wrap="square" lIns="0" tIns="0" rIns="0" bIns="0" rtlCol="0" anchor="ctr"/>
          <a:lstStyle/>
          <a:p>
            <a:pPr marL="0" indent="0" algn="l">
              <a:buNone/>
            </a:pPr>
            <a:r>
              <a:rPr lang="en-US" sz="900" dirty="0">
                <a:solidFill>
                  <a:srgbClr val="9AA0C3"/>
                </a:solidFill>
                <a:latin typeface="Calibri" pitchFamily="34" charset="0"/>
                <a:ea typeface="Calibri" pitchFamily="34" charset="-122"/>
                <a:cs typeface="Calibri" pitchFamily="34" charset="-120"/>
              </a:rPr>
              <a:t>SYMBIOSIS  |  Autonomous AI Systems &amp; Agent-Based Computing</a:t>
            </a:r>
            <a:endParaRPr lang="en-US" sz="900" dirty="0"/>
          </a:p>
        </p:txBody>
      </p:sp>
      <p:sp>
        <p:nvSpPr>
          <p:cNvPr id="15" name="Text 11"/>
          <p:cNvSpPr/>
          <p:nvPr/>
        </p:nvSpPr>
        <p:spPr>
          <a:xfrm>
            <a:off x="10085832" y="6446520"/>
            <a:ext cx="1645920" cy="274320"/>
          </a:xfrm>
          <a:prstGeom prst="rect">
            <a:avLst/>
          </a:prstGeom>
          <a:noFill/>
          <a:ln/>
        </p:spPr>
        <p:txBody>
          <a:bodyPr wrap="square" lIns="0" tIns="0" rIns="0" bIns="0" rtlCol="0" anchor="ctr"/>
          <a:lstStyle/>
          <a:p>
            <a:pPr marL="0" indent="0" algn="r">
              <a:buNone/>
            </a:pPr>
            <a:r>
              <a:rPr lang="en-US" sz="900" dirty="0">
                <a:solidFill>
                  <a:srgbClr val="9AA0C3"/>
                </a:solidFill>
                <a:latin typeface="Calibri" pitchFamily="34" charset="0"/>
                <a:ea typeface="Calibri" pitchFamily="34" charset="-122"/>
                <a:cs typeface="Calibri" pitchFamily="34" charset="-120"/>
              </a:rPr>
              <a:t>Session 1  ·  1/12</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6FA"/>
        </a:solidFill>
        <a:effectLst/>
      </p:bgPr>
    </p:bg>
    <p:spTree>
      <p:nvGrpSpPr>
        <p:cNvPr id="1" name=""/>
        <p:cNvGrpSpPr/>
        <p:nvPr/>
      </p:nvGrpSpPr>
      <p:grpSpPr>
        <a:xfrm>
          <a:off x="0" y="0"/>
          <a:ext cx="0" cy="0"/>
          <a:chOff x="0" y="0"/>
          <a:chExt cx="0" cy="0"/>
        </a:xfrm>
      </p:grpSpPr>
      <p:sp>
        <p:nvSpPr>
          <p:cNvPr id="2" name="Shape 0"/>
          <p:cNvSpPr/>
          <p:nvPr/>
        </p:nvSpPr>
        <p:spPr>
          <a:xfrm>
            <a:off x="548640" y="457200"/>
            <a:ext cx="640080" cy="640080"/>
          </a:xfrm>
          <a:prstGeom prst="ellipse">
            <a:avLst/>
          </a:prstGeom>
          <a:solidFill>
            <a:srgbClr val="EDEBFF"/>
          </a:solidFill>
          <a:ln/>
        </p:spPr>
        <p:txBody>
          <a:bodyPr/>
          <a:lstStyle/>
          <a:p>
            <a:endParaRPr lang="en-US"/>
          </a:p>
        </p:txBody>
      </p:sp>
      <p:pic>
        <p:nvPicPr>
          <p:cNvPr id="3" name="Image 0" descr="preencoded.png"/>
          <p:cNvPicPr>
            <a:picLocks noChangeAspect="1"/>
          </p:cNvPicPr>
          <p:nvPr/>
        </p:nvPicPr>
        <p:blipFill>
          <a:blip r:embed="rId3"/>
          <a:stretch>
            <a:fillRect/>
          </a:stretch>
        </p:blipFill>
        <p:spPr>
          <a:xfrm>
            <a:off x="715061" y="623621"/>
            <a:ext cx="307238" cy="307238"/>
          </a:xfrm>
          <a:prstGeom prst="rect">
            <a:avLst/>
          </a:prstGeom>
        </p:spPr>
      </p:pic>
      <p:sp>
        <p:nvSpPr>
          <p:cNvPr id="4" name="Text 1"/>
          <p:cNvSpPr/>
          <p:nvPr/>
        </p:nvSpPr>
        <p:spPr>
          <a:xfrm>
            <a:off x="1371600" y="457200"/>
            <a:ext cx="8229600" cy="274320"/>
          </a:xfrm>
          <a:prstGeom prst="rect">
            <a:avLst/>
          </a:prstGeom>
          <a:noFill/>
          <a:ln/>
        </p:spPr>
        <p:txBody>
          <a:bodyPr wrap="square" lIns="0" tIns="0" rIns="0" bIns="0" rtlCol="0" anchor="ctr"/>
          <a:lstStyle/>
          <a:p>
            <a:pPr marL="0" indent="0">
              <a:buNone/>
            </a:pPr>
            <a:r>
              <a:rPr lang="en-US" sz="1200" b="1" kern="0" spc="200" dirty="0">
                <a:solidFill>
                  <a:srgbClr val="00C2A8"/>
                </a:solidFill>
                <a:latin typeface="Calibri" pitchFamily="34" charset="0"/>
                <a:ea typeface="Calibri" pitchFamily="34" charset="-122"/>
                <a:cs typeface="Calibri" pitchFamily="34" charset="-120"/>
              </a:rPr>
              <a:t>SESSION ROADMAP</a:t>
            </a:r>
            <a:endParaRPr lang="en-US" sz="1200" dirty="0"/>
          </a:p>
        </p:txBody>
      </p:sp>
      <p:sp>
        <p:nvSpPr>
          <p:cNvPr id="5" name="Text 2"/>
          <p:cNvSpPr/>
          <p:nvPr/>
        </p:nvSpPr>
        <p:spPr>
          <a:xfrm>
            <a:off x="1371600" y="713232"/>
            <a:ext cx="10058400" cy="640080"/>
          </a:xfrm>
          <a:prstGeom prst="rect">
            <a:avLst/>
          </a:prstGeom>
          <a:noFill/>
          <a:ln/>
        </p:spPr>
        <p:txBody>
          <a:bodyPr wrap="square" lIns="0" tIns="0" rIns="0" bIns="0" rtlCol="0" anchor="ctr"/>
          <a:lstStyle/>
          <a:p>
            <a:pPr marL="0" indent="0">
              <a:buNone/>
            </a:pPr>
            <a:r>
              <a:rPr lang="en-US" sz="3000" b="1" dirty="0">
                <a:solidFill>
                  <a:srgbClr val="1B1F3B"/>
                </a:solidFill>
                <a:latin typeface="Cambria" pitchFamily="34" charset="0"/>
                <a:ea typeface="Cambria" pitchFamily="34" charset="-122"/>
                <a:cs typeface="Cambria" pitchFamily="34" charset="-120"/>
              </a:rPr>
              <a:t>How We'll Spend the Next 60 Minutes</a:t>
            </a:r>
            <a:endParaRPr lang="en-US" sz="3000" dirty="0"/>
          </a:p>
        </p:txBody>
      </p:sp>
      <p:sp>
        <p:nvSpPr>
          <p:cNvPr id="6" name="Shape 3"/>
          <p:cNvSpPr/>
          <p:nvPr/>
        </p:nvSpPr>
        <p:spPr>
          <a:xfrm>
            <a:off x="548640" y="1600200"/>
            <a:ext cx="5074920" cy="566928"/>
          </a:xfrm>
          <a:prstGeom prst="roundRect">
            <a:avLst>
              <a:gd name="adj" fmla="val 11290"/>
            </a:avLst>
          </a:prstGeom>
          <a:solidFill>
            <a:srgbClr val="FFFFFF"/>
          </a:solidFill>
          <a:ln/>
          <a:effectLst>
            <a:outerShdw blurRad="101600" dist="25400" dir="5400000" algn="bl" rotWithShape="0">
              <a:srgbClr val="1B1F3B">
                <a:alpha val="8000"/>
              </a:srgbClr>
            </a:outerShdw>
          </a:effectLst>
        </p:spPr>
        <p:txBody>
          <a:bodyPr/>
          <a:lstStyle/>
          <a:p>
            <a:endParaRPr lang="en-US"/>
          </a:p>
        </p:txBody>
      </p:sp>
      <p:sp>
        <p:nvSpPr>
          <p:cNvPr id="7" name="Text 4"/>
          <p:cNvSpPr/>
          <p:nvPr/>
        </p:nvSpPr>
        <p:spPr>
          <a:xfrm>
            <a:off x="685800" y="1600200"/>
            <a:ext cx="640080" cy="566928"/>
          </a:xfrm>
          <a:prstGeom prst="rect">
            <a:avLst/>
          </a:prstGeom>
          <a:noFill/>
          <a:ln/>
        </p:spPr>
        <p:txBody>
          <a:bodyPr wrap="square" lIns="0" tIns="0" rIns="0" bIns="0" rtlCol="0" anchor="ctr"/>
          <a:lstStyle/>
          <a:p>
            <a:pPr marL="0" indent="0" algn="ctr">
              <a:buNone/>
            </a:pPr>
            <a:r>
              <a:rPr lang="en-US" sz="2000" b="1" dirty="0">
                <a:solidFill>
                  <a:srgbClr val="D7D4FF"/>
                </a:solidFill>
                <a:latin typeface="Cambria" pitchFamily="34" charset="0"/>
                <a:ea typeface="Cambria" pitchFamily="34" charset="-122"/>
                <a:cs typeface="Cambria" pitchFamily="34" charset="-120"/>
              </a:rPr>
              <a:t>01</a:t>
            </a:r>
            <a:endParaRPr lang="en-US" sz="2000" dirty="0"/>
          </a:p>
        </p:txBody>
      </p:sp>
      <p:sp>
        <p:nvSpPr>
          <p:cNvPr id="8" name="Text 5"/>
          <p:cNvSpPr/>
          <p:nvPr/>
        </p:nvSpPr>
        <p:spPr>
          <a:xfrm>
            <a:off x="1325880" y="1655064"/>
            <a:ext cx="3520440" cy="329184"/>
          </a:xfrm>
          <a:prstGeom prst="rect">
            <a:avLst/>
          </a:prstGeom>
          <a:noFill/>
          <a:ln/>
        </p:spPr>
        <p:txBody>
          <a:bodyPr wrap="square" lIns="0" tIns="0" rIns="0" bIns="0" rtlCol="0" anchor="ctr"/>
          <a:lstStyle/>
          <a:p>
            <a:pPr marL="0" indent="0">
              <a:buNone/>
            </a:pPr>
            <a:r>
              <a:rPr lang="en-US" sz="1300" b="1" dirty="0">
                <a:solidFill>
                  <a:srgbClr val="1B1F3B"/>
                </a:solidFill>
                <a:latin typeface="Calibri" pitchFamily="34" charset="0"/>
                <a:ea typeface="Calibri" pitchFamily="34" charset="-122"/>
                <a:cs typeface="Calibri" pitchFamily="34" charset="-120"/>
              </a:rPr>
              <a:t>A Brief History of AI</a:t>
            </a:r>
            <a:endParaRPr lang="en-US" sz="1300" dirty="0"/>
          </a:p>
        </p:txBody>
      </p:sp>
      <p:sp>
        <p:nvSpPr>
          <p:cNvPr id="9" name="Text 6"/>
          <p:cNvSpPr/>
          <p:nvPr/>
        </p:nvSpPr>
        <p:spPr>
          <a:xfrm>
            <a:off x="4846320" y="1600200"/>
            <a:ext cx="685800" cy="566928"/>
          </a:xfrm>
          <a:prstGeom prst="rect">
            <a:avLst/>
          </a:prstGeom>
          <a:noFill/>
          <a:ln/>
        </p:spPr>
        <p:txBody>
          <a:bodyPr wrap="square" lIns="0" tIns="0" rIns="0" bIns="0" rtlCol="0" anchor="ctr"/>
          <a:lstStyle/>
          <a:p>
            <a:pPr marL="0" indent="0" algn="r">
              <a:buNone/>
            </a:pPr>
            <a:r>
              <a:rPr lang="en-US" sz="1100" b="1" dirty="0">
                <a:solidFill>
                  <a:srgbClr val="00C2A8"/>
                </a:solidFill>
                <a:latin typeface="Calibri" pitchFamily="34" charset="0"/>
                <a:ea typeface="Calibri" pitchFamily="34" charset="-122"/>
                <a:cs typeface="Calibri" pitchFamily="34" charset="-120"/>
              </a:rPr>
              <a:t>8 min</a:t>
            </a:r>
            <a:endParaRPr lang="en-US" sz="1100" dirty="0"/>
          </a:p>
        </p:txBody>
      </p:sp>
      <p:sp>
        <p:nvSpPr>
          <p:cNvPr id="10" name="Shape 7"/>
          <p:cNvSpPr/>
          <p:nvPr/>
        </p:nvSpPr>
        <p:spPr>
          <a:xfrm>
            <a:off x="5943600" y="1600200"/>
            <a:ext cx="5074920" cy="566928"/>
          </a:xfrm>
          <a:prstGeom prst="roundRect">
            <a:avLst>
              <a:gd name="adj" fmla="val 11290"/>
            </a:avLst>
          </a:prstGeom>
          <a:solidFill>
            <a:srgbClr val="FFFFFF"/>
          </a:solidFill>
          <a:ln/>
          <a:effectLst>
            <a:outerShdw blurRad="101600" dist="25400" dir="5400000" algn="bl" rotWithShape="0">
              <a:srgbClr val="1B1F3B">
                <a:alpha val="8000"/>
              </a:srgbClr>
            </a:outerShdw>
          </a:effectLst>
        </p:spPr>
        <p:txBody>
          <a:bodyPr/>
          <a:lstStyle/>
          <a:p>
            <a:endParaRPr lang="en-US"/>
          </a:p>
        </p:txBody>
      </p:sp>
      <p:sp>
        <p:nvSpPr>
          <p:cNvPr id="11" name="Text 8"/>
          <p:cNvSpPr/>
          <p:nvPr/>
        </p:nvSpPr>
        <p:spPr>
          <a:xfrm>
            <a:off x="6080760" y="1600200"/>
            <a:ext cx="640080" cy="566928"/>
          </a:xfrm>
          <a:prstGeom prst="rect">
            <a:avLst/>
          </a:prstGeom>
          <a:noFill/>
          <a:ln/>
        </p:spPr>
        <p:txBody>
          <a:bodyPr wrap="square" lIns="0" tIns="0" rIns="0" bIns="0" rtlCol="0" anchor="ctr"/>
          <a:lstStyle/>
          <a:p>
            <a:pPr marL="0" indent="0" algn="ctr">
              <a:buNone/>
            </a:pPr>
            <a:r>
              <a:rPr lang="en-US" sz="2000" b="1" dirty="0">
                <a:solidFill>
                  <a:srgbClr val="D7D4FF"/>
                </a:solidFill>
                <a:latin typeface="Cambria" pitchFamily="34" charset="0"/>
                <a:ea typeface="Cambria" pitchFamily="34" charset="-122"/>
                <a:cs typeface="Cambria" pitchFamily="34" charset="-120"/>
              </a:rPr>
              <a:t>02</a:t>
            </a:r>
            <a:endParaRPr lang="en-US" sz="2000" dirty="0"/>
          </a:p>
        </p:txBody>
      </p:sp>
      <p:sp>
        <p:nvSpPr>
          <p:cNvPr id="12" name="Text 9"/>
          <p:cNvSpPr/>
          <p:nvPr/>
        </p:nvSpPr>
        <p:spPr>
          <a:xfrm>
            <a:off x="6720840" y="1655064"/>
            <a:ext cx="3520440" cy="329184"/>
          </a:xfrm>
          <a:prstGeom prst="rect">
            <a:avLst/>
          </a:prstGeom>
          <a:noFill/>
          <a:ln/>
        </p:spPr>
        <p:txBody>
          <a:bodyPr wrap="square" lIns="0" tIns="0" rIns="0" bIns="0" rtlCol="0" anchor="ctr"/>
          <a:lstStyle/>
          <a:p>
            <a:pPr marL="0" indent="0">
              <a:buNone/>
            </a:pPr>
            <a:r>
              <a:rPr lang="en-US" sz="1300" b="1" dirty="0">
                <a:solidFill>
                  <a:srgbClr val="1B1F3B"/>
                </a:solidFill>
                <a:latin typeface="Calibri" pitchFamily="34" charset="0"/>
                <a:ea typeface="Calibri" pitchFamily="34" charset="-122"/>
                <a:cs typeface="Calibri" pitchFamily="34" charset="-120"/>
              </a:rPr>
              <a:t>Traditional AI → ML → DL → GenAI → Agentic AI</a:t>
            </a:r>
            <a:endParaRPr lang="en-US" sz="1300" dirty="0"/>
          </a:p>
        </p:txBody>
      </p:sp>
      <p:sp>
        <p:nvSpPr>
          <p:cNvPr id="13" name="Text 10"/>
          <p:cNvSpPr/>
          <p:nvPr/>
        </p:nvSpPr>
        <p:spPr>
          <a:xfrm>
            <a:off x="10241280" y="1600200"/>
            <a:ext cx="685800" cy="566928"/>
          </a:xfrm>
          <a:prstGeom prst="rect">
            <a:avLst/>
          </a:prstGeom>
          <a:noFill/>
          <a:ln/>
        </p:spPr>
        <p:txBody>
          <a:bodyPr wrap="square" lIns="0" tIns="0" rIns="0" bIns="0" rtlCol="0" anchor="ctr"/>
          <a:lstStyle/>
          <a:p>
            <a:pPr marL="0" indent="0" algn="r">
              <a:buNone/>
            </a:pPr>
            <a:r>
              <a:rPr lang="en-US" sz="1100" b="1" dirty="0">
                <a:solidFill>
                  <a:srgbClr val="00C2A8"/>
                </a:solidFill>
                <a:latin typeface="Calibri" pitchFamily="34" charset="0"/>
                <a:ea typeface="Calibri" pitchFamily="34" charset="-122"/>
                <a:cs typeface="Calibri" pitchFamily="34" charset="-120"/>
              </a:rPr>
              <a:t>10 min</a:t>
            </a:r>
            <a:endParaRPr lang="en-US" sz="1100" dirty="0"/>
          </a:p>
        </p:txBody>
      </p:sp>
      <p:sp>
        <p:nvSpPr>
          <p:cNvPr id="14" name="Shape 11"/>
          <p:cNvSpPr/>
          <p:nvPr/>
        </p:nvSpPr>
        <p:spPr>
          <a:xfrm>
            <a:off x="548640" y="2295144"/>
            <a:ext cx="5074920" cy="566928"/>
          </a:xfrm>
          <a:prstGeom prst="roundRect">
            <a:avLst>
              <a:gd name="adj" fmla="val 11290"/>
            </a:avLst>
          </a:prstGeom>
          <a:solidFill>
            <a:srgbClr val="FFFFFF"/>
          </a:solidFill>
          <a:ln/>
          <a:effectLst>
            <a:outerShdw blurRad="101600" dist="25400" dir="5400000" algn="bl" rotWithShape="0">
              <a:srgbClr val="1B1F3B">
                <a:alpha val="8000"/>
              </a:srgbClr>
            </a:outerShdw>
          </a:effectLst>
        </p:spPr>
        <p:txBody>
          <a:bodyPr/>
          <a:lstStyle/>
          <a:p>
            <a:endParaRPr lang="en-US"/>
          </a:p>
        </p:txBody>
      </p:sp>
      <p:sp>
        <p:nvSpPr>
          <p:cNvPr id="15" name="Text 12"/>
          <p:cNvSpPr/>
          <p:nvPr/>
        </p:nvSpPr>
        <p:spPr>
          <a:xfrm>
            <a:off x="685800" y="2295144"/>
            <a:ext cx="640080" cy="566928"/>
          </a:xfrm>
          <a:prstGeom prst="rect">
            <a:avLst/>
          </a:prstGeom>
          <a:noFill/>
          <a:ln/>
        </p:spPr>
        <p:txBody>
          <a:bodyPr wrap="square" lIns="0" tIns="0" rIns="0" bIns="0" rtlCol="0" anchor="ctr"/>
          <a:lstStyle/>
          <a:p>
            <a:pPr marL="0" indent="0" algn="ctr">
              <a:buNone/>
            </a:pPr>
            <a:r>
              <a:rPr lang="en-US" sz="2000" b="1" dirty="0">
                <a:solidFill>
                  <a:srgbClr val="D7D4FF"/>
                </a:solidFill>
                <a:latin typeface="Cambria" pitchFamily="34" charset="0"/>
                <a:ea typeface="Cambria" pitchFamily="34" charset="-122"/>
                <a:cs typeface="Cambria" pitchFamily="34" charset="-120"/>
              </a:rPr>
              <a:t>03</a:t>
            </a:r>
            <a:endParaRPr lang="en-US" sz="2000" dirty="0"/>
          </a:p>
        </p:txBody>
      </p:sp>
      <p:sp>
        <p:nvSpPr>
          <p:cNvPr id="16" name="Text 13"/>
          <p:cNvSpPr/>
          <p:nvPr/>
        </p:nvSpPr>
        <p:spPr>
          <a:xfrm>
            <a:off x="1325880" y="2350008"/>
            <a:ext cx="3520440" cy="329184"/>
          </a:xfrm>
          <a:prstGeom prst="rect">
            <a:avLst/>
          </a:prstGeom>
          <a:noFill/>
          <a:ln/>
        </p:spPr>
        <p:txBody>
          <a:bodyPr wrap="square" lIns="0" tIns="0" rIns="0" bIns="0" rtlCol="0" anchor="ctr"/>
          <a:lstStyle/>
          <a:p>
            <a:pPr marL="0" indent="0">
              <a:buNone/>
            </a:pPr>
            <a:r>
              <a:rPr lang="en-US" sz="1300" b="1" dirty="0">
                <a:solidFill>
                  <a:srgbClr val="1B1F3B"/>
                </a:solidFill>
                <a:latin typeface="Calibri" pitchFamily="34" charset="0"/>
                <a:ea typeface="Calibri" pitchFamily="34" charset="-122"/>
                <a:cs typeface="Calibri" pitchFamily="34" charset="-120"/>
              </a:rPr>
              <a:t>Types of AI: Predictive, Generative, Agentic</a:t>
            </a:r>
            <a:endParaRPr lang="en-US" sz="1300" dirty="0"/>
          </a:p>
        </p:txBody>
      </p:sp>
      <p:sp>
        <p:nvSpPr>
          <p:cNvPr id="17" name="Text 14"/>
          <p:cNvSpPr/>
          <p:nvPr/>
        </p:nvSpPr>
        <p:spPr>
          <a:xfrm>
            <a:off x="4846320" y="2295144"/>
            <a:ext cx="685800" cy="566928"/>
          </a:xfrm>
          <a:prstGeom prst="rect">
            <a:avLst/>
          </a:prstGeom>
          <a:noFill/>
          <a:ln/>
        </p:spPr>
        <p:txBody>
          <a:bodyPr wrap="square" lIns="0" tIns="0" rIns="0" bIns="0" rtlCol="0" anchor="ctr"/>
          <a:lstStyle/>
          <a:p>
            <a:pPr marL="0" indent="0" algn="r">
              <a:buNone/>
            </a:pPr>
            <a:r>
              <a:rPr lang="en-US" sz="1100" b="1" dirty="0">
                <a:solidFill>
                  <a:srgbClr val="00C2A8"/>
                </a:solidFill>
                <a:latin typeface="Calibri" pitchFamily="34" charset="0"/>
                <a:ea typeface="Calibri" pitchFamily="34" charset="-122"/>
                <a:cs typeface="Calibri" pitchFamily="34" charset="-120"/>
              </a:rPr>
              <a:t>8 min</a:t>
            </a:r>
            <a:endParaRPr lang="en-US" sz="1100" dirty="0"/>
          </a:p>
        </p:txBody>
      </p:sp>
      <p:sp>
        <p:nvSpPr>
          <p:cNvPr id="18" name="Shape 15"/>
          <p:cNvSpPr/>
          <p:nvPr/>
        </p:nvSpPr>
        <p:spPr>
          <a:xfrm>
            <a:off x="5943600" y="2295144"/>
            <a:ext cx="5074920" cy="566928"/>
          </a:xfrm>
          <a:prstGeom prst="roundRect">
            <a:avLst>
              <a:gd name="adj" fmla="val 11290"/>
            </a:avLst>
          </a:prstGeom>
          <a:solidFill>
            <a:srgbClr val="FFFFFF"/>
          </a:solidFill>
          <a:ln/>
          <a:effectLst>
            <a:outerShdw blurRad="101600" dist="25400" dir="5400000" algn="bl" rotWithShape="0">
              <a:srgbClr val="1B1F3B">
                <a:alpha val="8000"/>
              </a:srgbClr>
            </a:outerShdw>
          </a:effectLst>
        </p:spPr>
        <p:txBody>
          <a:bodyPr/>
          <a:lstStyle/>
          <a:p>
            <a:endParaRPr lang="en-US"/>
          </a:p>
        </p:txBody>
      </p:sp>
      <p:sp>
        <p:nvSpPr>
          <p:cNvPr id="19" name="Text 16"/>
          <p:cNvSpPr/>
          <p:nvPr/>
        </p:nvSpPr>
        <p:spPr>
          <a:xfrm>
            <a:off x="6080760" y="2295144"/>
            <a:ext cx="640080" cy="566928"/>
          </a:xfrm>
          <a:prstGeom prst="rect">
            <a:avLst/>
          </a:prstGeom>
          <a:noFill/>
          <a:ln/>
        </p:spPr>
        <p:txBody>
          <a:bodyPr wrap="square" lIns="0" tIns="0" rIns="0" bIns="0" rtlCol="0" anchor="ctr"/>
          <a:lstStyle/>
          <a:p>
            <a:pPr marL="0" indent="0" algn="ctr">
              <a:buNone/>
            </a:pPr>
            <a:r>
              <a:rPr lang="en-US" sz="2000" b="1" dirty="0">
                <a:solidFill>
                  <a:srgbClr val="D7D4FF"/>
                </a:solidFill>
                <a:latin typeface="Cambria" pitchFamily="34" charset="0"/>
                <a:ea typeface="Cambria" pitchFamily="34" charset="-122"/>
                <a:cs typeface="Cambria" pitchFamily="34" charset="-120"/>
              </a:rPr>
              <a:t>04</a:t>
            </a:r>
            <a:endParaRPr lang="en-US" sz="2000" dirty="0"/>
          </a:p>
        </p:txBody>
      </p:sp>
      <p:sp>
        <p:nvSpPr>
          <p:cNvPr id="20" name="Text 17"/>
          <p:cNvSpPr/>
          <p:nvPr/>
        </p:nvSpPr>
        <p:spPr>
          <a:xfrm>
            <a:off x="6720840" y="2350008"/>
            <a:ext cx="3520440" cy="329184"/>
          </a:xfrm>
          <a:prstGeom prst="rect">
            <a:avLst/>
          </a:prstGeom>
          <a:noFill/>
          <a:ln/>
        </p:spPr>
        <p:txBody>
          <a:bodyPr wrap="square" lIns="0" tIns="0" rIns="0" bIns="0" rtlCol="0" anchor="ctr"/>
          <a:lstStyle/>
          <a:p>
            <a:pPr marL="0" indent="0">
              <a:buNone/>
            </a:pPr>
            <a:r>
              <a:rPr lang="en-US" sz="1300" b="1" dirty="0">
                <a:solidFill>
                  <a:srgbClr val="1B1F3B"/>
                </a:solidFill>
                <a:latin typeface="Calibri" pitchFamily="34" charset="0"/>
                <a:ea typeface="Calibri" pitchFamily="34" charset="-122"/>
                <a:cs typeface="Calibri" pitchFamily="34" charset="-120"/>
              </a:rPr>
              <a:t>GenAI &amp; LLM Fundamentals — the basics</a:t>
            </a:r>
            <a:endParaRPr lang="en-US" sz="1300" dirty="0"/>
          </a:p>
        </p:txBody>
      </p:sp>
      <p:sp>
        <p:nvSpPr>
          <p:cNvPr id="21" name="Text 18"/>
          <p:cNvSpPr/>
          <p:nvPr/>
        </p:nvSpPr>
        <p:spPr>
          <a:xfrm>
            <a:off x="10241280" y="2295144"/>
            <a:ext cx="685800" cy="566928"/>
          </a:xfrm>
          <a:prstGeom prst="rect">
            <a:avLst/>
          </a:prstGeom>
          <a:noFill/>
          <a:ln/>
        </p:spPr>
        <p:txBody>
          <a:bodyPr wrap="square" lIns="0" tIns="0" rIns="0" bIns="0" rtlCol="0" anchor="ctr"/>
          <a:lstStyle/>
          <a:p>
            <a:pPr marL="0" indent="0" algn="r">
              <a:buNone/>
            </a:pPr>
            <a:r>
              <a:rPr lang="en-US" sz="1100" b="1" dirty="0">
                <a:solidFill>
                  <a:srgbClr val="00C2A8"/>
                </a:solidFill>
                <a:latin typeface="Calibri" pitchFamily="34" charset="0"/>
                <a:ea typeface="Calibri" pitchFamily="34" charset="-122"/>
                <a:cs typeface="Calibri" pitchFamily="34" charset="-120"/>
              </a:rPr>
              <a:t>6 min</a:t>
            </a:r>
            <a:endParaRPr lang="en-US" sz="1100" dirty="0"/>
          </a:p>
        </p:txBody>
      </p:sp>
      <p:sp>
        <p:nvSpPr>
          <p:cNvPr id="22" name="Shape 19"/>
          <p:cNvSpPr/>
          <p:nvPr/>
        </p:nvSpPr>
        <p:spPr>
          <a:xfrm>
            <a:off x="548640" y="2990088"/>
            <a:ext cx="5074920" cy="566928"/>
          </a:xfrm>
          <a:prstGeom prst="roundRect">
            <a:avLst>
              <a:gd name="adj" fmla="val 11290"/>
            </a:avLst>
          </a:prstGeom>
          <a:solidFill>
            <a:srgbClr val="FFFFFF"/>
          </a:solidFill>
          <a:ln/>
          <a:effectLst>
            <a:outerShdw blurRad="101600" dist="25400" dir="5400000" algn="bl" rotWithShape="0">
              <a:srgbClr val="1B1F3B">
                <a:alpha val="8000"/>
              </a:srgbClr>
            </a:outerShdw>
          </a:effectLst>
        </p:spPr>
        <p:txBody>
          <a:bodyPr/>
          <a:lstStyle/>
          <a:p>
            <a:endParaRPr lang="en-US"/>
          </a:p>
        </p:txBody>
      </p:sp>
      <p:sp>
        <p:nvSpPr>
          <p:cNvPr id="23" name="Text 20"/>
          <p:cNvSpPr/>
          <p:nvPr/>
        </p:nvSpPr>
        <p:spPr>
          <a:xfrm>
            <a:off x="685800" y="2990088"/>
            <a:ext cx="640080" cy="566928"/>
          </a:xfrm>
          <a:prstGeom prst="rect">
            <a:avLst/>
          </a:prstGeom>
          <a:noFill/>
          <a:ln/>
        </p:spPr>
        <p:txBody>
          <a:bodyPr wrap="square" lIns="0" tIns="0" rIns="0" bIns="0" rtlCol="0" anchor="ctr"/>
          <a:lstStyle/>
          <a:p>
            <a:pPr marL="0" indent="0" algn="ctr">
              <a:buNone/>
            </a:pPr>
            <a:r>
              <a:rPr lang="en-US" sz="2000" b="1" dirty="0">
                <a:solidFill>
                  <a:srgbClr val="D7D4FF"/>
                </a:solidFill>
                <a:latin typeface="Cambria" pitchFamily="34" charset="0"/>
                <a:ea typeface="Cambria" pitchFamily="34" charset="-122"/>
                <a:cs typeface="Cambria" pitchFamily="34" charset="-120"/>
              </a:rPr>
              <a:t>05</a:t>
            </a:r>
            <a:endParaRPr lang="en-US" sz="2000" dirty="0"/>
          </a:p>
        </p:txBody>
      </p:sp>
      <p:sp>
        <p:nvSpPr>
          <p:cNvPr id="24" name="Text 21"/>
          <p:cNvSpPr/>
          <p:nvPr/>
        </p:nvSpPr>
        <p:spPr>
          <a:xfrm>
            <a:off x="1325880" y="3044952"/>
            <a:ext cx="3520440" cy="329184"/>
          </a:xfrm>
          <a:prstGeom prst="rect">
            <a:avLst/>
          </a:prstGeom>
          <a:noFill/>
          <a:ln/>
        </p:spPr>
        <p:txBody>
          <a:bodyPr wrap="square" lIns="0" tIns="0" rIns="0" bIns="0" rtlCol="0" anchor="ctr"/>
          <a:lstStyle/>
          <a:p>
            <a:pPr marL="0" indent="0">
              <a:buNone/>
            </a:pPr>
            <a:r>
              <a:rPr lang="en-US" sz="1300" b="1" dirty="0">
                <a:solidFill>
                  <a:srgbClr val="1B1F3B"/>
                </a:solidFill>
                <a:latin typeface="Calibri" pitchFamily="34" charset="0"/>
                <a:ea typeface="Calibri" pitchFamily="34" charset="-122"/>
                <a:cs typeface="Calibri" pitchFamily="34" charset="-120"/>
              </a:rPr>
              <a:t>What makes a system "Agentic"?</a:t>
            </a:r>
            <a:endParaRPr lang="en-US" sz="1300" dirty="0"/>
          </a:p>
        </p:txBody>
      </p:sp>
      <p:sp>
        <p:nvSpPr>
          <p:cNvPr id="25" name="Text 22"/>
          <p:cNvSpPr/>
          <p:nvPr/>
        </p:nvSpPr>
        <p:spPr>
          <a:xfrm>
            <a:off x="4846320" y="2990088"/>
            <a:ext cx="685800" cy="566928"/>
          </a:xfrm>
          <a:prstGeom prst="rect">
            <a:avLst/>
          </a:prstGeom>
          <a:noFill/>
          <a:ln/>
        </p:spPr>
        <p:txBody>
          <a:bodyPr wrap="square" lIns="0" tIns="0" rIns="0" bIns="0" rtlCol="0" anchor="ctr"/>
          <a:lstStyle/>
          <a:p>
            <a:pPr marL="0" indent="0" algn="r">
              <a:buNone/>
            </a:pPr>
            <a:r>
              <a:rPr lang="en-US" sz="1100" b="1" dirty="0">
                <a:solidFill>
                  <a:srgbClr val="00C2A8"/>
                </a:solidFill>
                <a:latin typeface="Calibri" pitchFamily="34" charset="0"/>
                <a:ea typeface="Calibri" pitchFamily="34" charset="-122"/>
                <a:cs typeface="Calibri" pitchFamily="34" charset="-120"/>
              </a:rPr>
              <a:t>6 min</a:t>
            </a:r>
            <a:endParaRPr lang="en-US" sz="1100" dirty="0"/>
          </a:p>
        </p:txBody>
      </p:sp>
      <p:sp>
        <p:nvSpPr>
          <p:cNvPr id="26" name="Shape 23"/>
          <p:cNvSpPr/>
          <p:nvPr/>
        </p:nvSpPr>
        <p:spPr>
          <a:xfrm>
            <a:off x="5943600" y="2990088"/>
            <a:ext cx="5074920" cy="566928"/>
          </a:xfrm>
          <a:prstGeom prst="roundRect">
            <a:avLst>
              <a:gd name="adj" fmla="val 11290"/>
            </a:avLst>
          </a:prstGeom>
          <a:solidFill>
            <a:srgbClr val="FFFFFF"/>
          </a:solidFill>
          <a:ln/>
          <a:effectLst>
            <a:outerShdw blurRad="101600" dist="25400" dir="5400000" algn="bl" rotWithShape="0">
              <a:srgbClr val="1B1F3B">
                <a:alpha val="8000"/>
              </a:srgbClr>
            </a:outerShdw>
          </a:effectLst>
        </p:spPr>
        <p:txBody>
          <a:bodyPr/>
          <a:lstStyle/>
          <a:p>
            <a:endParaRPr lang="en-US"/>
          </a:p>
        </p:txBody>
      </p:sp>
      <p:sp>
        <p:nvSpPr>
          <p:cNvPr id="27" name="Text 24"/>
          <p:cNvSpPr/>
          <p:nvPr/>
        </p:nvSpPr>
        <p:spPr>
          <a:xfrm>
            <a:off x="6080760" y="2990088"/>
            <a:ext cx="640080" cy="566928"/>
          </a:xfrm>
          <a:prstGeom prst="rect">
            <a:avLst/>
          </a:prstGeom>
          <a:noFill/>
          <a:ln/>
        </p:spPr>
        <p:txBody>
          <a:bodyPr wrap="square" lIns="0" tIns="0" rIns="0" bIns="0" rtlCol="0" anchor="ctr"/>
          <a:lstStyle/>
          <a:p>
            <a:pPr marL="0" indent="0" algn="ctr">
              <a:buNone/>
            </a:pPr>
            <a:r>
              <a:rPr lang="en-US" sz="2000" b="1" dirty="0">
                <a:solidFill>
                  <a:srgbClr val="D7D4FF"/>
                </a:solidFill>
                <a:latin typeface="Cambria" pitchFamily="34" charset="0"/>
                <a:ea typeface="Cambria" pitchFamily="34" charset="-122"/>
                <a:cs typeface="Cambria" pitchFamily="34" charset="-120"/>
              </a:rPr>
              <a:t>06</a:t>
            </a:r>
            <a:endParaRPr lang="en-US" sz="2000" dirty="0"/>
          </a:p>
        </p:txBody>
      </p:sp>
      <p:sp>
        <p:nvSpPr>
          <p:cNvPr id="28" name="Text 25"/>
          <p:cNvSpPr/>
          <p:nvPr/>
        </p:nvSpPr>
        <p:spPr>
          <a:xfrm>
            <a:off x="6720840" y="3044952"/>
            <a:ext cx="3520440" cy="329184"/>
          </a:xfrm>
          <a:prstGeom prst="rect">
            <a:avLst/>
          </a:prstGeom>
          <a:noFill/>
          <a:ln/>
        </p:spPr>
        <p:txBody>
          <a:bodyPr wrap="square" lIns="0" tIns="0" rIns="0" bIns="0" rtlCol="0" anchor="ctr"/>
          <a:lstStyle/>
          <a:p>
            <a:pPr marL="0" indent="0">
              <a:buNone/>
            </a:pPr>
            <a:r>
              <a:rPr lang="en-US" sz="1300" b="1" dirty="0">
                <a:solidFill>
                  <a:srgbClr val="1B1F3B"/>
                </a:solidFill>
                <a:latin typeface="Calibri" pitchFamily="34" charset="0"/>
                <a:ea typeface="Calibri" pitchFamily="34" charset="-122"/>
                <a:cs typeface="Calibri" pitchFamily="34" charset="-120"/>
              </a:rPr>
              <a:t>Chatbot vs Copilot vs Assistant vs Agent</a:t>
            </a:r>
            <a:endParaRPr lang="en-US" sz="1300" dirty="0"/>
          </a:p>
        </p:txBody>
      </p:sp>
      <p:sp>
        <p:nvSpPr>
          <p:cNvPr id="29" name="Text 26"/>
          <p:cNvSpPr/>
          <p:nvPr/>
        </p:nvSpPr>
        <p:spPr>
          <a:xfrm>
            <a:off x="10241280" y="2990088"/>
            <a:ext cx="685800" cy="566928"/>
          </a:xfrm>
          <a:prstGeom prst="rect">
            <a:avLst/>
          </a:prstGeom>
          <a:noFill/>
          <a:ln/>
        </p:spPr>
        <p:txBody>
          <a:bodyPr wrap="square" lIns="0" tIns="0" rIns="0" bIns="0" rtlCol="0" anchor="ctr"/>
          <a:lstStyle/>
          <a:p>
            <a:pPr marL="0" indent="0" algn="r">
              <a:buNone/>
            </a:pPr>
            <a:r>
              <a:rPr lang="en-US" sz="1100" b="1" dirty="0">
                <a:solidFill>
                  <a:srgbClr val="00C2A8"/>
                </a:solidFill>
                <a:latin typeface="Calibri" pitchFamily="34" charset="0"/>
                <a:ea typeface="Calibri" pitchFamily="34" charset="-122"/>
                <a:cs typeface="Calibri" pitchFamily="34" charset="-120"/>
              </a:rPr>
              <a:t>6 min</a:t>
            </a:r>
            <a:endParaRPr lang="en-US" sz="1100" dirty="0"/>
          </a:p>
        </p:txBody>
      </p:sp>
      <p:sp>
        <p:nvSpPr>
          <p:cNvPr id="30" name="Shape 27"/>
          <p:cNvSpPr/>
          <p:nvPr/>
        </p:nvSpPr>
        <p:spPr>
          <a:xfrm>
            <a:off x="548640" y="3685032"/>
            <a:ext cx="5074920" cy="566928"/>
          </a:xfrm>
          <a:prstGeom prst="roundRect">
            <a:avLst>
              <a:gd name="adj" fmla="val 11290"/>
            </a:avLst>
          </a:prstGeom>
          <a:solidFill>
            <a:srgbClr val="FFFFFF"/>
          </a:solidFill>
          <a:ln/>
          <a:effectLst>
            <a:outerShdw blurRad="101600" dist="25400" dir="5400000" algn="bl" rotWithShape="0">
              <a:srgbClr val="1B1F3B">
                <a:alpha val="8000"/>
              </a:srgbClr>
            </a:outerShdw>
          </a:effectLst>
        </p:spPr>
        <p:txBody>
          <a:bodyPr/>
          <a:lstStyle/>
          <a:p>
            <a:endParaRPr lang="en-US"/>
          </a:p>
        </p:txBody>
      </p:sp>
      <p:sp>
        <p:nvSpPr>
          <p:cNvPr id="31" name="Text 28"/>
          <p:cNvSpPr/>
          <p:nvPr/>
        </p:nvSpPr>
        <p:spPr>
          <a:xfrm>
            <a:off x="685800" y="3685032"/>
            <a:ext cx="640080" cy="566928"/>
          </a:xfrm>
          <a:prstGeom prst="rect">
            <a:avLst/>
          </a:prstGeom>
          <a:noFill/>
          <a:ln/>
        </p:spPr>
        <p:txBody>
          <a:bodyPr wrap="square" lIns="0" tIns="0" rIns="0" bIns="0" rtlCol="0" anchor="ctr"/>
          <a:lstStyle/>
          <a:p>
            <a:pPr marL="0" indent="0" algn="ctr">
              <a:buNone/>
            </a:pPr>
            <a:r>
              <a:rPr lang="en-US" sz="2000" b="1" dirty="0">
                <a:solidFill>
                  <a:srgbClr val="D7D4FF"/>
                </a:solidFill>
                <a:latin typeface="Cambria" pitchFamily="34" charset="0"/>
                <a:ea typeface="Cambria" pitchFamily="34" charset="-122"/>
                <a:cs typeface="Cambria" pitchFamily="34" charset="-120"/>
              </a:rPr>
              <a:t>07</a:t>
            </a:r>
            <a:endParaRPr lang="en-US" sz="2000" dirty="0"/>
          </a:p>
        </p:txBody>
      </p:sp>
      <p:sp>
        <p:nvSpPr>
          <p:cNvPr id="32" name="Text 29"/>
          <p:cNvSpPr/>
          <p:nvPr/>
        </p:nvSpPr>
        <p:spPr>
          <a:xfrm>
            <a:off x="1325880" y="3739896"/>
            <a:ext cx="3520440" cy="329184"/>
          </a:xfrm>
          <a:prstGeom prst="rect">
            <a:avLst/>
          </a:prstGeom>
          <a:noFill/>
          <a:ln/>
        </p:spPr>
        <p:txBody>
          <a:bodyPr wrap="square" lIns="0" tIns="0" rIns="0" bIns="0" rtlCol="0" anchor="ctr"/>
          <a:lstStyle/>
          <a:p>
            <a:pPr marL="0" indent="0">
              <a:buNone/>
            </a:pPr>
            <a:r>
              <a:rPr lang="en-US" sz="1300" b="1" dirty="0">
                <a:solidFill>
                  <a:srgbClr val="1B1F3B"/>
                </a:solidFill>
                <a:latin typeface="Calibri" pitchFamily="34" charset="0"/>
                <a:ea typeface="Calibri" pitchFamily="34" charset="-122"/>
                <a:cs typeface="Calibri" pitchFamily="34" charset="-120"/>
              </a:rPr>
              <a:t>Lab: Build a GenAI Resume + present</a:t>
            </a:r>
            <a:endParaRPr lang="en-US" sz="1300" dirty="0"/>
          </a:p>
        </p:txBody>
      </p:sp>
      <p:sp>
        <p:nvSpPr>
          <p:cNvPr id="33" name="Text 30"/>
          <p:cNvSpPr/>
          <p:nvPr/>
        </p:nvSpPr>
        <p:spPr>
          <a:xfrm>
            <a:off x="4846320" y="3685032"/>
            <a:ext cx="685800" cy="566928"/>
          </a:xfrm>
          <a:prstGeom prst="rect">
            <a:avLst/>
          </a:prstGeom>
          <a:noFill/>
          <a:ln/>
        </p:spPr>
        <p:txBody>
          <a:bodyPr wrap="square" lIns="0" tIns="0" rIns="0" bIns="0" rtlCol="0" anchor="ctr"/>
          <a:lstStyle/>
          <a:p>
            <a:pPr marL="0" indent="0" algn="r">
              <a:buNone/>
            </a:pPr>
            <a:r>
              <a:rPr lang="en-US" sz="1100" b="1" dirty="0">
                <a:solidFill>
                  <a:srgbClr val="00C2A8"/>
                </a:solidFill>
                <a:latin typeface="Calibri" pitchFamily="34" charset="0"/>
                <a:ea typeface="Calibri" pitchFamily="34" charset="-122"/>
                <a:cs typeface="Calibri" pitchFamily="34" charset="-120"/>
              </a:rPr>
              <a:t>12 min</a:t>
            </a:r>
            <a:endParaRPr lang="en-US" sz="1100" dirty="0"/>
          </a:p>
        </p:txBody>
      </p:sp>
      <p:sp>
        <p:nvSpPr>
          <p:cNvPr id="34" name="Shape 31"/>
          <p:cNvSpPr/>
          <p:nvPr/>
        </p:nvSpPr>
        <p:spPr>
          <a:xfrm>
            <a:off x="5943600" y="3685032"/>
            <a:ext cx="5074920" cy="566928"/>
          </a:xfrm>
          <a:prstGeom prst="roundRect">
            <a:avLst>
              <a:gd name="adj" fmla="val 11290"/>
            </a:avLst>
          </a:prstGeom>
          <a:solidFill>
            <a:srgbClr val="FFFFFF"/>
          </a:solidFill>
          <a:ln/>
          <a:effectLst>
            <a:outerShdw blurRad="101600" dist="25400" dir="5400000" algn="bl" rotWithShape="0">
              <a:srgbClr val="1B1F3B">
                <a:alpha val="8000"/>
              </a:srgbClr>
            </a:outerShdw>
          </a:effectLst>
        </p:spPr>
        <p:txBody>
          <a:bodyPr/>
          <a:lstStyle/>
          <a:p>
            <a:endParaRPr lang="en-US"/>
          </a:p>
        </p:txBody>
      </p:sp>
      <p:sp>
        <p:nvSpPr>
          <p:cNvPr id="35" name="Text 32"/>
          <p:cNvSpPr/>
          <p:nvPr/>
        </p:nvSpPr>
        <p:spPr>
          <a:xfrm>
            <a:off x="6080760" y="3685032"/>
            <a:ext cx="640080" cy="566928"/>
          </a:xfrm>
          <a:prstGeom prst="rect">
            <a:avLst/>
          </a:prstGeom>
          <a:noFill/>
          <a:ln/>
        </p:spPr>
        <p:txBody>
          <a:bodyPr wrap="square" lIns="0" tIns="0" rIns="0" bIns="0" rtlCol="0" anchor="ctr"/>
          <a:lstStyle/>
          <a:p>
            <a:pPr marL="0" indent="0" algn="ctr">
              <a:buNone/>
            </a:pPr>
            <a:r>
              <a:rPr lang="en-US" sz="2000" b="1" dirty="0">
                <a:solidFill>
                  <a:srgbClr val="D7D4FF"/>
                </a:solidFill>
                <a:latin typeface="Cambria" pitchFamily="34" charset="0"/>
                <a:ea typeface="Cambria" pitchFamily="34" charset="-122"/>
                <a:cs typeface="Cambria" pitchFamily="34" charset="-120"/>
              </a:rPr>
              <a:t>08</a:t>
            </a:r>
            <a:endParaRPr lang="en-US" sz="2000" dirty="0"/>
          </a:p>
        </p:txBody>
      </p:sp>
      <p:sp>
        <p:nvSpPr>
          <p:cNvPr id="36" name="Text 33"/>
          <p:cNvSpPr/>
          <p:nvPr/>
        </p:nvSpPr>
        <p:spPr>
          <a:xfrm>
            <a:off x="6720840" y="3739896"/>
            <a:ext cx="3520440" cy="329184"/>
          </a:xfrm>
          <a:prstGeom prst="rect">
            <a:avLst/>
          </a:prstGeom>
          <a:noFill/>
          <a:ln/>
        </p:spPr>
        <p:txBody>
          <a:bodyPr wrap="square" lIns="0" tIns="0" rIns="0" bIns="0" rtlCol="0" anchor="ctr"/>
          <a:lstStyle/>
          <a:p>
            <a:pPr marL="0" indent="0">
              <a:buNone/>
            </a:pPr>
            <a:r>
              <a:rPr lang="en-US" sz="1300" b="1" dirty="0">
                <a:solidFill>
                  <a:srgbClr val="1B1F3B"/>
                </a:solidFill>
                <a:latin typeface="Calibri" pitchFamily="34" charset="0"/>
                <a:ea typeface="Calibri" pitchFamily="34" charset="-122"/>
                <a:cs typeface="Calibri" pitchFamily="34" charset="-120"/>
              </a:rPr>
              <a:t>Wrap-up, takeaways &amp; next session</a:t>
            </a:r>
            <a:endParaRPr lang="en-US" sz="1300" dirty="0"/>
          </a:p>
        </p:txBody>
      </p:sp>
      <p:sp>
        <p:nvSpPr>
          <p:cNvPr id="37" name="Text 34"/>
          <p:cNvSpPr/>
          <p:nvPr/>
        </p:nvSpPr>
        <p:spPr>
          <a:xfrm>
            <a:off x="10241280" y="3685032"/>
            <a:ext cx="685800" cy="566928"/>
          </a:xfrm>
          <a:prstGeom prst="rect">
            <a:avLst/>
          </a:prstGeom>
          <a:noFill/>
          <a:ln/>
        </p:spPr>
        <p:txBody>
          <a:bodyPr wrap="square" lIns="0" tIns="0" rIns="0" bIns="0" rtlCol="0" anchor="ctr"/>
          <a:lstStyle/>
          <a:p>
            <a:pPr marL="0" indent="0" algn="r">
              <a:buNone/>
            </a:pPr>
            <a:r>
              <a:rPr lang="en-US" sz="1100" b="1" dirty="0">
                <a:solidFill>
                  <a:srgbClr val="00C2A8"/>
                </a:solidFill>
                <a:latin typeface="Calibri" pitchFamily="34" charset="0"/>
                <a:ea typeface="Calibri" pitchFamily="34" charset="-122"/>
                <a:cs typeface="Calibri" pitchFamily="34" charset="-120"/>
              </a:rPr>
              <a:t>4 min</a:t>
            </a:r>
            <a:endParaRPr lang="en-US" sz="1100" dirty="0"/>
          </a:p>
        </p:txBody>
      </p:sp>
      <p:sp>
        <p:nvSpPr>
          <p:cNvPr id="38" name="Text 35"/>
          <p:cNvSpPr/>
          <p:nvPr/>
        </p:nvSpPr>
        <p:spPr>
          <a:xfrm>
            <a:off x="548640" y="4608576"/>
            <a:ext cx="11109960" cy="365760"/>
          </a:xfrm>
          <a:prstGeom prst="rect">
            <a:avLst/>
          </a:prstGeom>
          <a:noFill/>
          <a:ln/>
        </p:spPr>
        <p:txBody>
          <a:bodyPr wrap="square" lIns="0" tIns="0" rIns="0" bIns="0" rtlCol="0" anchor="ctr"/>
          <a:lstStyle/>
          <a:p>
            <a:pPr marL="0" indent="0" algn="ctr">
              <a:buNone/>
            </a:pPr>
            <a:r>
              <a:rPr lang="en-US" sz="1250" i="1" dirty="0">
                <a:solidFill>
                  <a:srgbClr val="6B7280"/>
                </a:solidFill>
                <a:latin typeface="Calibri" pitchFamily="34" charset="0"/>
                <a:ea typeface="Calibri" pitchFamily="34" charset="-122"/>
                <a:cs typeface="Calibri" pitchFamily="34" charset="-120"/>
              </a:rPr>
              <a:t>Every session in this course follows the same rhythm: concept, example, then a hands-on lab.</a:t>
            </a:r>
            <a:endParaRPr lang="en-US" sz="1250" dirty="0"/>
          </a:p>
        </p:txBody>
      </p:sp>
      <p:sp>
        <p:nvSpPr>
          <p:cNvPr id="40" name="Text 36"/>
          <p:cNvSpPr/>
          <p:nvPr/>
        </p:nvSpPr>
        <p:spPr>
          <a:xfrm>
            <a:off x="457200" y="6446520"/>
            <a:ext cx="7315200" cy="274320"/>
          </a:xfrm>
          <a:prstGeom prst="rect">
            <a:avLst/>
          </a:prstGeom>
          <a:noFill/>
          <a:ln/>
        </p:spPr>
        <p:txBody>
          <a:bodyPr wrap="square" lIns="0" tIns="0" rIns="0" bIns="0"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SYMBIOSIS  |  Autonomous AI Systems &amp; Agent-Based Computing</a:t>
            </a:r>
            <a:endParaRPr lang="en-US" sz="900" dirty="0"/>
          </a:p>
        </p:txBody>
      </p:sp>
      <p:sp>
        <p:nvSpPr>
          <p:cNvPr id="41" name="Text 37"/>
          <p:cNvSpPr/>
          <p:nvPr/>
        </p:nvSpPr>
        <p:spPr>
          <a:xfrm>
            <a:off x="10085832" y="6446520"/>
            <a:ext cx="164592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Session 1  ·  2/12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9B952E-2A2A-D57E-3646-2360A2D7BC9F}"/>
            </a:ext>
          </a:extLst>
        </p:cNvPr>
        <p:cNvGrpSpPr/>
        <p:nvPr/>
      </p:nvGrpSpPr>
      <p:grpSpPr>
        <a:xfrm>
          <a:off x="0" y="0"/>
          <a:ext cx="0" cy="0"/>
          <a:chOff x="0" y="0"/>
          <a:chExt cx="0" cy="0"/>
        </a:xfrm>
      </p:grpSpPr>
      <p:sp>
        <p:nvSpPr>
          <p:cNvPr id="40" name="Text 36">
            <a:extLst>
              <a:ext uri="{FF2B5EF4-FFF2-40B4-BE49-F238E27FC236}">
                <a16:creationId xmlns:a16="http://schemas.microsoft.com/office/drawing/2014/main" id="{EF4529ED-9817-DBDF-A41F-4C6FD476F517}"/>
              </a:ext>
            </a:extLst>
          </p:cNvPr>
          <p:cNvSpPr/>
          <p:nvPr/>
        </p:nvSpPr>
        <p:spPr>
          <a:xfrm>
            <a:off x="457200" y="6446520"/>
            <a:ext cx="7315200" cy="274320"/>
          </a:xfrm>
          <a:prstGeom prst="rect">
            <a:avLst/>
          </a:prstGeom>
          <a:noFill/>
          <a:ln/>
        </p:spPr>
        <p:txBody>
          <a:bodyPr wrap="square" lIns="0" tIns="0" rIns="0" bIns="0"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SYMBIOSIS  |  Autonomous AI Systems &amp; Agent-Based Computing</a:t>
            </a:r>
            <a:endParaRPr lang="en-US" sz="900" dirty="0"/>
          </a:p>
        </p:txBody>
      </p:sp>
      <p:pic>
        <p:nvPicPr>
          <p:cNvPr id="39" name="Picture 38">
            <a:extLst>
              <a:ext uri="{FF2B5EF4-FFF2-40B4-BE49-F238E27FC236}">
                <a16:creationId xmlns:a16="http://schemas.microsoft.com/office/drawing/2014/main" id="{6E742BC6-9EE2-C695-DFF2-EC33A761B5F0}"/>
              </a:ext>
            </a:extLst>
          </p:cNvPr>
          <p:cNvPicPr>
            <a:picLocks noChangeAspect="1"/>
          </p:cNvPicPr>
          <p:nvPr/>
        </p:nvPicPr>
        <p:blipFill>
          <a:blip r:embed="rId3"/>
          <a:stretch>
            <a:fillRect/>
          </a:stretch>
        </p:blipFill>
        <p:spPr>
          <a:xfrm>
            <a:off x="0" y="0"/>
            <a:ext cx="12192000" cy="6966856"/>
          </a:xfrm>
          <a:prstGeom prst="rect">
            <a:avLst/>
          </a:prstGeom>
        </p:spPr>
      </p:pic>
    </p:spTree>
    <p:extLst>
      <p:ext uri="{BB962C8B-B14F-4D97-AF65-F5344CB8AC3E}">
        <p14:creationId xmlns:p14="http://schemas.microsoft.com/office/powerpoint/2010/main" val="40797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5F6FA"/>
        </a:solidFill>
        <a:effectLst/>
      </p:bgPr>
    </p:bg>
    <p:spTree>
      <p:nvGrpSpPr>
        <p:cNvPr id="1" name=""/>
        <p:cNvGrpSpPr/>
        <p:nvPr/>
      </p:nvGrpSpPr>
      <p:grpSpPr>
        <a:xfrm>
          <a:off x="0" y="0"/>
          <a:ext cx="0" cy="0"/>
          <a:chOff x="0" y="0"/>
          <a:chExt cx="0" cy="0"/>
        </a:xfrm>
      </p:grpSpPr>
      <p:sp>
        <p:nvSpPr>
          <p:cNvPr id="2" name="Shape 0"/>
          <p:cNvSpPr/>
          <p:nvPr/>
        </p:nvSpPr>
        <p:spPr>
          <a:xfrm>
            <a:off x="548640" y="457200"/>
            <a:ext cx="640080" cy="640080"/>
          </a:xfrm>
          <a:prstGeom prst="ellipse">
            <a:avLst/>
          </a:prstGeom>
          <a:solidFill>
            <a:srgbClr val="EDEBFF"/>
          </a:solidFill>
          <a:ln/>
        </p:spPr>
        <p:txBody>
          <a:bodyPr/>
          <a:lstStyle/>
          <a:p>
            <a:endParaRPr lang="en-US"/>
          </a:p>
        </p:txBody>
      </p:sp>
      <p:pic>
        <p:nvPicPr>
          <p:cNvPr id="3" name="Image 0" descr="preencoded.png"/>
          <p:cNvPicPr>
            <a:picLocks noChangeAspect="1"/>
          </p:cNvPicPr>
          <p:nvPr/>
        </p:nvPicPr>
        <p:blipFill>
          <a:blip r:embed="rId3"/>
          <a:stretch>
            <a:fillRect/>
          </a:stretch>
        </p:blipFill>
        <p:spPr>
          <a:xfrm>
            <a:off x="715061" y="623621"/>
            <a:ext cx="307238" cy="307238"/>
          </a:xfrm>
          <a:prstGeom prst="rect">
            <a:avLst/>
          </a:prstGeom>
        </p:spPr>
      </p:pic>
      <p:sp>
        <p:nvSpPr>
          <p:cNvPr id="4" name="Text 1"/>
          <p:cNvSpPr/>
          <p:nvPr/>
        </p:nvSpPr>
        <p:spPr>
          <a:xfrm>
            <a:off x="1371600" y="457200"/>
            <a:ext cx="8229600" cy="274320"/>
          </a:xfrm>
          <a:prstGeom prst="rect">
            <a:avLst/>
          </a:prstGeom>
          <a:noFill/>
          <a:ln/>
        </p:spPr>
        <p:txBody>
          <a:bodyPr wrap="square" lIns="0" tIns="0" rIns="0" bIns="0" rtlCol="0" anchor="ctr"/>
          <a:lstStyle/>
          <a:p>
            <a:pPr marL="0" indent="0">
              <a:buNone/>
            </a:pPr>
            <a:r>
              <a:rPr lang="en-US" sz="1200" b="1" kern="0" spc="200" dirty="0">
                <a:solidFill>
                  <a:srgbClr val="00C2A8"/>
                </a:solidFill>
                <a:latin typeface="Calibri" pitchFamily="34" charset="0"/>
                <a:ea typeface="Calibri" pitchFamily="34" charset="-122"/>
                <a:cs typeface="Calibri" pitchFamily="34" charset="-120"/>
              </a:rPr>
              <a:t>FOUNDATIONS</a:t>
            </a:r>
            <a:endParaRPr lang="en-US" sz="1200" dirty="0"/>
          </a:p>
        </p:txBody>
      </p:sp>
      <p:sp>
        <p:nvSpPr>
          <p:cNvPr id="5" name="Text 2"/>
          <p:cNvSpPr/>
          <p:nvPr/>
        </p:nvSpPr>
        <p:spPr>
          <a:xfrm>
            <a:off x="1371600" y="713232"/>
            <a:ext cx="10058400" cy="640080"/>
          </a:xfrm>
          <a:prstGeom prst="rect">
            <a:avLst/>
          </a:prstGeom>
          <a:noFill/>
          <a:ln/>
        </p:spPr>
        <p:txBody>
          <a:bodyPr wrap="square" lIns="0" tIns="0" rIns="0" bIns="0" rtlCol="0" anchor="ctr"/>
          <a:lstStyle/>
          <a:p>
            <a:pPr marL="0" indent="0">
              <a:buNone/>
            </a:pPr>
            <a:r>
              <a:rPr lang="en-US" sz="3000" b="1" dirty="0">
                <a:solidFill>
                  <a:srgbClr val="1B1F3B"/>
                </a:solidFill>
                <a:latin typeface="Cambria" pitchFamily="34" charset="0"/>
                <a:ea typeface="Cambria" pitchFamily="34" charset="-122"/>
                <a:cs typeface="Cambria" pitchFamily="34" charset="-120"/>
              </a:rPr>
              <a:t>A Brief History of AI</a:t>
            </a:r>
            <a:endParaRPr lang="en-US" sz="3000" dirty="0"/>
          </a:p>
        </p:txBody>
      </p:sp>
      <p:sp>
        <p:nvSpPr>
          <p:cNvPr id="6" name="Shape 3"/>
          <p:cNvSpPr/>
          <p:nvPr/>
        </p:nvSpPr>
        <p:spPr>
          <a:xfrm>
            <a:off x="640080" y="3246120"/>
            <a:ext cx="10927080" cy="0"/>
          </a:xfrm>
          <a:prstGeom prst="line">
            <a:avLst/>
          </a:prstGeom>
          <a:noFill/>
          <a:ln w="31750">
            <a:solidFill>
              <a:srgbClr val="D8D6EE"/>
            </a:solidFill>
            <a:prstDash val="solid"/>
          </a:ln>
        </p:spPr>
        <p:txBody>
          <a:bodyPr/>
          <a:lstStyle/>
          <a:p>
            <a:endParaRPr lang="en-US"/>
          </a:p>
        </p:txBody>
      </p:sp>
      <p:sp>
        <p:nvSpPr>
          <p:cNvPr id="7" name="Shape 4"/>
          <p:cNvSpPr/>
          <p:nvPr/>
        </p:nvSpPr>
        <p:spPr>
          <a:xfrm>
            <a:off x="557784" y="3163824"/>
            <a:ext cx="164592" cy="164592"/>
          </a:xfrm>
          <a:prstGeom prst="ellipse">
            <a:avLst/>
          </a:prstGeom>
          <a:solidFill>
            <a:srgbClr val="6C63FF"/>
          </a:solidFill>
          <a:ln/>
        </p:spPr>
        <p:txBody>
          <a:bodyPr/>
          <a:lstStyle/>
          <a:p>
            <a:endParaRPr lang="en-US"/>
          </a:p>
        </p:txBody>
      </p:sp>
      <p:sp>
        <p:nvSpPr>
          <p:cNvPr id="8" name="Shape 5"/>
          <p:cNvSpPr/>
          <p:nvPr/>
        </p:nvSpPr>
        <p:spPr>
          <a:xfrm>
            <a:off x="640080" y="2926080"/>
            <a:ext cx="0" cy="320040"/>
          </a:xfrm>
          <a:prstGeom prst="line">
            <a:avLst/>
          </a:prstGeom>
          <a:noFill/>
          <a:ln w="15875">
            <a:solidFill>
              <a:srgbClr val="D8D6EE"/>
            </a:solidFill>
            <a:prstDash val="sysDot"/>
          </a:ln>
        </p:spPr>
        <p:txBody>
          <a:bodyPr/>
          <a:lstStyle/>
          <a:p>
            <a:endParaRPr lang="en-US"/>
          </a:p>
        </p:txBody>
      </p:sp>
      <p:sp>
        <p:nvSpPr>
          <p:cNvPr id="9" name="Shape 6"/>
          <p:cNvSpPr/>
          <p:nvPr/>
        </p:nvSpPr>
        <p:spPr>
          <a:xfrm>
            <a:off x="274320" y="1508760"/>
            <a:ext cx="1783080" cy="1417320"/>
          </a:xfrm>
          <a:prstGeom prst="roundRect">
            <a:avLst>
              <a:gd name="adj" fmla="val 5161"/>
            </a:avLst>
          </a:prstGeom>
          <a:solidFill>
            <a:srgbClr val="FFFFFF"/>
          </a:solidFill>
          <a:ln/>
          <a:effectLst>
            <a:outerShdw blurRad="101600" dist="25400" dir="5400000" algn="bl" rotWithShape="0">
              <a:srgbClr val="1B1F3B">
                <a:alpha val="8000"/>
              </a:srgbClr>
            </a:outerShdw>
          </a:effectLst>
        </p:spPr>
        <p:txBody>
          <a:bodyPr/>
          <a:lstStyle/>
          <a:p>
            <a:endParaRPr lang="en-US"/>
          </a:p>
        </p:txBody>
      </p:sp>
      <p:sp>
        <p:nvSpPr>
          <p:cNvPr id="10" name="Text 7"/>
          <p:cNvSpPr/>
          <p:nvPr/>
        </p:nvSpPr>
        <p:spPr>
          <a:xfrm>
            <a:off x="365760" y="1581912"/>
            <a:ext cx="1600200" cy="256032"/>
          </a:xfrm>
          <a:prstGeom prst="rect">
            <a:avLst/>
          </a:prstGeom>
          <a:noFill/>
          <a:ln/>
        </p:spPr>
        <p:txBody>
          <a:bodyPr wrap="square" lIns="0" tIns="0" rIns="0" bIns="0" rtlCol="0" anchor="ctr"/>
          <a:lstStyle/>
          <a:p>
            <a:pPr marL="0" indent="0">
              <a:buNone/>
            </a:pPr>
            <a:r>
              <a:rPr lang="en-US" sz="1100" b="1" dirty="0">
                <a:solidFill>
                  <a:srgbClr val="00C2A8"/>
                </a:solidFill>
                <a:latin typeface="Calibri" pitchFamily="34" charset="0"/>
                <a:ea typeface="Calibri" pitchFamily="34" charset="-122"/>
                <a:cs typeface="Calibri" pitchFamily="34" charset="-120"/>
              </a:rPr>
              <a:t>1950s</a:t>
            </a:r>
            <a:endParaRPr lang="en-US" sz="1100" dirty="0"/>
          </a:p>
        </p:txBody>
      </p:sp>
      <p:sp>
        <p:nvSpPr>
          <p:cNvPr id="11" name="Text 8"/>
          <p:cNvSpPr/>
          <p:nvPr/>
        </p:nvSpPr>
        <p:spPr>
          <a:xfrm>
            <a:off x="365760" y="1837944"/>
            <a:ext cx="1600200" cy="292608"/>
          </a:xfrm>
          <a:prstGeom prst="rect">
            <a:avLst/>
          </a:prstGeom>
          <a:noFill/>
          <a:ln/>
        </p:spPr>
        <p:txBody>
          <a:bodyPr wrap="square" lIns="0" tIns="0" rIns="0" bIns="0" rtlCol="0" anchor="ctr"/>
          <a:lstStyle/>
          <a:p>
            <a:pPr marL="0" indent="0">
              <a:buNone/>
            </a:pPr>
            <a:r>
              <a:rPr lang="en-US" sz="1250" b="1" dirty="0">
                <a:solidFill>
                  <a:srgbClr val="1B1F3B"/>
                </a:solidFill>
                <a:latin typeface="Calibri" pitchFamily="34" charset="0"/>
                <a:ea typeface="Calibri" pitchFamily="34" charset="-122"/>
                <a:cs typeface="Calibri" pitchFamily="34" charset="-120"/>
              </a:rPr>
              <a:t>Birth of AI</a:t>
            </a:r>
            <a:endParaRPr lang="en-US" sz="1250" dirty="0"/>
          </a:p>
        </p:txBody>
      </p:sp>
      <p:sp>
        <p:nvSpPr>
          <p:cNvPr id="12" name="Text 9"/>
          <p:cNvSpPr/>
          <p:nvPr/>
        </p:nvSpPr>
        <p:spPr>
          <a:xfrm>
            <a:off x="365760" y="2130552"/>
            <a:ext cx="1600200" cy="722376"/>
          </a:xfrm>
          <a:prstGeom prst="rect">
            <a:avLst/>
          </a:prstGeom>
          <a:noFill/>
          <a:ln/>
        </p:spPr>
        <p:txBody>
          <a:bodyPr wrap="square" lIns="0" tIns="0" rIns="0" bIns="0" rtlCol="0" anchor="t"/>
          <a:lstStyle/>
          <a:p>
            <a:pPr marL="0" indent="0">
              <a:buNone/>
            </a:pPr>
            <a:r>
              <a:rPr lang="en-US" sz="950" dirty="0">
                <a:solidFill>
                  <a:srgbClr val="6B7280"/>
                </a:solidFill>
                <a:latin typeface="Calibri" pitchFamily="34" charset="0"/>
                <a:ea typeface="Calibri" pitchFamily="34" charset="-122"/>
                <a:cs typeface="Calibri" pitchFamily="34" charset="-120"/>
              </a:rPr>
              <a:t>Turing Test proposed; "Artificial Intelligence" coined at Dartmouth (1956).</a:t>
            </a:r>
            <a:endParaRPr lang="en-US" sz="950" dirty="0"/>
          </a:p>
        </p:txBody>
      </p:sp>
      <p:sp>
        <p:nvSpPr>
          <p:cNvPr id="13" name="Shape 10"/>
          <p:cNvSpPr/>
          <p:nvPr/>
        </p:nvSpPr>
        <p:spPr>
          <a:xfrm>
            <a:off x="2743200" y="3163824"/>
            <a:ext cx="164592" cy="164592"/>
          </a:xfrm>
          <a:prstGeom prst="ellipse">
            <a:avLst/>
          </a:prstGeom>
          <a:solidFill>
            <a:srgbClr val="6C63FF"/>
          </a:solidFill>
          <a:ln/>
        </p:spPr>
        <p:txBody>
          <a:bodyPr/>
          <a:lstStyle/>
          <a:p>
            <a:endParaRPr lang="en-US"/>
          </a:p>
        </p:txBody>
      </p:sp>
      <p:sp>
        <p:nvSpPr>
          <p:cNvPr id="14" name="Shape 11"/>
          <p:cNvSpPr/>
          <p:nvPr/>
        </p:nvSpPr>
        <p:spPr>
          <a:xfrm>
            <a:off x="2825496" y="3246120"/>
            <a:ext cx="0" cy="320040"/>
          </a:xfrm>
          <a:prstGeom prst="line">
            <a:avLst/>
          </a:prstGeom>
          <a:noFill/>
          <a:ln w="15875">
            <a:solidFill>
              <a:srgbClr val="D8D6EE"/>
            </a:solidFill>
            <a:prstDash val="sysDot"/>
          </a:ln>
        </p:spPr>
        <p:txBody>
          <a:bodyPr/>
          <a:lstStyle/>
          <a:p>
            <a:endParaRPr lang="en-US"/>
          </a:p>
        </p:txBody>
      </p:sp>
      <p:sp>
        <p:nvSpPr>
          <p:cNvPr id="15" name="Shape 12"/>
          <p:cNvSpPr/>
          <p:nvPr/>
        </p:nvSpPr>
        <p:spPr>
          <a:xfrm>
            <a:off x="1933956" y="3566160"/>
            <a:ext cx="1783080" cy="1417320"/>
          </a:xfrm>
          <a:prstGeom prst="roundRect">
            <a:avLst>
              <a:gd name="adj" fmla="val 5161"/>
            </a:avLst>
          </a:prstGeom>
          <a:solidFill>
            <a:srgbClr val="FFFFFF"/>
          </a:solidFill>
          <a:ln/>
          <a:effectLst>
            <a:outerShdw blurRad="101600" dist="25400" dir="5400000" algn="bl" rotWithShape="0">
              <a:srgbClr val="1B1F3B">
                <a:alpha val="8000"/>
              </a:srgbClr>
            </a:outerShdw>
          </a:effectLst>
        </p:spPr>
        <p:txBody>
          <a:bodyPr/>
          <a:lstStyle/>
          <a:p>
            <a:endParaRPr lang="en-US"/>
          </a:p>
        </p:txBody>
      </p:sp>
      <p:sp>
        <p:nvSpPr>
          <p:cNvPr id="16" name="Text 13"/>
          <p:cNvSpPr/>
          <p:nvPr/>
        </p:nvSpPr>
        <p:spPr>
          <a:xfrm>
            <a:off x="2025396" y="3639312"/>
            <a:ext cx="1600200" cy="256032"/>
          </a:xfrm>
          <a:prstGeom prst="rect">
            <a:avLst/>
          </a:prstGeom>
          <a:noFill/>
          <a:ln/>
        </p:spPr>
        <p:txBody>
          <a:bodyPr wrap="square" lIns="0" tIns="0" rIns="0" bIns="0" rtlCol="0" anchor="ctr"/>
          <a:lstStyle/>
          <a:p>
            <a:pPr marL="0" indent="0">
              <a:buNone/>
            </a:pPr>
            <a:r>
              <a:rPr lang="en-US" sz="1100" b="1" dirty="0">
                <a:solidFill>
                  <a:srgbClr val="00C2A8"/>
                </a:solidFill>
                <a:latin typeface="Calibri" pitchFamily="34" charset="0"/>
                <a:ea typeface="Calibri" pitchFamily="34" charset="-122"/>
                <a:cs typeface="Calibri" pitchFamily="34" charset="-120"/>
              </a:rPr>
              <a:t>1980s</a:t>
            </a:r>
            <a:endParaRPr lang="en-US" sz="1100" dirty="0"/>
          </a:p>
        </p:txBody>
      </p:sp>
      <p:sp>
        <p:nvSpPr>
          <p:cNvPr id="17" name="Text 14"/>
          <p:cNvSpPr/>
          <p:nvPr/>
        </p:nvSpPr>
        <p:spPr>
          <a:xfrm>
            <a:off x="2025396" y="3895344"/>
            <a:ext cx="1600200" cy="292608"/>
          </a:xfrm>
          <a:prstGeom prst="rect">
            <a:avLst/>
          </a:prstGeom>
          <a:noFill/>
          <a:ln/>
        </p:spPr>
        <p:txBody>
          <a:bodyPr wrap="square" lIns="0" tIns="0" rIns="0" bIns="0" rtlCol="0" anchor="ctr"/>
          <a:lstStyle/>
          <a:p>
            <a:pPr marL="0" indent="0">
              <a:buNone/>
            </a:pPr>
            <a:r>
              <a:rPr lang="en-US" sz="1250" b="1" dirty="0">
                <a:solidFill>
                  <a:srgbClr val="1B1F3B"/>
                </a:solidFill>
                <a:latin typeface="Calibri" pitchFamily="34" charset="0"/>
                <a:ea typeface="Calibri" pitchFamily="34" charset="-122"/>
                <a:cs typeface="Calibri" pitchFamily="34" charset="-120"/>
              </a:rPr>
              <a:t>Expert Systems</a:t>
            </a:r>
            <a:endParaRPr lang="en-US" sz="1250" dirty="0"/>
          </a:p>
        </p:txBody>
      </p:sp>
      <p:sp>
        <p:nvSpPr>
          <p:cNvPr id="18" name="Text 15"/>
          <p:cNvSpPr/>
          <p:nvPr/>
        </p:nvSpPr>
        <p:spPr>
          <a:xfrm>
            <a:off x="2025396" y="4187952"/>
            <a:ext cx="1600200" cy="722376"/>
          </a:xfrm>
          <a:prstGeom prst="rect">
            <a:avLst/>
          </a:prstGeom>
          <a:noFill/>
          <a:ln/>
        </p:spPr>
        <p:txBody>
          <a:bodyPr wrap="square" lIns="0" tIns="0" rIns="0" bIns="0" rtlCol="0" anchor="t"/>
          <a:lstStyle/>
          <a:p>
            <a:pPr marL="0" indent="0">
              <a:buNone/>
            </a:pPr>
            <a:r>
              <a:rPr lang="en-US" sz="950" dirty="0">
                <a:solidFill>
                  <a:srgbClr val="6B7280"/>
                </a:solidFill>
                <a:latin typeface="Calibri" pitchFamily="34" charset="0"/>
                <a:ea typeface="Calibri" pitchFamily="34" charset="-122"/>
                <a:cs typeface="Calibri" pitchFamily="34" charset="-120"/>
              </a:rPr>
              <a:t>Rule-based systems encode human expert knowledge into if-then logic.</a:t>
            </a:r>
            <a:endParaRPr lang="en-US" sz="950" dirty="0"/>
          </a:p>
        </p:txBody>
      </p:sp>
      <p:sp>
        <p:nvSpPr>
          <p:cNvPr id="19" name="Shape 16"/>
          <p:cNvSpPr/>
          <p:nvPr/>
        </p:nvSpPr>
        <p:spPr>
          <a:xfrm>
            <a:off x="4928616" y="3163824"/>
            <a:ext cx="164592" cy="164592"/>
          </a:xfrm>
          <a:prstGeom prst="ellipse">
            <a:avLst/>
          </a:prstGeom>
          <a:solidFill>
            <a:srgbClr val="6C63FF"/>
          </a:solidFill>
          <a:ln/>
        </p:spPr>
        <p:txBody>
          <a:bodyPr/>
          <a:lstStyle/>
          <a:p>
            <a:endParaRPr lang="en-US"/>
          </a:p>
        </p:txBody>
      </p:sp>
      <p:sp>
        <p:nvSpPr>
          <p:cNvPr id="20" name="Shape 17"/>
          <p:cNvSpPr/>
          <p:nvPr/>
        </p:nvSpPr>
        <p:spPr>
          <a:xfrm>
            <a:off x="5010912" y="2926080"/>
            <a:ext cx="0" cy="320040"/>
          </a:xfrm>
          <a:prstGeom prst="line">
            <a:avLst/>
          </a:prstGeom>
          <a:noFill/>
          <a:ln w="15875">
            <a:solidFill>
              <a:srgbClr val="D8D6EE"/>
            </a:solidFill>
            <a:prstDash val="sysDot"/>
          </a:ln>
        </p:spPr>
        <p:txBody>
          <a:bodyPr/>
          <a:lstStyle/>
          <a:p>
            <a:endParaRPr lang="en-US"/>
          </a:p>
        </p:txBody>
      </p:sp>
      <p:sp>
        <p:nvSpPr>
          <p:cNvPr id="21" name="Shape 18"/>
          <p:cNvSpPr/>
          <p:nvPr/>
        </p:nvSpPr>
        <p:spPr>
          <a:xfrm>
            <a:off x="4119372" y="1508760"/>
            <a:ext cx="1783080" cy="1417320"/>
          </a:xfrm>
          <a:prstGeom prst="roundRect">
            <a:avLst>
              <a:gd name="adj" fmla="val 5161"/>
            </a:avLst>
          </a:prstGeom>
          <a:solidFill>
            <a:srgbClr val="FFFFFF"/>
          </a:solidFill>
          <a:ln/>
          <a:effectLst>
            <a:outerShdw blurRad="101600" dist="25400" dir="5400000" algn="bl" rotWithShape="0">
              <a:srgbClr val="1B1F3B">
                <a:alpha val="8000"/>
              </a:srgbClr>
            </a:outerShdw>
          </a:effectLst>
        </p:spPr>
        <p:txBody>
          <a:bodyPr/>
          <a:lstStyle/>
          <a:p>
            <a:endParaRPr lang="en-US"/>
          </a:p>
        </p:txBody>
      </p:sp>
      <p:sp>
        <p:nvSpPr>
          <p:cNvPr id="22" name="Text 19"/>
          <p:cNvSpPr/>
          <p:nvPr/>
        </p:nvSpPr>
        <p:spPr>
          <a:xfrm>
            <a:off x="4210812" y="1581912"/>
            <a:ext cx="1600200" cy="256032"/>
          </a:xfrm>
          <a:prstGeom prst="rect">
            <a:avLst/>
          </a:prstGeom>
          <a:noFill/>
          <a:ln/>
        </p:spPr>
        <p:txBody>
          <a:bodyPr wrap="square" lIns="0" tIns="0" rIns="0" bIns="0" rtlCol="0" anchor="ctr"/>
          <a:lstStyle/>
          <a:p>
            <a:pPr marL="0" indent="0">
              <a:buNone/>
            </a:pPr>
            <a:r>
              <a:rPr lang="en-US" sz="1100" b="1" dirty="0">
                <a:solidFill>
                  <a:srgbClr val="00C2A8"/>
                </a:solidFill>
                <a:latin typeface="Calibri" pitchFamily="34" charset="0"/>
                <a:ea typeface="Calibri" pitchFamily="34" charset="-122"/>
                <a:cs typeface="Calibri" pitchFamily="34" charset="-120"/>
              </a:rPr>
              <a:t>1990s-2000s</a:t>
            </a:r>
            <a:endParaRPr lang="en-US" sz="1100" dirty="0"/>
          </a:p>
        </p:txBody>
      </p:sp>
      <p:sp>
        <p:nvSpPr>
          <p:cNvPr id="23" name="Text 20"/>
          <p:cNvSpPr/>
          <p:nvPr/>
        </p:nvSpPr>
        <p:spPr>
          <a:xfrm>
            <a:off x="4210812" y="1837944"/>
            <a:ext cx="1600200" cy="292608"/>
          </a:xfrm>
          <a:prstGeom prst="rect">
            <a:avLst/>
          </a:prstGeom>
          <a:noFill/>
          <a:ln/>
        </p:spPr>
        <p:txBody>
          <a:bodyPr wrap="square" lIns="0" tIns="0" rIns="0" bIns="0" rtlCol="0" anchor="ctr"/>
          <a:lstStyle/>
          <a:p>
            <a:pPr marL="0" indent="0">
              <a:buNone/>
            </a:pPr>
            <a:r>
              <a:rPr lang="en-US" sz="1250" b="1" dirty="0">
                <a:solidFill>
                  <a:srgbClr val="1B1F3B"/>
                </a:solidFill>
                <a:latin typeface="Calibri" pitchFamily="34" charset="0"/>
                <a:ea typeface="Calibri" pitchFamily="34" charset="-122"/>
                <a:cs typeface="Calibri" pitchFamily="34" charset="-120"/>
              </a:rPr>
              <a:t>Machine Learning Rises</a:t>
            </a:r>
            <a:endParaRPr lang="en-US" sz="1250" dirty="0"/>
          </a:p>
        </p:txBody>
      </p:sp>
      <p:sp>
        <p:nvSpPr>
          <p:cNvPr id="24" name="Text 21"/>
          <p:cNvSpPr/>
          <p:nvPr/>
        </p:nvSpPr>
        <p:spPr>
          <a:xfrm>
            <a:off x="4210812" y="2130552"/>
            <a:ext cx="1600200" cy="722376"/>
          </a:xfrm>
          <a:prstGeom prst="rect">
            <a:avLst/>
          </a:prstGeom>
          <a:noFill/>
          <a:ln/>
        </p:spPr>
        <p:txBody>
          <a:bodyPr wrap="square" lIns="0" tIns="0" rIns="0" bIns="0" rtlCol="0" anchor="t"/>
          <a:lstStyle/>
          <a:p>
            <a:pPr marL="0" indent="0">
              <a:buNone/>
            </a:pPr>
            <a:r>
              <a:rPr lang="en-US" sz="950" dirty="0">
                <a:solidFill>
                  <a:srgbClr val="6B7280"/>
                </a:solidFill>
                <a:latin typeface="Calibri" pitchFamily="34" charset="0"/>
                <a:ea typeface="Calibri" pitchFamily="34" charset="-122"/>
                <a:cs typeface="Calibri" pitchFamily="34" charset="-120"/>
              </a:rPr>
              <a:t>Statistical learning from data outperforms hand-written rules.</a:t>
            </a:r>
            <a:endParaRPr lang="en-US" sz="950" dirty="0"/>
          </a:p>
        </p:txBody>
      </p:sp>
      <p:sp>
        <p:nvSpPr>
          <p:cNvPr id="25" name="Shape 22"/>
          <p:cNvSpPr/>
          <p:nvPr/>
        </p:nvSpPr>
        <p:spPr>
          <a:xfrm>
            <a:off x="7114032" y="3163824"/>
            <a:ext cx="164592" cy="164592"/>
          </a:xfrm>
          <a:prstGeom prst="ellipse">
            <a:avLst/>
          </a:prstGeom>
          <a:solidFill>
            <a:srgbClr val="6C63FF"/>
          </a:solidFill>
          <a:ln/>
        </p:spPr>
        <p:txBody>
          <a:bodyPr/>
          <a:lstStyle/>
          <a:p>
            <a:endParaRPr lang="en-US"/>
          </a:p>
        </p:txBody>
      </p:sp>
      <p:sp>
        <p:nvSpPr>
          <p:cNvPr id="26" name="Shape 23"/>
          <p:cNvSpPr/>
          <p:nvPr/>
        </p:nvSpPr>
        <p:spPr>
          <a:xfrm>
            <a:off x="7196328" y="3246120"/>
            <a:ext cx="0" cy="320040"/>
          </a:xfrm>
          <a:prstGeom prst="line">
            <a:avLst/>
          </a:prstGeom>
          <a:noFill/>
          <a:ln w="15875">
            <a:solidFill>
              <a:srgbClr val="D8D6EE"/>
            </a:solidFill>
            <a:prstDash val="sysDot"/>
          </a:ln>
        </p:spPr>
        <p:txBody>
          <a:bodyPr/>
          <a:lstStyle/>
          <a:p>
            <a:endParaRPr lang="en-US"/>
          </a:p>
        </p:txBody>
      </p:sp>
      <p:sp>
        <p:nvSpPr>
          <p:cNvPr id="27" name="Shape 24"/>
          <p:cNvSpPr/>
          <p:nvPr/>
        </p:nvSpPr>
        <p:spPr>
          <a:xfrm>
            <a:off x="6304788" y="3566160"/>
            <a:ext cx="1783080" cy="1417320"/>
          </a:xfrm>
          <a:prstGeom prst="roundRect">
            <a:avLst>
              <a:gd name="adj" fmla="val 5161"/>
            </a:avLst>
          </a:prstGeom>
          <a:solidFill>
            <a:srgbClr val="FFFFFF"/>
          </a:solidFill>
          <a:ln/>
          <a:effectLst>
            <a:outerShdw blurRad="101600" dist="25400" dir="5400000" algn="bl" rotWithShape="0">
              <a:srgbClr val="1B1F3B">
                <a:alpha val="8000"/>
              </a:srgbClr>
            </a:outerShdw>
          </a:effectLst>
        </p:spPr>
        <p:txBody>
          <a:bodyPr/>
          <a:lstStyle/>
          <a:p>
            <a:endParaRPr lang="en-US"/>
          </a:p>
        </p:txBody>
      </p:sp>
      <p:sp>
        <p:nvSpPr>
          <p:cNvPr id="28" name="Text 25"/>
          <p:cNvSpPr/>
          <p:nvPr/>
        </p:nvSpPr>
        <p:spPr>
          <a:xfrm>
            <a:off x="6396228" y="3639312"/>
            <a:ext cx="1600200" cy="256032"/>
          </a:xfrm>
          <a:prstGeom prst="rect">
            <a:avLst/>
          </a:prstGeom>
          <a:noFill/>
          <a:ln/>
        </p:spPr>
        <p:txBody>
          <a:bodyPr wrap="square" lIns="0" tIns="0" rIns="0" bIns="0" rtlCol="0" anchor="ctr"/>
          <a:lstStyle/>
          <a:p>
            <a:pPr marL="0" indent="0">
              <a:buNone/>
            </a:pPr>
            <a:r>
              <a:rPr lang="en-US" sz="1100" b="1" dirty="0">
                <a:solidFill>
                  <a:srgbClr val="00C2A8"/>
                </a:solidFill>
                <a:latin typeface="Calibri" pitchFamily="34" charset="0"/>
                <a:ea typeface="Calibri" pitchFamily="34" charset="-122"/>
                <a:cs typeface="Calibri" pitchFamily="34" charset="-120"/>
              </a:rPr>
              <a:t>2012-2019</a:t>
            </a:r>
            <a:endParaRPr lang="en-US" sz="1100" dirty="0"/>
          </a:p>
        </p:txBody>
      </p:sp>
      <p:sp>
        <p:nvSpPr>
          <p:cNvPr id="29" name="Text 26"/>
          <p:cNvSpPr/>
          <p:nvPr/>
        </p:nvSpPr>
        <p:spPr>
          <a:xfrm>
            <a:off x="6396228" y="3895344"/>
            <a:ext cx="1600200" cy="292608"/>
          </a:xfrm>
          <a:prstGeom prst="rect">
            <a:avLst/>
          </a:prstGeom>
          <a:noFill/>
          <a:ln/>
        </p:spPr>
        <p:txBody>
          <a:bodyPr wrap="square" lIns="0" tIns="0" rIns="0" bIns="0" rtlCol="0" anchor="ctr"/>
          <a:lstStyle/>
          <a:p>
            <a:pPr marL="0" indent="0">
              <a:buNone/>
            </a:pPr>
            <a:r>
              <a:rPr lang="en-US" sz="1250" b="1" dirty="0">
                <a:solidFill>
                  <a:srgbClr val="1B1F3B"/>
                </a:solidFill>
                <a:latin typeface="Calibri" pitchFamily="34" charset="0"/>
                <a:ea typeface="Calibri" pitchFamily="34" charset="-122"/>
                <a:cs typeface="Calibri" pitchFamily="34" charset="-120"/>
              </a:rPr>
              <a:t>Deep Learning Boom</a:t>
            </a:r>
            <a:endParaRPr lang="en-US" sz="1250" dirty="0"/>
          </a:p>
        </p:txBody>
      </p:sp>
      <p:sp>
        <p:nvSpPr>
          <p:cNvPr id="30" name="Text 27"/>
          <p:cNvSpPr/>
          <p:nvPr/>
        </p:nvSpPr>
        <p:spPr>
          <a:xfrm>
            <a:off x="6396228" y="4187952"/>
            <a:ext cx="1600200" cy="722376"/>
          </a:xfrm>
          <a:prstGeom prst="rect">
            <a:avLst/>
          </a:prstGeom>
          <a:noFill/>
          <a:ln/>
        </p:spPr>
        <p:txBody>
          <a:bodyPr wrap="square" lIns="0" tIns="0" rIns="0" bIns="0" rtlCol="0" anchor="t"/>
          <a:lstStyle/>
          <a:p>
            <a:pPr marL="0" indent="0">
              <a:buNone/>
            </a:pPr>
            <a:r>
              <a:rPr lang="en-US" sz="950" dirty="0">
                <a:solidFill>
                  <a:srgbClr val="6B7280"/>
                </a:solidFill>
                <a:latin typeface="Calibri" pitchFamily="34" charset="0"/>
                <a:ea typeface="Calibri" pitchFamily="34" charset="-122"/>
                <a:cs typeface="Calibri" pitchFamily="34" charset="-120"/>
              </a:rPr>
              <a:t>Neural networks + big data + GPUs power vision, speech, NLP.</a:t>
            </a:r>
            <a:endParaRPr lang="en-US" sz="950" dirty="0"/>
          </a:p>
        </p:txBody>
      </p:sp>
      <p:sp>
        <p:nvSpPr>
          <p:cNvPr id="31" name="Shape 28"/>
          <p:cNvSpPr/>
          <p:nvPr/>
        </p:nvSpPr>
        <p:spPr>
          <a:xfrm>
            <a:off x="9299448" y="3163824"/>
            <a:ext cx="164592" cy="164592"/>
          </a:xfrm>
          <a:prstGeom prst="ellipse">
            <a:avLst/>
          </a:prstGeom>
          <a:solidFill>
            <a:srgbClr val="6C63FF"/>
          </a:solidFill>
          <a:ln/>
        </p:spPr>
        <p:txBody>
          <a:bodyPr/>
          <a:lstStyle/>
          <a:p>
            <a:endParaRPr lang="en-US"/>
          </a:p>
        </p:txBody>
      </p:sp>
      <p:sp>
        <p:nvSpPr>
          <p:cNvPr id="32" name="Shape 29"/>
          <p:cNvSpPr/>
          <p:nvPr/>
        </p:nvSpPr>
        <p:spPr>
          <a:xfrm>
            <a:off x="9381744" y="2926080"/>
            <a:ext cx="0" cy="320040"/>
          </a:xfrm>
          <a:prstGeom prst="line">
            <a:avLst/>
          </a:prstGeom>
          <a:noFill/>
          <a:ln w="15875">
            <a:solidFill>
              <a:srgbClr val="D8D6EE"/>
            </a:solidFill>
            <a:prstDash val="sysDot"/>
          </a:ln>
        </p:spPr>
        <p:txBody>
          <a:bodyPr/>
          <a:lstStyle/>
          <a:p>
            <a:endParaRPr lang="en-US"/>
          </a:p>
        </p:txBody>
      </p:sp>
      <p:sp>
        <p:nvSpPr>
          <p:cNvPr id="33" name="Shape 30"/>
          <p:cNvSpPr/>
          <p:nvPr/>
        </p:nvSpPr>
        <p:spPr>
          <a:xfrm>
            <a:off x="8490204" y="1508760"/>
            <a:ext cx="1783080" cy="1417320"/>
          </a:xfrm>
          <a:prstGeom prst="roundRect">
            <a:avLst>
              <a:gd name="adj" fmla="val 5161"/>
            </a:avLst>
          </a:prstGeom>
          <a:solidFill>
            <a:srgbClr val="FFFFFF"/>
          </a:solidFill>
          <a:ln/>
          <a:effectLst>
            <a:outerShdw blurRad="101600" dist="25400" dir="5400000" algn="bl" rotWithShape="0">
              <a:srgbClr val="1B1F3B">
                <a:alpha val="8000"/>
              </a:srgbClr>
            </a:outerShdw>
          </a:effectLst>
        </p:spPr>
        <p:txBody>
          <a:bodyPr/>
          <a:lstStyle/>
          <a:p>
            <a:endParaRPr lang="en-US"/>
          </a:p>
        </p:txBody>
      </p:sp>
      <p:sp>
        <p:nvSpPr>
          <p:cNvPr id="34" name="Text 31"/>
          <p:cNvSpPr/>
          <p:nvPr/>
        </p:nvSpPr>
        <p:spPr>
          <a:xfrm>
            <a:off x="8581644" y="1581912"/>
            <a:ext cx="1600200" cy="256032"/>
          </a:xfrm>
          <a:prstGeom prst="rect">
            <a:avLst/>
          </a:prstGeom>
          <a:noFill/>
          <a:ln/>
        </p:spPr>
        <p:txBody>
          <a:bodyPr wrap="square" lIns="0" tIns="0" rIns="0" bIns="0" rtlCol="0" anchor="ctr"/>
          <a:lstStyle/>
          <a:p>
            <a:pPr marL="0" indent="0">
              <a:buNone/>
            </a:pPr>
            <a:r>
              <a:rPr lang="en-US" sz="1100" b="1" dirty="0">
                <a:solidFill>
                  <a:srgbClr val="00C2A8"/>
                </a:solidFill>
                <a:latin typeface="Calibri" pitchFamily="34" charset="0"/>
                <a:ea typeface="Calibri" pitchFamily="34" charset="-122"/>
                <a:cs typeface="Calibri" pitchFamily="34" charset="-120"/>
              </a:rPr>
              <a:t>2020-2022</a:t>
            </a:r>
            <a:endParaRPr lang="en-US" sz="1100" dirty="0"/>
          </a:p>
        </p:txBody>
      </p:sp>
      <p:sp>
        <p:nvSpPr>
          <p:cNvPr id="35" name="Text 32"/>
          <p:cNvSpPr/>
          <p:nvPr/>
        </p:nvSpPr>
        <p:spPr>
          <a:xfrm>
            <a:off x="8581644" y="1837944"/>
            <a:ext cx="1600200" cy="292608"/>
          </a:xfrm>
          <a:prstGeom prst="rect">
            <a:avLst/>
          </a:prstGeom>
          <a:noFill/>
          <a:ln/>
        </p:spPr>
        <p:txBody>
          <a:bodyPr wrap="square" lIns="0" tIns="0" rIns="0" bIns="0" rtlCol="0" anchor="ctr"/>
          <a:lstStyle/>
          <a:p>
            <a:pPr marL="0" indent="0">
              <a:buNone/>
            </a:pPr>
            <a:r>
              <a:rPr lang="en-US" sz="1250" b="1" dirty="0">
                <a:solidFill>
                  <a:srgbClr val="1B1F3B"/>
                </a:solidFill>
                <a:latin typeface="Calibri" pitchFamily="34" charset="0"/>
                <a:ea typeface="Calibri" pitchFamily="34" charset="-122"/>
                <a:cs typeface="Calibri" pitchFamily="34" charset="-120"/>
              </a:rPr>
              <a:t>Generative AI Arrives</a:t>
            </a:r>
            <a:endParaRPr lang="en-US" sz="1250" dirty="0"/>
          </a:p>
        </p:txBody>
      </p:sp>
      <p:sp>
        <p:nvSpPr>
          <p:cNvPr id="36" name="Text 33"/>
          <p:cNvSpPr/>
          <p:nvPr/>
        </p:nvSpPr>
        <p:spPr>
          <a:xfrm>
            <a:off x="8581644" y="2130552"/>
            <a:ext cx="1600200" cy="722376"/>
          </a:xfrm>
          <a:prstGeom prst="rect">
            <a:avLst/>
          </a:prstGeom>
          <a:noFill/>
          <a:ln/>
        </p:spPr>
        <p:txBody>
          <a:bodyPr wrap="square" lIns="0" tIns="0" rIns="0" bIns="0" rtlCol="0" anchor="t"/>
          <a:lstStyle/>
          <a:p>
            <a:pPr marL="0" indent="0">
              <a:buNone/>
            </a:pPr>
            <a:r>
              <a:rPr lang="en-US" sz="950" dirty="0">
                <a:solidFill>
                  <a:srgbClr val="6B7280"/>
                </a:solidFill>
                <a:latin typeface="Calibri" pitchFamily="34" charset="0"/>
                <a:ea typeface="Calibri" pitchFamily="34" charset="-122"/>
                <a:cs typeface="Calibri" pitchFamily="34" charset="-120"/>
              </a:rPr>
              <a:t>GPT-3, DALL-E, and diffusion models generate original content.</a:t>
            </a:r>
            <a:endParaRPr lang="en-US" sz="950" dirty="0"/>
          </a:p>
        </p:txBody>
      </p:sp>
      <p:sp>
        <p:nvSpPr>
          <p:cNvPr id="37" name="Shape 34"/>
          <p:cNvSpPr/>
          <p:nvPr/>
        </p:nvSpPr>
        <p:spPr>
          <a:xfrm>
            <a:off x="11484864" y="3163824"/>
            <a:ext cx="164592" cy="164592"/>
          </a:xfrm>
          <a:prstGeom prst="ellipse">
            <a:avLst/>
          </a:prstGeom>
          <a:solidFill>
            <a:srgbClr val="00C2A8"/>
          </a:solidFill>
          <a:ln/>
        </p:spPr>
        <p:txBody>
          <a:bodyPr/>
          <a:lstStyle/>
          <a:p>
            <a:endParaRPr lang="en-US"/>
          </a:p>
        </p:txBody>
      </p:sp>
      <p:sp>
        <p:nvSpPr>
          <p:cNvPr id="38" name="Shape 35"/>
          <p:cNvSpPr/>
          <p:nvPr/>
        </p:nvSpPr>
        <p:spPr>
          <a:xfrm>
            <a:off x="11567160" y="3246120"/>
            <a:ext cx="0" cy="320040"/>
          </a:xfrm>
          <a:prstGeom prst="line">
            <a:avLst/>
          </a:prstGeom>
          <a:noFill/>
          <a:ln w="15875">
            <a:solidFill>
              <a:srgbClr val="D8D6EE"/>
            </a:solidFill>
            <a:prstDash val="sysDot"/>
          </a:ln>
        </p:spPr>
        <p:txBody>
          <a:bodyPr/>
          <a:lstStyle/>
          <a:p>
            <a:endParaRPr lang="en-US"/>
          </a:p>
        </p:txBody>
      </p:sp>
      <p:sp>
        <p:nvSpPr>
          <p:cNvPr id="39" name="Shape 36"/>
          <p:cNvSpPr/>
          <p:nvPr/>
        </p:nvSpPr>
        <p:spPr>
          <a:xfrm>
            <a:off x="10131552" y="3566160"/>
            <a:ext cx="1783080" cy="1417320"/>
          </a:xfrm>
          <a:prstGeom prst="roundRect">
            <a:avLst>
              <a:gd name="adj" fmla="val 5161"/>
            </a:avLst>
          </a:prstGeom>
          <a:solidFill>
            <a:srgbClr val="FFFFFF"/>
          </a:solidFill>
          <a:ln/>
          <a:effectLst>
            <a:outerShdw blurRad="101600" dist="25400" dir="5400000" algn="bl" rotWithShape="0">
              <a:srgbClr val="1B1F3B">
                <a:alpha val="8000"/>
              </a:srgbClr>
            </a:outerShdw>
          </a:effectLst>
        </p:spPr>
        <p:txBody>
          <a:bodyPr/>
          <a:lstStyle/>
          <a:p>
            <a:endParaRPr lang="en-US"/>
          </a:p>
        </p:txBody>
      </p:sp>
      <p:sp>
        <p:nvSpPr>
          <p:cNvPr id="40" name="Text 37"/>
          <p:cNvSpPr/>
          <p:nvPr/>
        </p:nvSpPr>
        <p:spPr>
          <a:xfrm>
            <a:off x="10222992" y="3639312"/>
            <a:ext cx="1600200" cy="256032"/>
          </a:xfrm>
          <a:prstGeom prst="rect">
            <a:avLst/>
          </a:prstGeom>
          <a:noFill/>
          <a:ln/>
        </p:spPr>
        <p:txBody>
          <a:bodyPr wrap="square" lIns="0" tIns="0" rIns="0" bIns="0" rtlCol="0" anchor="ctr"/>
          <a:lstStyle/>
          <a:p>
            <a:pPr marL="0" indent="0">
              <a:buNone/>
            </a:pPr>
            <a:r>
              <a:rPr lang="en-US" sz="1100" b="1" dirty="0">
                <a:solidFill>
                  <a:srgbClr val="00C2A8"/>
                </a:solidFill>
                <a:latin typeface="Calibri" pitchFamily="34" charset="0"/>
                <a:ea typeface="Calibri" pitchFamily="34" charset="-122"/>
                <a:cs typeface="Calibri" pitchFamily="34" charset="-120"/>
              </a:rPr>
              <a:t>2023-Now</a:t>
            </a:r>
            <a:endParaRPr lang="en-US" sz="1100" dirty="0"/>
          </a:p>
        </p:txBody>
      </p:sp>
      <p:sp>
        <p:nvSpPr>
          <p:cNvPr id="41" name="Text 38"/>
          <p:cNvSpPr/>
          <p:nvPr/>
        </p:nvSpPr>
        <p:spPr>
          <a:xfrm>
            <a:off x="10222992" y="3895344"/>
            <a:ext cx="1600200" cy="292608"/>
          </a:xfrm>
          <a:prstGeom prst="rect">
            <a:avLst/>
          </a:prstGeom>
          <a:noFill/>
          <a:ln/>
        </p:spPr>
        <p:txBody>
          <a:bodyPr wrap="square" lIns="0" tIns="0" rIns="0" bIns="0" rtlCol="0" anchor="ctr"/>
          <a:lstStyle/>
          <a:p>
            <a:pPr marL="0" indent="0">
              <a:buNone/>
            </a:pPr>
            <a:r>
              <a:rPr lang="en-US" sz="1250" b="1" dirty="0">
                <a:solidFill>
                  <a:srgbClr val="1B1F3B"/>
                </a:solidFill>
                <a:latin typeface="Calibri" pitchFamily="34" charset="0"/>
                <a:ea typeface="Calibri" pitchFamily="34" charset="-122"/>
                <a:cs typeface="Calibri" pitchFamily="34" charset="-120"/>
              </a:rPr>
              <a:t>Agentic AI Emerges</a:t>
            </a:r>
            <a:endParaRPr lang="en-US" sz="1250" dirty="0"/>
          </a:p>
        </p:txBody>
      </p:sp>
      <p:sp>
        <p:nvSpPr>
          <p:cNvPr id="42" name="Text 39"/>
          <p:cNvSpPr/>
          <p:nvPr/>
        </p:nvSpPr>
        <p:spPr>
          <a:xfrm>
            <a:off x="10222992" y="4187952"/>
            <a:ext cx="1600200" cy="722376"/>
          </a:xfrm>
          <a:prstGeom prst="rect">
            <a:avLst/>
          </a:prstGeom>
          <a:noFill/>
          <a:ln/>
        </p:spPr>
        <p:txBody>
          <a:bodyPr wrap="square" lIns="0" tIns="0" rIns="0" bIns="0" rtlCol="0" anchor="t"/>
          <a:lstStyle/>
          <a:p>
            <a:pPr marL="0" indent="0">
              <a:buNone/>
            </a:pPr>
            <a:r>
              <a:rPr lang="en-US" sz="950" dirty="0">
                <a:solidFill>
                  <a:srgbClr val="6B7280"/>
                </a:solidFill>
                <a:latin typeface="Calibri" pitchFamily="34" charset="0"/>
                <a:ea typeface="Calibri" pitchFamily="34" charset="-122"/>
                <a:cs typeface="Calibri" pitchFamily="34" charset="-120"/>
              </a:rPr>
              <a:t>Models plan, use tools, and act autonomously toward goals.</a:t>
            </a:r>
            <a:endParaRPr lang="en-US" sz="950" dirty="0"/>
          </a:p>
        </p:txBody>
      </p:sp>
      <p:sp>
        <p:nvSpPr>
          <p:cNvPr id="44" name="Text 40"/>
          <p:cNvSpPr/>
          <p:nvPr/>
        </p:nvSpPr>
        <p:spPr>
          <a:xfrm>
            <a:off x="457200" y="6446520"/>
            <a:ext cx="7315200" cy="274320"/>
          </a:xfrm>
          <a:prstGeom prst="rect">
            <a:avLst/>
          </a:prstGeom>
          <a:noFill/>
          <a:ln/>
        </p:spPr>
        <p:txBody>
          <a:bodyPr wrap="square" lIns="0" tIns="0" rIns="0" bIns="0"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SYMBIOSIS  |  Autonomous AI Systems &amp; Agent-Based Computing</a:t>
            </a:r>
            <a:endParaRPr lang="en-US" sz="900" dirty="0"/>
          </a:p>
        </p:txBody>
      </p:sp>
      <p:sp>
        <p:nvSpPr>
          <p:cNvPr id="45" name="Text 41"/>
          <p:cNvSpPr/>
          <p:nvPr/>
        </p:nvSpPr>
        <p:spPr>
          <a:xfrm>
            <a:off x="10085832" y="6446520"/>
            <a:ext cx="164592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Session 1  ·  3/12</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5F6FA"/>
        </a:solidFill>
        <a:effectLst/>
      </p:bgPr>
    </p:bg>
    <p:spTree>
      <p:nvGrpSpPr>
        <p:cNvPr id="1" name=""/>
        <p:cNvGrpSpPr/>
        <p:nvPr/>
      </p:nvGrpSpPr>
      <p:grpSpPr>
        <a:xfrm>
          <a:off x="0" y="0"/>
          <a:ext cx="0" cy="0"/>
          <a:chOff x="0" y="0"/>
          <a:chExt cx="0" cy="0"/>
        </a:xfrm>
      </p:grpSpPr>
      <p:sp>
        <p:nvSpPr>
          <p:cNvPr id="2" name="Shape 0"/>
          <p:cNvSpPr/>
          <p:nvPr/>
        </p:nvSpPr>
        <p:spPr>
          <a:xfrm>
            <a:off x="548640" y="457200"/>
            <a:ext cx="640080" cy="640080"/>
          </a:xfrm>
          <a:prstGeom prst="ellipse">
            <a:avLst/>
          </a:prstGeom>
          <a:solidFill>
            <a:srgbClr val="EDEBFF"/>
          </a:solidFill>
          <a:ln/>
        </p:spPr>
        <p:txBody>
          <a:bodyPr/>
          <a:lstStyle/>
          <a:p>
            <a:endParaRPr lang="en-US"/>
          </a:p>
        </p:txBody>
      </p:sp>
      <p:pic>
        <p:nvPicPr>
          <p:cNvPr id="3" name="Image 0" descr="preencoded.png"/>
          <p:cNvPicPr>
            <a:picLocks noChangeAspect="1"/>
          </p:cNvPicPr>
          <p:nvPr/>
        </p:nvPicPr>
        <p:blipFill>
          <a:blip r:embed="rId3"/>
          <a:stretch>
            <a:fillRect/>
          </a:stretch>
        </p:blipFill>
        <p:spPr>
          <a:xfrm>
            <a:off x="715061" y="623621"/>
            <a:ext cx="307238" cy="307238"/>
          </a:xfrm>
          <a:prstGeom prst="rect">
            <a:avLst/>
          </a:prstGeom>
        </p:spPr>
      </p:pic>
      <p:sp>
        <p:nvSpPr>
          <p:cNvPr id="4" name="Text 1"/>
          <p:cNvSpPr/>
          <p:nvPr/>
        </p:nvSpPr>
        <p:spPr>
          <a:xfrm>
            <a:off x="1371600" y="457200"/>
            <a:ext cx="8229600" cy="274320"/>
          </a:xfrm>
          <a:prstGeom prst="rect">
            <a:avLst/>
          </a:prstGeom>
          <a:noFill/>
          <a:ln/>
        </p:spPr>
        <p:txBody>
          <a:bodyPr wrap="square" lIns="0" tIns="0" rIns="0" bIns="0" rtlCol="0" anchor="ctr"/>
          <a:lstStyle/>
          <a:p>
            <a:pPr marL="0" indent="0">
              <a:buNone/>
            </a:pPr>
            <a:r>
              <a:rPr lang="en-US" sz="1200" b="1" kern="0" spc="200" dirty="0">
                <a:solidFill>
                  <a:srgbClr val="00C2A8"/>
                </a:solidFill>
                <a:latin typeface="Calibri" pitchFamily="34" charset="0"/>
                <a:ea typeface="Calibri" pitchFamily="34" charset="-122"/>
                <a:cs typeface="Calibri" pitchFamily="34" charset="-120"/>
              </a:rPr>
              <a:t>THE BIG PICTURE</a:t>
            </a:r>
            <a:endParaRPr lang="en-US" sz="1200" dirty="0"/>
          </a:p>
        </p:txBody>
      </p:sp>
      <p:sp>
        <p:nvSpPr>
          <p:cNvPr id="5" name="Text 2"/>
          <p:cNvSpPr/>
          <p:nvPr/>
        </p:nvSpPr>
        <p:spPr>
          <a:xfrm>
            <a:off x="1371600" y="713232"/>
            <a:ext cx="10058400" cy="640080"/>
          </a:xfrm>
          <a:prstGeom prst="rect">
            <a:avLst/>
          </a:prstGeom>
          <a:noFill/>
          <a:ln/>
        </p:spPr>
        <p:txBody>
          <a:bodyPr wrap="square" lIns="0" tIns="0" rIns="0" bIns="0" rtlCol="0" anchor="ctr"/>
          <a:lstStyle/>
          <a:p>
            <a:pPr marL="0" indent="0">
              <a:buNone/>
            </a:pPr>
            <a:r>
              <a:rPr lang="en-US" sz="3000" b="1" dirty="0">
                <a:solidFill>
                  <a:srgbClr val="1B1F3B"/>
                </a:solidFill>
                <a:latin typeface="Cambria" pitchFamily="34" charset="0"/>
                <a:ea typeface="Cambria" pitchFamily="34" charset="-122"/>
                <a:cs typeface="Cambria" pitchFamily="34" charset="-120"/>
              </a:rPr>
              <a:t>From Traditional AI to Agentic AI</a:t>
            </a:r>
            <a:endParaRPr lang="en-US" sz="3000" dirty="0"/>
          </a:p>
        </p:txBody>
      </p:sp>
      <p:sp>
        <p:nvSpPr>
          <p:cNvPr id="6" name="Shape 3"/>
          <p:cNvSpPr/>
          <p:nvPr/>
        </p:nvSpPr>
        <p:spPr>
          <a:xfrm>
            <a:off x="548640" y="1965960"/>
            <a:ext cx="2017166" cy="3063240"/>
          </a:xfrm>
          <a:prstGeom prst="roundRect">
            <a:avLst>
              <a:gd name="adj" fmla="val 4533"/>
            </a:avLst>
          </a:prstGeom>
          <a:solidFill>
            <a:srgbClr val="FFFFFF"/>
          </a:solidFill>
          <a:ln/>
          <a:effectLst>
            <a:outerShdw blurRad="127000" dist="38100" dir="5400000" algn="bl" rotWithShape="0">
              <a:srgbClr val="1B1F3B">
                <a:alpha val="8000"/>
              </a:srgbClr>
            </a:outerShdw>
          </a:effectLst>
        </p:spPr>
        <p:txBody>
          <a:bodyPr/>
          <a:lstStyle/>
          <a:p>
            <a:endParaRPr lang="en-US"/>
          </a:p>
        </p:txBody>
      </p:sp>
      <p:sp>
        <p:nvSpPr>
          <p:cNvPr id="7" name="Shape 4"/>
          <p:cNvSpPr/>
          <p:nvPr/>
        </p:nvSpPr>
        <p:spPr>
          <a:xfrm>
            <a:off x="1191463" y="2240280"/>
            <a:ext cx="731520" cy="731520"/>
          </a:xfrm>
          <a:prstGeom prst="ellipse">
            <a:avLst/>
          </a:prstGeom>
          <a:solidFill>
            <a:srgbClr val="EDEBFF"/>
          </a:solidFill>
          <a:ln/>
        </p:spPr>
        <p:txBody>
          <a:bodyPr/>
          <a:lstStyle/>
          <a:p>
            <a:endParaRPr lang="en-US"/>
          </a:p>
        </p:txBody>
      </p:sp>
      <p:pic>
        <p:nvPicPr>
          <p:cNvPr id="8" name="Image 1" descr="preencoded.png"/>
          <p:cNvPicPr>
            <a:picLocks noChangeAspect="1"/>
          </p:cNvPicPr>
          <p:nvPr/>
        </p:nvPicPr>
        <p:blipFill>
          <a:blip r:embed="rId4"/>
          <a:stretch>
            <a:fillRect/>
          </a:stretch>
        </p:blipFill>
        <p:spPr>
          <a:xfrm>
            <a:off x="1381658" y="2430475"/>
            <a:ext cx="351130" cy="351130"/>
          </a:xfrm>
          <a:prstGeom prst="rect">
            <a:avLst/>
          </a:prstGeom>
        </p:spPr>
      </p:pic>
      <p:sp>
        <p:nvSpPr>
          <p:cNvPr id="9" name="Text 5"/>
          <p:cNvSpPr/>
          <p:nvPr/>
        </p:nvSpPr>
        <p:spPr>
          <a:xfrm>
            <a:off x="658368" y="3154680"/>
            <a:ext cx="1797710" cy="502920"/>
          </a:xfrm>
          <a:prstGeom prst="rect">
            <a:avLst/>
          </a:prstGeom>
          <a:noFill/>
          <a:ln/>
        </p:spPr>
        <p:txBody>
          <a:bodyPr wrap="square" lIns="0" tIns="0" rIns="0" bIns="0" rtlCol="0" anchor="ctr"/>
          <a:lstStyle/>
          <a:p>
            <a:pPr marL="0" indent="0" algn="ctr">
              <a:buNone/>
            </a:pPr>
            <a:r>
              <a:rPr lang="en-US" sz="1450" b="1" dirty="0">
                <a:solidFill>
                  <a:srgbClr val="1B1F3B"/>
                </a:solidFill>
                <a:latin typeface="Calibri" pitchFamily="34" charset="0"/>
                <a:ea typeface="Calibri" pitchFamily="34" charset="-122"/>
                <a:cs typeface="Calibri" pitchFamily="34" charset="-120"/>
              </a:rPr>
              <a:t>Traditional AI</a:t>
            </a:r>
            <a:endParaRPr lang="en-US" sz="1450" dirty="0"/>
          </a:p>
        </p:txBody>
      </p:sp>
      <p:sp>
        <p:nvSpPr>
          <p:cNvPr id="10" name="Text 6"/>
          <p:cNvSpPr/>
          <p:nvPr/>
        </p:nvSpPr>
        <p:spPr>
          <a:xfrm>
            <a:off x="713232" y="3703320"/>
            <a:ext cx="1687982" cy="1188720"/>
          </a:xfrm>
          <a:prstGeom prst="rect">
            <a:avLst/>
          </a:prstGeom>
          <a:noFill/>
          <a:ln/>
        </p:spPr>
        <p:txBody>
          <a:bodyPr wrap="square" lIns="0" tIns="0" rIns="0" bIns="0" rtlCol="0" anchor="t"/>
          <a:lstStyle/>
          <a:p>
            <a:pPr marL="0" indent="0" algn="ctr">
              <a:buNone/>
            </a:pPr>
            <a:r>
              <a:rPr lang="en-US" sz="1050" dirty="0">
                <a:solidFill>
                  <a:srgbClr val="6B7280"/>
                </a:solidFill>
                <a:latin typeface="Calibri" pitchFamily="34" charset="0"/>
                <a:ea typeface="Calibri" pitchFamily="34" charset="-122"/>
                <a:cs typeface="Calibri" pitchFamily="34" charset="-120"/>
              </a:rPr>
              <a:t>Fixed rules, if-then logic. No learning from data.</a:t>
            </a:r>
            <a:endParaRPr lang="en-US" sz="1050" dirty="0"/>
          </a:p>
        </p:txBody>
      </p:sp>
      <p:pic>
        <p:nvPicPr>
          <p:cNvPr id="11" name="Image 2" descr="preencoded.png"/>
          <p:cNvPicPr>
            <a:picLocks noChangeAspect="1"/>
          </p:cNvPicPr>
          <p:nvPr/>
        </p:nvPicPr>
        <p:blipFill>
          <a:blip r:embed="rId5"/>
          <a:stretch>
            <a:fillRect/>
          </a:stretch>
        </p:blipFill>
        <p:spPr>
          <a:xfrm>
            <a:off x="2593238" y="3396996"/>
            <a:ext cx="201168" cy="201168"/>
          </a:xfrm>
          <a:prstGeom prst="rect">
            <a:avLst/>
          </a:prstGeom>
        </p:spPr>
      </p:pic>
      <p:sp>
        <p:nvSpPr>
          <p:cNvPr id="12" name="Shape 7"/>
          <p:cNvSpPr/>
          <p:nvPr/>
        </p:nvSpPr>
        <p:spPr>
          <a:xfrm>
            <a:off x="2821838" y="1965960"/>
            <a:ext cx="2017166" cy="3063240"/>
          </a:xfrm>
          <a:prstGeom prst="roundRect">
            <a:avLst>
              <a:gd name="adj" fmla="val 4533"/>
            </a:avLst>
          </a:prstGeom>
          <a:solidFill>
            <a:srgbClr val="FFFFFF"/>
          </a:solidFill>
          <a:ln/>
          <a:effectLst>
            <a:outerShdw blurRad="127000" dist="38100" dir="5400000" algn="bl" rotWithShape="0">
              <a:srgbClr val="1B1F3B">
                <a:alpha val="8000"/>
              </a:srgbClr>
            </a:outerShdw>
          </a:effectLst>
        </p:spPr>
        <p:txBody>
          <a:bodyPr/>
          <a:lstStyle/>
          <a:p>
            <a:endParaRPr lang="en-US"/>
          </a:p>
        </p:txBody>
      </p:sp>
      <p:sp>
        <p:nvSpPr>
          <p:cNvPr id="13" name="Shape 8"/>
          <p:cNvSpPr/>
          <p:nvPr/>
        </p:nvSpPr>
        <p:spPr>
          <a:xfrm>
            <a:off x="3464662" y="2240280"/>
            <a:ext cx="731520" cy="731520"/>
          </a:xfrm>
          <a:prstGeom prst="ellipse">
            <a:avLst/>
          </a:prstGeom>
          <a:solidFill>
            <a:srgbClr val="E2FBF6"/>
          </a:solidFill>
          <a:ln/>
        </p:spPr>
        <p:txBody>
          <a:bodyPr/>
          <a:lstStyle/>
          <a:p>
            <a:endParaRPr lang="en-US"/>
          </a:p>
        </p:txBody>
      </p:sp>
      <p:pic>
        <p:nvPicPr>
          <p:cNvPr id="14" name="Image 3" descr="preencoded.png"/>
          <p:cNvPicPr>
            <a:picLocks noChangeAspect="1"/>
          </p:cNvPicPr>
          <p:nvPr/>
        </p:nvPicPr>
        <p:blipFill>
          <a:blip r:embed="rId6"/>
          <a:stretch>
            <a:fillRect/>
          </a:stretch>
        </p:blipFill>
        <p:spPr>
          <a:xfrm>
            <a:off x="3654857" y="2430475"/>
            <a:ext cx="351130" cy="351130"/>
          </a:xfrm>
          <a:prstGeom prst="rect">
            <a:avLst/>
          </a:prstGeom>
        </p:spPr>
      </p:pic>
      <p:sp>
        <p:nvSpPr>
          <p:cNvPr id="15" name="Text 9"/>
          <p:cNvSpPr/>
          <p:nvPr/>
        </p:nvSpPr>
        <p:spPr>
          <a:xfrm>
            <a:off x="2931566" y="3154680"/>
            <a:ext cx="1797710" cy="502920"/>
          </a:xfrm>
          <a:prstGeom prst="rect">
            <a:avLst/>
          </a:prstGeom>
          <a:noFill/>
          <a:ln/>
        </p:spPr>
        <p:txBody>
          <a:bodyPr wrap="square" lIns="0" tIns="0" rIns="0" bIns="0" rtlCol="0" anchor="ctr"/>
          <a:lstStyle/>
          <a:p>
            <a:pPr marL="0" indent="0" algn="ctr">
              <a:buNone/>
            </a:pPr>
            <a:r>
              <a:rPr lang="en-US" sz="1450" b="1" dirty="0">
                <a:solidFill>
                  <a:srgbClr val="1B1F3B"/>
                </a:solidFill>
                <a:latin typeface="Calibri" pitchFamily="34" charset="0"/>
                <a:ea typeface="Calibri" pitchFamily="34" charset="-122"/>
                <a:cs typeface="Calibri" pitchFamily="34" charset="-120"/>
              </a:rPr>
              <a:t>Machine Learning</a:t>
            </a:r>
            <a:endParaRPr lang="en-US" sz="1450" dirty="0"/>
          </a:p>
        </p:txBody>
      </p:sp>
      <p:sp>
        <p:nvSpPr>
          <p:cNvPr id="16" name="Text 10"/>
          <p:cNvSpPr/>
          <p:nvPr/>
        </p:nvSpPr>
        <p:spPr>
          <a:xfrm>
            <a:off x="2986430" y="3703320"/>
            <a:ext cx="1687982" cy="1188720"/>
          </a:xfrm>
          <a:prstGeom prst="rect">
            <a:avLst/>
          </a:prstGeom>
          <a:noFill/>
          <a:ln/>
        </p:spPr>
        <p:txBody>
          <a:bodyPr wrap="square" lIns="0" tIns="0" rIns="0" bIns="0" rtlCol="0" anchor="t"/>
          <a:lstStyle/>
          <a:p>
            <a:pPr marL="0" indent="0" algn="ctr">
              <a:buNone/>
            </a:pPr>
            <a:r>
              <a:rPr lang="en-US" sz="1050" dirty="0">
                <a:solidFill>
                  <a:srgbClr val="6B7280"/>
                </a:solidFill>
                <a:latin typeface="Calibri" pitchFamily="34" charset="0"/>
                <a:ea typeface="Calibri" pitchFamily="34" charset="-122"/>
                <a:cs typeface="Calibri" pitchFamily="34" charset="-120"/>
              </a:rPr>
              <a:t>Learns patterns from data to predict outcomes.</a:t>
            </a:r>
            <a:endParaRPr lang="en-US" sz="1050" dirty="0"/>
          </a:p>
        </p:txBody>
      </p:sp>
      <p:pic>
        <p:nvPicPr>
          <p:cNvPr id="17" name="Image 4" descr="preencoded.png"/>
          <p:cNvPicPr>
            <a:picLocks noChangeAspect="1"/>
          </p:cNvPicPr>
          <p:nvPr/>
        </p:nvPicPr>
        <p:blipFill>
          <a:blip r:embed="rId5"/>
          <a:stretch>
            <a:fillRect/>
          </a:stretch>
        </p:blipFill>
        <p:spPr>
          <a:xfrm>
            <a:off x="4866437" y="3396996"/>
            <a:ext cx="201168" cy="201168"/>
          </a:xfrm>
          <a:prstGeom prst="rect">
            <a:avLst/>
          </a:prstGeom>
        </p:spPr>
      </p:pic>
      <p:sp>
        <p:nvSpPr>
          <p:cNvPr id="18" name="Shape 11"/>
          <p:cNvSpPr/>
          <p:nvPr/>
        </p:nvSpPr>
        <p:spPr>
          <a:xfrm>
            <a:off x="5095037" y="1965960"/>
            <a:ext cx="2017166" cy="3063240"/>
          </a:xfrm>
          <a:prstGeom prst="roundRect">
            <a:avLst>
              <a:gd name="adj" fmla="val 4533"/>
            </a:avLst>
          </a:prstGeom>
          <a:solidFill>
            <a:srgbClr val="FFFFFF"/>
          </a:solidFill>
          <a:ln/>
          <a:effectLst>
            <a:outerShdw blurRad="127000" dist="38100" dir="5400000" algn="bl" rotWithShape="0">
              <a:srgbClr val="1B1F3B">
                <a:alpha val="8000"/>
              </a:srgbClr>
            </a:outerShdw>
          </a:effectLst>
        </p:spPr>
        <p:txBody>
          <a:bodyPr/>
          <a:lstStyle/>
          <a:p>
            <a:endParaRPr lang="en-US"/>
          </a:p>
        </p:txBody>
      </p:sp>
      <p:sp>
        <p:nvSpPr>
          <p:cNvPr id="19" name="Shape 12"/>
          <p:cNvSpPr/>
          <p:nvPr/>
        </p:nvSpPr>
        <p:spPr>
          <a:xfrm>
            <a:off x="5737860" y="2240280"/>
            <a:ext cx="731520" cy="731520"/>
          </a:xfrm>
          <a:prstGeom prst="ellipse">
            <a:avLst/>
          </a:prstGeom>
          <a:solidFill>
            <a:srgbClr val="EDEBFF"/>
          </a:solidFill>
          <a:ln/>
        </p:spPr>
        <p:txBody>
          <a:bodyPr/>
          <a:lstStyle/>
          <a:p>
            <a:endParaRPr lang="en-US"/>
          </a:p>
        </p:txBody>
      </p:sp>
      <p:pic>
        <p:nvPicPr>
          <p:cNvPr id="20" name="Image 5" descr="preencoded.png"/>
          <p:cNvPicPr>
            <a:picLocks noChangeAspect="1"/>
          </p:cNvPicPr>
          <p:nvPr/>
        </p:nvPicPr>
        <p:blipFill>
          <a:blip r:embed="rId7"/>
          <a:stretch>
            <a:fillRect/>
          </a:stretch>
        </p:blipFill>
        <p:spPr>
          <a:xfrm>
            <a:off x="5928055" y="2430475"/>
            <a:ext cx="351130" cy="351130"/>
          </a:xfrm>
          <a:prstGeom prst="rect">
            <a:avLst/>
          </a:prstGeom>
        </p:spPr>
      </p:pic>
      <p:sp>
        <p:nvSpPr>
          <p:cNvPr id="21" name="Text 13"/>
          <p:cNvSpPr/>
          <p:nvPr/>
        </p:nvSpPr>
        <p:spPr>
          <a:xfrm>
            <a:off x="5204765" y="3154680"/>
            <a:ext cx="1797710" cy="502920"/>
          </a:xfrm>
          <a:prstGeom prst="rect">
            <a:avLst/>
          </a:prstGeom>
          <a:noFill/>
          <a:ln/>
        </p:spPr>
        <p:txBody>
          <a:bodyPr wrap="square" lIns="0" tIns="0" rIns="0" bIns="0" rtlCol="0" anchor="ctr"/>
          <a:lstStyle/>
          <a:p>
            <a:pPr marL="0" indent="0" algn="ctr">
              <a:buNone/>
            </a:pPr>
            <a:r>
              <a:rPr lang="en-US" sz="1450" b="1" dirty="0">
                <a:solidFill>
                  <a:srgbClr val="1B1F3B"/>
                </a:solidFill>
                <a:latin typeface="Calibri" pitchFamily="34" charset="0"/>
                <a:ea typeface="Calibri" pitchFamily="34" charset="-122"/>
                <a:cs typeface="Calibri" pitchFamily="34" charset="-120"/>
              </a:rPr>
              <a:t>Deep Learning</a:t>
            </a:r>
            <a:endParaRPr lang="en-US" sz="1450" dirty="0"/>
          </a:p>
        </p:txBody>
      </p:sp>
      <p:sp>
        <p:nvSpPr>
          <p:cNvPr id="22" name="Text 14"/>
          <p:cNvSpPr/>
          <p:nvPr/>
        </p:nvSpPr>
        <p:spPr>
          <a:xfrm>
            <a:off x="5259629" y="3703320"/>
            <a:ext cx="1687982" cy="1188720"/>
          </a:xfrm>
          <a:prstGeom prst="rect">
            <a:avLst/>
          </a:prstGeom>
          <a:noFill/>
          <a:ln/>
        </p:spPr>
        <p:txBody>
          <a:bodyPr wrap="square" lIns="0" tIns="0" rIns="0" bIns="0" rtlCol="0" anchor="t"/>
          <a:lstStyle/>
          <a:p>
            <a:pPr marL="0" indent="0" algn="ctr">
              <a:buNone/>
            </a:pPr>
            <a:r>
              <a:rPr lang="en-US" sz="1050" dirty="0">
                <a:solidFill>
                  <a:srgbClr val="6B7280"/>
                </a:solidFill>
                <a:latin typeface="Calibri" pitchFamily="34" charset="0"/>
                <a:ea typeface="Calibri" pitchFamily="34" charset="-122"/>
                <a:cs typeface="Calibri" pitchFamily="34" charset="-120"/>
              </a:rPr>
              <a:t>Neural networks learn complex patterns at scale.</a:t>
            </a:r>
            <a:endParaRPr lang="en-US" sz="1050" dirty="0"/>
          </a:p>
        </p:txBody>
      </p:sp>
      <p:pic>
        <p:nvPicPr>
          <p:cNvPr id="23" name="Image 6" descr="preencoded.png"/>
          <p:cNvPicPr>
            <a:picLocks noChangeAspect="1"/>
          </p:cNvPicPr>
          <p:nvPr/>
        </p:nvPicPr>
        <p:blipFill>
          <a:blip r:embed="rId5"/>
          <a:stretch>
            <a:fillRect/>
          </a:stretch>
        </p:blipFill>
        <p:spPr>
          <a:xfrm>
            <a:off x="7139635" y="3396996"/>
            <a:ext cx="201168" cy="201168"/>
          </a:xfrm>
          <a:prstGeom prst="rect">
            <a:avLst/>
          </a:prstGeom>
        </p:spPr>
      </p:pic>
      <p:sp>
        <p:nvSpPr>
          <p:cNvPr id="24" name="Shape 15"/>
          <p:cNvSpPr/>
          <p:nvPr/>
        </p:nvSpPr>
        <p:spPr>
          <a:xfrm>
            <a:off x="7368235" y="1965960"/>
            <a:ext cx="2017166" cy="3063240"/>
          </a:xfrm>
          <a:prstGeom prst="roundRect">
            <a:avLst>
              <a:gd name="adj" fmla="val 4533"/>
            </a:avLst>
          </a:prstGeom>
          <a:solidFill>
            <a:srgbClr val="FFFFFF"/>
          </a:solidFill>
          <a:ln/>
          <a:effectLst>
            <a:outerShdw blurRad="127000" dist="38100" dir="5400000" algn="bl" rotWithShape="0">
              <a:srgbClr val="1B1F3B">
                <a:alpha val="8000"/>
              </a:srgbClr>
            </a:outerShdw>
          </a:effectLst>
        </p:spPr>
        <p:txBody>
          <a:bodyPr/>
          <a:lstStyle/>
          <a:p>
            <a:endParaRPr lang="en-US"/>
          </a:p>
        </p:txBody>
      </p:sp>
      <p:sp>
        <p:nvSpPr>
          <p:cNvPr id="25" name="Shape 16"/>
          <p:cNvSpPr/>
          <p:nvPr/>
        </p:nvSpPr>
        <p:spPr>
          <a:xfrm>
            <a:off x="8011058" y="2240280"/>
            <a:ext cx="731520" cy="731520"/>
          </a:xfrm>
          <a:prstGeom prst="ellipse">
            <a:avLst/>
          </a:prstGeom>
          <a:solidFill>
            <a:srgbClr val="E2FBF6"/>
          </a:solidFill>
          <a:ln/>
        </p:spPr>
        <p:txBody>
          <a:bodyPr/>
          <a:lstStyle/>
          <a:p>
            <a:endParaRPr lang="en-US"/>
          </a:p>
        </p:txBody>
      </p:sp>
      <p:pic>
        <p:nvPicPr>
          <p:cNvPr id="26" name="Image 7" descr="preencoded.png"/>
          <p:cNvPicPr>
            <a:picLocks noChangeAspect="1"/>
          </p:cNvPicPr>
          <p:nvPr/>
        </p:nvPicPr>
        <p:blipFill>
          <a:blip r:embed="rId8"/>
          <a:stretch>
            <a:fillRect/>
          </a:stretch>
        </p:blipFill>
        <p:spPr>
          <a:xfrm>
            <a:off x="8201254" y="2430475"/>
            <a:ext cx="351130" cy="351130"/>
          </a:xfrm>
          <a:prstGeom prst="rect">
            <a:avLst/>
          </a:prstGeom>
        </p:spPr>
      </p:pic>
      <p:sp>
        <p:nvSpPr>
          <p:cNvPr id="27" name="Text 17"/>
          <p:cNvSpPr/>
          <p:nvPr/>
        </p:nvSpPr>
        <p:spPr>
          <a:xfrm>
            <a:off x="7477963" y="3154680"/>
            <a:ext cx="1797710" cy="502920"/>
          </a:xfrm>
          <a:prstGeom prst="rect">
            <a:avLst/>
          </a:prstGeom>
          <a:noFill/>
          <a:ln/>
        </p:spPr>
        <p:txBody>
          <a:bodyPr wrap="square" lIns="0" tIns="0" rIns="0" bIns="0" rtlCol="0" anchor="ctr"/>
          <a:lstStyle/>
          <a:p>
            <a:pPr marL="0" indent="0" algn="ctr">
              <a:buNone/>
            </a:pPr>
            <a:r>
              <a:rPr lang="en-US" sz="1450" b="1" dirty="0">
                <a:solidFill>
                  <a:srgbClr val="1B1F3B"/>
                </a:solidFill>
                <a:latin typeface="Calibri" pitchFamily="34" charset="0"/>
                <a:ea typeface="Calibri" pitchFamily="34" charset="-122"/>
                <a:cs typeface="Calibri" pitchFamily="34" charset="-120"/>
              </a:rPr>
              <a:t>Generative AI</a:t>
            </a:r>
            <a:endParaRPr lang="en-US" sz="1450" dirty="0"/>
          </a:p>
        </p:txBody>
      </p:sp>
      <p:sp>
        <p:nvSpPr>
          <p:cNvPr id="28" name="Text 18"/>
          <p:cNvSpPr/>
          <p:nvPr/>
        </p:nvSpPr>
        <p:spPr>
          <a:xfrm>
            <a:off x="7532827" y="3703320"/>
            <a:ext cx="1687982" cy="1188720"/>
          </a:xfrm>
          <a:prstGeom prst="rect">
            <a:avLst/>
          </a:prstGeom>
          <a:noFill/>
          <a:ln/>
        </p:spPr>
        <p:txBody>
          <a:bodyPr wrap="square" lIns="0" tIns="0" rIns="0" bIns="0" rtlCol="0" anchor="t"/>
          <a:lstStyle/>
          <a:p>
            <a:pPr marL="0" indent="0" algn="ctr">
              <a:buNone/>
            </a:pPr>
            <a:r>
              <a:rPr lang="en-US" sz="1050" dirty="0">
                <a:solidFill>
                  <a:srgbClr val="6B7280"/>
                </a:solidFill>
                <a:latin typeface="Calibri" pitchFamily="34" charset="0"/>
                <a:ea typeface="Calibri" pitchFamily="34" charset="-122"/>
                <a:cs typeface="Calibri" pitchFamily="34" charset="-120"/>
              </a:rPr>
              <a:t>Creates new text, images, audio, and code.</a:t>
            </a:r>
            <a:endParaRPr lang="en-US" sz="1050" dirty="0"/>
          </a:p>
        </p:txBody>
      </p:sp>
      <p:pic>
        <p:nvPicPr>
          <p:cNvPr id="29" name="Image 8" descr="preencoded.png"/>
          <p:cNvPicPr>
            <a:picLocks noChangeAspect="1"/>
          </p:cNvPicPr>
          <p:nvPr/>
        </p:nvPicPr>
        <p:blipFill>
          <a:blip r:embed="rId5"/>
          <a:stretch>
            <a:fillRect/>
          </a:stretch>
        </p:blipFill>
        <p:spPr>
          <a:xfrm>
            <a:off x="9412834" y="3396996"/>
            <a:ext cx="201168" cy="201168"/>
          </a:xfrm>
          <a:prstGeom prst="rect">
            <a:avLst/>
          </a:prstGeom>
        </p:spPr>
      </p:pic>
      <p:sp>
        <p:nvSpPr>
          <p:cNvPr id="30" name="Shape 19"/>
          <p:cNvSpPr/>
          <p:nvPr/>
        </p:nvSpPr>
        <p:spPr>
          <a:xfrm>
            <a:off x="9641434" y="1965960"/>
            <a:ext cx="2017166" cy="3063240"/>
          </a:xfrm>
          <a:prstGeom prst="roundRect">
            <a:avLst>
              <a:gd name="adj" fmla="val 4533"/>
            </a:avLst>
          </a:prstGeom>
          <a:solidFill>
            <a:srgbClr val="1B1F3B"/>
          </a:solidFill>
          <a:ln/>
          <a:effectLst>
            <a:outerShdw blurRad="127000" dist="38100" dir="5400000" algn="bl" rotWithShape="0">
              <a:srgbClr val="1B1F3B">
                <a:alpha val="18000"/>
              </a:srgbClr>
            </a:outerShdw>
          </a:effectLst>
        </p:spPr>
        <p:txBody>
          <a:bodyPr/>
          <a:lstStyle/>
          <a:p>
            <a:endParaRPr lang="en-US"/>
          </a:p>
        </p:txBody>
      </p:sp>
      <p:sp>
        <p:nvSpPr>
          <p:cNvPr id="31" name="Shape 20"/>
          <p:cNvSpPr/>
          <p:nvPr/>
        </p:nvSpPr>
        <p:spPr>
          <a:xfrm>
            <a:off x="10284257" y="2240280"/>
            <a:ext cx="731520" cy="731520"/>
          </a:xfrm>
          <a:prstGeom prst="ellipse">
            <a:avLst/>
          </a:prstGeom>
          <a:solidFill>
            <a:srgbClr val="2B2F55"/>
          </a:solidFill>
          <a:ln/>
        </p:spPr>
        <p:txBody>
          <a:bodyPr/>
          <a:lstStyle/>
          <a:p>
            <a:endParaRPr lang="en-US"/>
          </a:p>
        </p:txBody>
      </p:sp>
      <p:pic>
        <p:nvPicPr>
          <p:cNvPr id="32" name="Image 9" descr="preencoded.png"/>
          <p:cNvPicPr>
            <a:picLocks noChangeAspect="1"/>
          </p:cNvPicPr>
          <p:nvPr/>
        </p:nvPicPr>
        <p:blipFill>
          <a:blip r:embed="rId9"/>
          <a:stretch>
            <a:fillRect/>
          </a:stretch>
        </p:blipFill>
        <p:spPr>
          <a:xfrm>
            <a:off x="10474452" y="2430475"/>
            <a:ext cx="351130" cy="351130"/>
          </a:xfrm>
          <a:prstGeom prst="rect">
            <a:avLst/>
          </a:prstGeom>
        </p:spPr>
      </p:pic>
      <p:sp>
        <p:nvSpPr>
          <p:cNvPr id="33" name="Text 21"/>
          <p:cNvSpPr/>
          <p:nvPr/>
        </p:nvSpPr>
        <p:spPr>
          <a:xfrm>
            <a:off x="9751162" y="3154680"/>
            <a:ext cx="1797710" cy="502920"/>
          </a:xfrm>
          <a:prstGeom prst="rect">
            <a:avLst/>
          </a:prstGeom>
          <a:noFill/>
          <a:ln/>
        </p:spPr>
        <p:txBody>
          <a:bodyPr wrap="square" lIns="0" tIns="0" rIns="0" bIns="0" rtlCol="0" anchor="ctr"/>
          <a:lstStyle/>
          <a:p>
            <a:pPr marL="0" indent="0" algn="ctr">
              <a:buNone/>
            </a:pPr>
            <a:r>
              <a:rPr lang="en-US" sz="1450" b="1" dirty="0">
                <a:solidFill>
                  <a:srgbClr val="FFFFFF"/>
                </a:solidFill>
                <a:latin typeface="Calibri" pitchFamily="34" charset="0"/>
                <a:ea typeface="Calibri" pitchFamily="34" charset="-122"/>
                <a:cs typeface="Calibri" pitchFamily="34" charset="-120"/>
              </a:rPr>
              <a:t>Agentic AI</a:t>
            </a:r>
            <a:endParaRPr lang="en-US" sz="1450" dirty="0"/>
          </a:p>
        </p:txBody>
      </p:sp>
      <p:sp>
        <p:nvSpPr>
          <p:cNvPr id="34" name="Text 22"/>
          <p:cNvSpPr/>
          <p:nvPr/>
        </p:nvSpPr>
        <p:spPr>
          <a:xfrm>
            <a:off x="9806026" y="3703320"/>
            <a:ext cx="1687982" cy="1188720"/>
          </a:xfrm>
          <a:prstGeom prst="rect">
            <a:avLst/>
          </a:prstGeom>
          <a:noFill/>
          <a:ln/>
        </p:spPr>
        <p:txBody>
          <a:bodyPr wrap="square" lIns="0" tIns="0" rIns="0" bIns="0" rtlCol="0" anchor="t"/>
          <a:lstStyle/>
          <a:p>
            <a:pPr marL="0" indent="0" algn="ctr">
              <a:buNone/>
            </a:pPr>
            <a:r>
              <a:rPr lang="en-US" sz="1050" dirty="0">
                <a:solidFill>
                  <a:srgbClr val="C9CCE8"/>
                </a:solidFill>
                <a:latin typeface="Calibri" pitchFamily="34" charset="0"/>
                <a:ea typeface="Calibri" pitchFamily="34" charset="-122"/>
                <a:cs typeface="Calibri" pitchFamily="34" charset="-120"/>
              </a:rPr>
              <a:t>Plans, decides, uses tools, and acts on goals.</a:t>
            </a:r>
            <a:endParaRPr lang="en-US" sz="1050" dirty="0"/>
          </a:p>
        </p:txBody>
      </p:sp>
      <p:sp>
        <p:nvSpPr>
          <p:cNvPr id="35" name="Text 23"/>
          <p:cNvSpPr/>
          <p:nvPr/>
        </p:nvSpPr>
        <p:spPr>
          <a:xfrm>
            <a:off x="548640" y="5257800"/>
            <a:ext cx="11109960" cy="365760"/>
          </a:xfrm>
          <a:prstGeom prst="rect">
            <a:avLst/>
          </a:prstGeom>
          <a:noFill/>
          <a:ln/>
        </p:spPr>
        <p:txBody>
          <a:bodyPr wrap="square" lIns="0" tIns="0" rIns="0" bIns="0" rtlCol="0" anchor="ctr"/>
          <a:lstStyle/>
          <a:p>
            <a:pPr marL="0" indent="0" algn="ctr">
              <a:buNone/>
            </a:pPr>
            <a:r>
              <a:rPr lang="en-US" sz="1250" i="1" dirty="0">
                <a:solidFill>
                  <a:srgbClr val="6B7280"/>
                </a:solidFill>
                <a:latin typeface="Calibri" pitchFamily="34" charset="0"/>
                <a:ea typeface="Calibri" pitchFamily="34" charset="-122"/>
                <a:cs typeface="Calibri" pitchFamily="34" charset="-120"/>
              </a:rPr>
              <a:t>Each stage doesn't replace the last — it adds a new capability on top of it.</a:t>
            </a:r>
            <a:endParaRPr lang="en-US" sz="1250" dirty="0"/>
          </a:p>
        </p:txBody>
      </p:sp>
      <p:sp>
        <p:nvSpPr>
          <p:cNvPr id="37" name="Text 24"/>
          <p:cNvSpPr/>
          <p:nvPr/>
        </p:nvSpPr>
        <p:spPr>
          <a:xfrm>
            <a:off x="457200" y="6446520"/>
            <a:ext cx="7315200" cy="274320"/>
          </a:xfrm>
          <a:prstGeom prst="rect">
            <a:avLst/>
          </a:prstGeom>
          <a:noFill/>
          <a:ln/>
        </p:spPr>
        <p:txBody>
          <a:bodyPr wrap="square" lIns="0" tIns="0" rIns="0" bIns="0"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SYMBIOSIS  |  Autonomous AI Systems &amp; Agent-Based Computing</a:t>
            </a:r>
            <a:endParaRPr lang="en-US" sz="900" dirty="0"/>
          </a:p>
        </p:txBody>
      </p:sp>
      <p:sp>
        <p:nvSpPr>
          <p:cNvPr id="38" name="Text 25"/>
          <p:cNvSpPr/>
          <p:nvPr/>
        </p:nvSpPr>
        <p:spPr>
          <a:xfrm>
            <a:off x="10085832" y="6446520"/>
            <a:ext cx="164592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Session 1  ·  4/12</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5F6FA"/>
        </a:solidFill>
        <a:effectLst/>
      </p:bgPr>
    </p:bg>
    <p:spTree>
      <p:nvGrpSpPr>
        <p:cNvPr id="1" name=""/>
        <p:cNvGrpSpPr/>
        <p:nvPr/>
      </p:nvGrpSpPr>
      <p:grpSpPr>
        <a:xfrm>
          <a:off x="0" y="0"/>
          <a:ext cx="0" cy="0"/>
          <a:chOff x="0" y="0"/>
          <a:chExt cx="0" cy="0"/>
        </a:xfrm>
      </p:grpSpPr>
      <p:sp>
        <p:nvSpPr>
          <p:cNvPr id="2" name="Shape 0"/>
          <p:cNvSpPr/>
          <p:nvPr/>
        </p:nvSpPr>
        <p:spPr>
          <a:xfrm>
            <a:off x="548640" y="457200"/>
            <a:ext cx="640080" cy="640080"/>
          </a:xfrm>
          <a:prstGeom prst="ellipse">
            <a:avLst/>
          </a:prstGeom>
          <a:solidFill>
            <a:srgbClr val="EDEBFF"/>
          </a:solidFill>
          <a:ln/>
        </p:spPr>
        <p:txBody>
          <a:bodyPr/>
          <a:lstStyle/>
          <a:p>
            <a:endParaRPr lang="en-US"/>
          </a:p>
        </p:txBody>
      </p:sp>
      <p:pic>
        <p:nvPicPr>
          <p:cNvPr id="3" name="Image 0" descr="preencoded.png"/>
          <p:cNvPicPr>
            <a:picLocks noChangeAspect="1"/>
          </p:cNvPicPr>
          <p:nvPr/>
        </p:nvPicPr>
        <p:blipFill>
          <a:blip r:embed="rId3"/>
          <a:stretch>
            <a:fillRect/>
          </a:stretch>
        </p:blipFill>
        <p:spPr>
          <a:xfrm>
            <a:off x="715061" y="623621"/>
            <a:ext cx="307238" cy="307238"/>
          </a:xfrm>
          <a:prstGeom prst="rect">
            <a:avLst/>
          </a:prstGeom>
        </p:spPr>
      </p:pic>
      <p:sp>
        <p:nvSpPr>
          <p:cNvPr id="4" name="Text 1"/>
          <p:cNvSpPr/>
          <p:nvPr/>
        </p:nvSpPr>
        <p:spPr>
          <a:xfrm>
            <a:off x="1371600" y="457200"/>
            <a:ext cx="8229600" cy="274320"/>
          </a:xfrm>
          <a:prstGeom prst="rect">
            <a:avLst/>
          </a:prstGeom>
          <a:noFill/>
          <a:ln/>
        </p:spPr>
        <p:txBody>
          <a:bodyPr wrap="square" lIns="0" tIns="0" rIns="0" bIns="0" rtlCol="0" anchor="ctr"/>
          <a:lstStyle/>
          <a:p>
            <a:pPr marL="0" indent="0">
              <a:buNone/>
            </a:pPr>
            <a:r>
              <a:rPr lang="en-US" sz="1200" b="1" kern="0" spc="200" dirty="0">
                <a:solidFill>
                  <a:srgbClr val="00C2A8"/>
                </a:solidFill>
                <a:latin typeface="Calibri" pitchFamily="34" charset="0"/>
                <a:ea typeface="Calibri" pitchFamily="34" charset="-122"/>
                <a:cs typeface="Calibri" pitchFamily="34" charset="-120"/>
              </a:rPr>
              <a:t>CATEGORIZING AI</a:t>
            </a:r>
            <a:endParaRPr lang="en-US" sz="1200" dirty="0"/>
          </a:p>
        </p:txBody>
      </p:sp>
      <p:sp>
        <p:nvSpPr>
          <p:cNvPr id="5" name="Text 2"/>
          <p:cNvSpPr/>
          <p:nvPr/>
        </p:nvSpPr>
        <p:spPr>
          <a:xfrm>
            <a:off x="1371600" y="713232"/>
            <a:ext cx="10058400" cy="640080"/>
          </a:xfrm>
          <a:prstGeom prst="rect">
            <a:avLst/>
          </a:prstGeom>
          <a:noFill/>
          <a:ln/>
        </p:spPr>
        <p:txBody>
          <a:bodyPr wrap="square" lIns="0" tIns="0" rIns="0" bIns="0" rtlCol="0" anchor="ctr"/>
          <a:lstStyle/>
          <a:p>
            <a:pPr marL="0" indent="0">
              <a:buNone/>
            </a:pPr>
            <a:r>
              <a:rPr lang="en-US" sz="3000" b="1" dirty="0">
                <a:solidFill>
                  <a:srgbClr val="1B1F3B"/>
                </a:solidFill>
                <a:latin typeface="Cambria" pitchFamily="34" charset="0"/>
                <a:ea typeface="Cambria" pitchFamily="34" charset="-122"/>
                <a:cs typeface="Cambria" pitchFamily="34" charset="-120"/>
              </a:rPr>
              <a:t>Predictive AI vs Generative AI vs Agentic AI</a:t>
            </a:r>
            <a:endParaRPr lang="en-US" sz="3000" dirty="0"/>
          </a:p>
        </p:txBody>
      </p:sp>
      <p:sp>
        <p:nvSpPr>
          <p:cNvPr id="6" name="Shape 3"/>
          <p:cNvSpPr/>
          <p:nvPr/>
        </p:nvSpPr>
        <p:spPr>
          <a:xfrm>
            <a:off x="548640" y="1783080"/>
            <a:ext cx="3611880" cy="3246120"/>
          </a:xfrm>
          <a:prstGeom prst="roundRect">
            <a:avLst>
              <a:gd name="adj" fmla="val 2817"/>
            </a:avLst>
          </a:prstGeom>
          <a:solidFill>
            <a:srgbClr val="FFFFFF"/>
          </a:solidFill>
          <a:ln/>
          <a:effectLst>
            <a:outerShdw blurRad="127000" dist="38100" dir="5400000" algn="bl" rotWithShape="0">
              <a:srgbClr val="1B1F3B">
                <a:alpha val="8000"/>
              </a:srgbClr>
            </a:outerShdw>
          </a:effectLst>
        </p:spPr>
        <p:txBody>
          <a:bodyPr/>
          <a:lstStyle/>
          <a:p>
            <a:endParaRPr lang="en-US"/>
          </a:p>
        </p:txBody>
      </p:sp>
      <p:sp>
        <p:nvSpPr>
          <p:cNvPr id="7" name="Shape 4"/>
          <p:cNvSpPr/>
          <p:nvPr/>
        </p:nvSpPr>
        <p:spPr>
          <a:xfrm>
            <a:off x="777240" y="2011680"/>
            <a:ext cx="594360" cy="594360"/>
          </a:xfrm>
          <a:prstGeom prst="ellipse">
            <a:avLst/>
          </a:prstGeom>
          <a:solidFill>
            <a:srgbClr val="EDEBFF"/>
          </a:solidFill>
          <a:ln/>
        </p:spPr>
        <p:txBody>
          <a:bodyPr/>
          <a:lstStyle/>
          <a:p>
            <a:endParaRPr lang="en-US"/>
          </a:p>
        </p:txBody>
      </p:sp>
      <p:pic>
        <p:nvPicPr>
          <p:cNvPr id="8" name="Image 1" descr="preencoded.png"/>
          <p:cNvPicPr>
            <a:picLocks noChangeAspect="1"/>
          </p:cNvPicPr>
          <p:nvPr/>
        </p:nvPicPr>
        <p:blipFill>
          <a:blip r:embed="rId4"/>
          <a:stretch>
            <a:fillRect/>
          </a:stretch>
        </p:blipFill>
        <p:spPr>
          <a:xfrm>
            <a:off x="931774" y="2166214"/>
            <a:ext cx="285293" cy="285293"/>
          </a:xfrm>
          <a:prstGeom prst="rect">
            <a:avLst/>
          </a:prstGeom>
        </p:spPr>
      </p:pic>
      <p:sp>
        <p:nvSpPr>
          <p:cNvPr id="9" name="Text 5"/>
          <p:cNvSpPr/>
          <p:nvPr/>
        </p:nvSpPr>
        <p:spPr>
          <a:xfrm>
            <a:off x="1508760" y="2039112"/>
            <a:ext cx="2514600" cy="548640"/>
          </a:xfrm>
          <a:prstGeom prst="rect">
            <a:avLst/>
          </a:prstGeom>
          <a:noFill/>
          <a:ln/>
        </p:spPr>
        <p:txBody>
          <a:bodyPr wrap="square" lIns="0" tIns="0" rIns="0" bIns="0" rtlCol="0" anchor="ctr"/>
          <a:lstStyle/>
          <a:p>
            <a:pPr marL="0" indent="0">
              <a:buNone/>
            </a:pPr>
            <a:r>
              <a:rPr lang="en-US" sz="1550" b="1" dirty="0">
                <a:solidFill>
                  <a:srgbClr val="1B1F3B"/>
                </a:solidFill>
                <a:latin typeface="Calibri" pitchFamily="34" charset="0"/>
                <a:ea typeface="Calibri" pitchFamily="34" charset="-122"/>
                <a:cs typeface="Calibri" pitchFamily="34" charset="-120"/>
              </a:rPr>
              <a:t>Predictive AI</a:t>
            </a:r>
            <a:endParaRPr lang="en-US" sz="1550" dirty="0"/>
          </a:p>
        </p:txBody>
      </p:sp>
      <p:sp>
        <p:nvSpPr>
          <p:cNvPr id="10" name="Text 6"/>
          <p:cNvSpPr/>
          <p:nvPr/>
        </p:nvSpPr>
        <p:spPr>
          <a:xfrm>
            <a:off x="804672" y="2743200"/>
            <a:ext cx="3099816" cy="365760"/>
          </a:xfrm>
          <a:prstGeom prst="rect">
            <a:avLst/>
          </a:prstGeom>
          <a:noFill/>
          <a:ln/>
        </p:spPr>
        <p:txBody>
          <a:bodyPr wrap="square" lIns="0" tIns="0" rIns="0" bIns="0" rtlCol="0" anchor="ctr"/>
          <a:lstStyle/>
          <a:p>
            <a:pPr marL="0" indent="0">
              <a:buNone/>
            </a:pPr>
            <a:r>
              <a:rPr lang="en-US" sz="1200" i="1" dirty="0">
                <a:solidFill>
                  <a:srgbClr val="00C2A8"/>
                </a:solidFill>
                <a:latin typeface="Calibri" pitchFamily="34" charset="0"/>
                <a:ea typeface="Calibri" pitchFamily="34" charset="-122"/>
                <a:cs typeface="Calibri" pitchFamily="34" charset="-120"/>
              </a:rPr>
              <a:t>"What will happen?"</a:t>
            </a:r>
            <a:endParaRPr lang="en-US" sz="1200" dirty="0"/>
          </a:p>
        </p:txBody>
      </p:sp>
      <p:sp>
        <p:nvSpPr>
          <p:cNvPr id="11" name="Text 7"/>
          <p:cNvSpPr/>
          <p:nvPr/>
        </p:nvSpPr>
        <p:spPr>
          <a:xfrm>
            <a:off x="804672" y="3200400"/>
            <a:ext cx="3099816" cy="1600200"/>
          </a:xfrm>
          <a:prstGeom prst="rect">
            <a:avLst/>
          </a:prstGeom>
          <a:noFill/>
          <a:ln/>
        </p:spPr>
        <p:txBody>
          <a:bodyPr wrap="square" rtlCol="0" anchor="t"/>
          <a:lstStyle/>
          <a:p>
            <a:pPr marL="342900" indent="-342900">
              <a:spcAft>
                <a:spcPts val="1200"/>
              </a:spcAft>
              <a:buSzPct val="100000"/>
              <a:buChar char="–"/>
            </a:pPr>
            <a:r>
              <a:rPr lang="en-US" sz="1150" dirty="0">
                <a:solidFill>
                  <a:srgbClr val="1B1F3B"/>
                </a:solidFill>
                <a:latin typeface="Calibri" pitchFamily="34" charset="0"/>
                <a:ea typeface="Calibri" pitchFamily="34" charset="-122"/>
                <a:cs typeface="Calibri" pitchFamily="34" charset="-120"/>
              </a:rPr>
              <a:t>Analyzes patterns in data</a:t>
            </a:r>
            <a:endParaRPr lang="en-US" sz="1150" dirty="0"/>
          </a:p>
          <a:p>
            <a:pPr marL="342900" indent="-342900">
              <a:spcAft>
                <a:spcPts val="1200"/>
              </a:spcAft>
              <a:buSzPct val="100000"/>
              <a:buChar char="–"/>
            </a:pPr>
            <a:r>
              <a:rPr lang="en-US" sz="1150" dirty="0">
                <a:solidFill>
                  <a:srgbClr val="1B1F3B"/>
                </a:solidFill>
                <a:latin typeface="Calibri" pitchFamily="34" charset="0"/>
                <a:ea typeface="Calibri" pitchFamily="34" charset="-122"/>
                <a:cs typeface="Calibri" pitchFamily="34" charset="-120"/>
              </a:rPr>
              <a:t>Outputs a score, label, or forecast</a:t>
            </a:r>
            <a:endParaRPr lang="en-US" sz="1150" dirty="0"/>
          </a:p>
          <a:p>
            <a:pPr marL="342900" indent="-342900">
              <a:spcAft>
                <a:spcPts val="1200"/>
              </a:spcAft>
              <a:buSzPct val="100000"/>
              <a:buChar char="–"/>
            </a:pPr>
            <a:r>
              <a:rPr lang="en-US" sz="1150" dirty="0">
                <a:solidFill>
                  <a:srgbClr val="1B1F3B"/>
                </a:solidFill>
                <a:latin typeface="Calibri" pitchFamily="34" charset="0"/>
                <a:ea typeface="Calibri" pitchFamily="34" charset="-122"/>
                <a:cs typeface="Calibri" pitchFamily="34" charset="-120"/>
              </a:rPr>
              <a:t>e.g. fraud detection, demand forecasting, churn prediction</a:t>
            </a:r>
            <a:endParaRPr lang="en-US" sz="1150" dirty="0"/>
          </a:p>
        </p:txBody>
      </p:sp>
      <p:sp>
        <p:nvSpPr>
          <p:cNvPr id="12" name="Shape 8"/>
          <p:cNvSpPr/>
          <p:nvPr/>
        </p:nvSpPr>
        <p:spPr>
          <a:xfrm>
            <a:off x="4343400" y="1783080"/>
            <a:ext cx="3611880" cy="3246120"/>
          </a:xfrm>
          <a:prstGeom prst="roundRect">
            <a:avLst>
              <a:gd name="adj" fmla="val 2817"/>
            </a:avLst>
          </a:prstGeom>
          <a:solidFill>
            <a:srgbClr val="FFFFFF"/>
          </a:solidFill>
          <a:ln/>
          <a:effectLst>
            <a:outerShdw blurRad="127000" dist="38100" dir="5400000" algn="bl" rotWithShape="0">
              <a:srgbClr val="1B1F3B">
                <a:alpha val="8000"/>
              </a:srgbClr>
            </a:outerShdw>
          </a:effectLst>
        </p:spPr>
        <p:txBody>
          <a:bodyPr/>
          <a:lstStyle/>
          <a:p>
            <a:endParaRPr lang="en-US"/>
          </a:p>
        </p:txBody>
      </p:sp>
      <p:sp>
        <p:nvSpPr>
          <p:cNvPr id="13" name="Shape 9"/>
          <p:cNvSpPr/>
          <p:nvPr/>
        </p:nvSpPr>
        <p:spPr>
          <a:xfrm>
            <a:off x="4572000" y="2011680"/>
            <a:ext cx="594360" cy="594360"/>
          </a:xfrm>
          <a:prstGeom prst="ellipse">
            <a:avLst/>
          </a:prstGeom>
          <a:solidFill>
            <a:srgbClr val="E2FBF6"/>
          </a:solidFill>
          <a:ln/>
        </p:spPr>
        <p:txBody>
          <a:bodyPr/>
          <a:lstStyle/>
          <a:p>
            <a:endParaRPr lang="en-US"/>
          </a:p>
        </p:txBody>
      </p:sp>
      <p:pic>
        <p:nvPicPr>
          <p:cNvPr id="14" name="Image 2" descr="preencoded.png"/>
          <p:cNvPicPr>
            <a:picLocks noChangeAspect="1"/>
          </p:cNvPicPr>
          <p:nvPr/>
        </p:nvPicPr>
        <p:blipFill>
          <a:blip r:embed="rId5"/>
          <a:stretch>
            <a:fillRect/>
          </a:stretch>
        </p:blipFill>
        <p:spPr>
          <a:xfrm>
            <a:off x="4726534" y="2166214"/>
            <a:ext cx="285293" cy="285293"/>
          </a:xfrm>
          <a:prstGeom prst="rect">
            <a:avLst/>
          </a:prstGeom>
        </p:spPr>
      </p:pic>
      <p:sp>
        <p:nvSpPr>
          <p:cNvPr id="15" name="Text 10"/>
          <p:cNvSpPr/>
          <p:nvPr/>
        </p:nvSpPr>
        <p:spPr>
          <a:xfrm>
            <a:off x="5303520" y="2039112"/>
            <a:ext cx="2514600" cy="548640"/>
          </a:xfrm>
          <a:prstGeom prst="rect">
            <a:avLst/>
          </a:prstGeom>
          <a:noFill/>
          <a:ln/>
        </p:spPr>
        <p:txBody>
          <a:bodyPr wrap="square" lIns="0" tIns="0" rIns="0" bIns="0" rtlCol="0" anchor="ctr"/>
          <a:lstStyle/>
          <a:p>
            <a:pPr marL="0" indent="0">
              <a:buNone/>
            </a:pPr>
            <a:r>
              <a:rPr lang="en-US" sz="1550" b="1" dirty="0">
                <a:solidFill>
                  <a:srgbClr val="1B1F3B"/>
                </a:solidFill>
                <a:latin typeface="Calibri" pitchFamily="34" charset="0"/>
                <a:ea typeface="Calibri" pitchFamily="34" charset="-122"/>
                <a:cs typeface="Calibri" pitchFamily="34" charset="-120"/>
              </a:rPr>
              <a:t>Generative AI</a:t>
            </a:r>
            <a:endParaRPr lang="en-US" sz="1550" dirty="0"/>
          </a:p>
        </p:txBody>
      </p:sp>
      <p:sp>
        <p:nvSpPr>
          <p:cNvPr id="16" name="Text 11"/>
          <p:cNvSpPr/>
          <p:nvPr/>
        </p:nvSpPr>
        <p:spPr>
          <a:xfrm>
            <a:off x="4599432" y="2743200"/>
            <a:ext cx="3099816" cy="365760"/>
          </a:xfrm>
          <a:prstGeom prst="rect">
            <a:avLst/>
          </a:prstGeom>
          <a:noFill/>
          <a:ln/>
        </p:spPr>
        <p:txBody>
          <a:bodyPr wrap="square" lIns="0" tIns="0" rIns="0" bIns="0" rtlCol="0" anchor="ctr"/>
          <a:lstStyle/>
          <a:p>
            <a:pPr marL="0" indent="0">
              <a:buNone/>
            </a:pPr>
            <a:r>
              <a:rPr lang="en-US" sz="1200" i="1" dirty="0">
                <a:solidFill>
                  <a:srgbClr val="00C2A8"/>
                </a:solidFill>
                <a:latin typeface="Calibri" pitchFamily="34" charset="0"/>
                <a:ea typeface="Calibri" pitchFamily="34" charset="-122"/>
                <a:cs typeface="Calibri" pitchFamily="34" charset="-120"/>
              </a:rPr>
              <a:t>"Create something new."</a:t>
            </a:r>
            <a:endParaRPr lang="en-US" sz="1200" dirty="0"/>
          </a:p>
        </p:txBody>
      </p:sp>
      <p:sp>
        <p:nvSpPr>
          <p:cNvPr id="17" name="Text 12"/>
          <p:cNvSpPr/>
          <p:nvPr/>
        </p:nvSpPr>
        <p:spPr>
          <a:xfrm>
            <a:off x="4599432" y="3200400"/>
            <a:ext cx="3099816" cy="1600200"/>
          </a:xfrm>
          <a:prstGeom prst="rect">
            <a:avLst/>
          </a:prstGeom>
          <a:noFill/>
          <a:ln/>
        </p:spPr>
        <p:txBody>
          <a:bodyPr wrap="square" rtlCol="0" anchor="t"/>
          <a:lstStyle/>
          <a:p>
            <a:pPr marL="342900" indent="-342900">
              <a:spcAft>
                <a:spcPts val="1200"/>
              </a:spcAft>
              <a:buSzPct val="100000"/>
              <a:buChar char="–"/>
            </a:pPr>
            <a:r>
              <a:rPr lang="en-US" sz="1150" dirty="0">
                <a:solidFill>
                  <a:srgbClr val="1B1F3B"/>
                </a:solidFill>
                <a:latin typeface="Calibri" pitchFamily="34" charset="0"/>
                <a:ea typeface="Calibri" pitchFamily="34" charset="-122"/>
                <a:cs typeface="Calibri" pitchFamily="34" charset="-120"/>
              </a:rPr>
              <a:t>Learns patterns, then generates original content</a:t>
            </a:r>
            <a:endParaRPr lang="en-US" sz="1150" dirty="0"/>
          </a:p>
          <a:p>
            <a:pPr marL="342900" indent="-342900">
              <a:spcAft>
                <a:spcPts val="1200"/>
              </a:spcAft>
              <a:buSzPct val="100000"/>
              <a:buChar char="–"/>
            </a:pPr>
            <a:r>
              <a:rPr lang="en-US" sz="1150" dirty="0">
                <a:solidFill>
                  <a:srgbClr val="1B1F3B"/>
                </a:solidFill>
                <a:latin typeface="Calibri" pitchFamily="34" charset="0"/>
                <a:ea typeface="Calibri" pitchFamily="34" charset="-122"/>
                <a:cs typeface="Calibri" pitchFamily="34" charset="-120"/>
              </a:rPr>
              <a:t>Outputs text, images, audio, video, or code</a:t>
            </a:r>
            <a:endParaRPr lang="en-US" sz="1150" dirty="0"/>
          </a:p>
          <a:p>
            <a:pPr marL="342900" indent="-342900">
              <a:spcAft>
                <a:spcPts val="1200"/>
              </a:spcAft>
              <a:buSzPct val="100000"/>
              <a:buChar char="–"/>
            </a:pPr>
            <a:r>
              <a:rPr lang="en-US" sz="1150" dirty="0">
                <a:solidFill>
                  <a:srgbClr val="1B1F3B"/>
                </a:solidFill>
                <a:latin typeface="Calibri" pitchFamily="34" charset="0"/>
                <a:ea typeface="Calibri" pitchFamily="34" charset="-122"/>
                <a:cs typeface="Calibri" pitchFamily="34" charset="-120"/>
              </a:rPr>
              <a:t>e.g. ChatGPT, Midjourney, GitHub Copilot</a:t>
            </a:r>
            <a:endParaRPr lang="en-US" sz="1150" dirty="0"/>
          </a:p>
        </p:txBody>
      </p:sp>
      <p:sp>
        <p:nvSpPr>
          <p:cNvPr id="18" name="Shape 13"/>
          <p:cNvSpPr/>
          <p:nvPr/>
        </p:nvSpPr>
        <p:spPr>
          <a:xfrm>
            <a:off x="8138160" y="1783080"/>
            <a:ext cx="3611880" cy="3246120"/>
          </a:xfrm>
          <a:prstGeom prst="roundRect">
            <a:avLst>
              <a:gd name="adj" fmla="val 2817"/>
            </a:avLst>
          </a:prstGeom>
          <a:solidFill>
            <a:srgbClr val="FFFFFF"/>
          </a:solidFill>
          <a:ln/>
          <a:effectLst>
            <a:outerShdw blurRad="127000" dist="38100" dir="5400000" algn="bl" rotWithShape="0">
              <a:srgbClr val="1B1F3B">
                <a:alpha val="8000"/>
              </a:srgbClr>
            </a:outerShdw>
          </a:effectLst>
        </p:spPr>
        <p:txBody>
          <a:bodyPr/>
          <a:lstStyle/>
          <a:p>
            <a:endParaRPr lang="en-US"/>
          </a:p>
        </p:txBody>
      </p:sp>
      <p:sp>
        <p:nvSpPr>
          <p:cNvPr id="19" name="Shape 14"/>
          <p:cNvSpPr/>
          <p:nvPr/>
        </p:nvSpPr>
        <p:spPr>
          <a:xfrm>
            <a:off x="8366760" y="2011680"/>
            <a:ext cx="594360" cy="594360"/>
          </a:xfrm>
          <a:prstGeom prst="ellipse">
            <a:avLst/>
          </a:prstGeom>
          <a:solidFill>
            <a:srgbClr val="EDEBFF"/>
          </a:solidFill>
          <a:ln/>
        </p:spPr>
        <p:txBody>
          <a:bodyPr/>
          <a:lstStyle/>
          <a:p>
            <a:endParaRPr lang="en-US"/>
          </a:p>
        </p:txBody>
      </p:sp>
      <p:pic>
        <p:nvPicPr>
          <p:cNvPr id="20" name="Image 3" descr="preencoded.png"/>
          <p:cNvPicPr>
            <a:picLocks noChangeAspect="1"/>
          </p:cNvPicPr>
          <p:nvPr/>
        </p:nvPicPr>
        <p:blipFill>
          <a:blip r:embed="rId6"/>
          <a:stretch>
            <a:fillRect/>
          </a:stretch>
        </p:blipFill>
        <p:spPr>
          <a:xfrm>
            <a:off x="8521294" y="2166214"/>
            <a:ext cx="285293" cy="285293"/>
          </a:xfrm>
          <a:prstGeom prst="rect">
            <a:avLst/>
          </a:prstGeom>
        </p:spPr>
      </p:pic>
      <p:sp>
        <p:nvSpPr>
          <p:cNvPr id="21" name="Text 15"/>
          <p:cNvSpPr/>
          <p:nvPr/>
        </p:nvSpPr>
        <p:spPr>
          <a:xfrm>
            <a:off x="9098280" y="2039112"/>
            <a:ext cx="2514600" cy="548640"/>
          </a:xfrm>
          <a:prstGeom prst="rect">
            <a:avLst/>
          </a:prstGeom>
          <a:noFill/>
          <a:ln/>
        </p:spPr>
        <p:txBody>
          <a:bodyPr wrap="square" lIns="0" tIns="0" rIns="0" bIns="0" rtlCol="0" anchor="ctr"/>
          <a:lstStyle/>
          <a:p>
            <a:pPr marL="0" indent="0">
              <a:buNone/>
            </a:pPr>
            <a:r>
              <a:rPr lang="en-US" sz="1550" b="1" dirty="0">
                <a:solidFill>
                  <a:srgbClr val="1B1F3B"/>
                </a:solidFill>
                <a:latin typeface="Calibri" pitchFamily="34" charset="0"/>
                <a:ea typeface="Calibri" pitchFamily="34" charset="-122"/>
                <a:cs typeface="Calibri" pitchFamily="34" charset="-120"/>
              </a:rPr>
              <a:t>Agentic AI</a:t>
            </a:r>
            <a:endParaRPr lang="en-US" sz="1550" dirty="0"/>
          </a:p>
        </p:txBody>
      </p:sp>
      <p:sp>
        <p:nvSpPr>
          <p:cNvPr id="22" name="Text 16"/>
          <p:cNvSpPr/>
          <p:nvPr/>
        </p:nvSpPr>
        <p:spPr>
          <a:xfrm>
            <a:off x="8394192" y="2743200"/>
            <a:ext cx="3099816" cy="365760"/>
          </a:xfrm>
          <a:prstGeom prst="rect">
            <a:avLst/>
          </a:prstGeom>
          <a:noFill/>
          <a:ln/>
        </p:spPr>
        <p:txBody>
          <a:bodyPr wrap="square" lIns="0" tIns="0" rIns="0" bIns="0" rtlCol="0" anchor="ctr"/>
          <a:lstStyle/>
          <a:p>
            <a:pPr marL="0" indent="0">
              <a:buNone/>
            </a:pPr>
            <a:r>
              <a:rPr lang="en-US" sz="1200" i="1" dirty="0">
                <a:solidFill>
                  <a:srgbClr val="00C2A8"/>
                </a:solidFill>
                <a:latin typeface="Calibri" pitchFamily="34" charset="0"/>
                <a:ea typeface="Calibri" pitchFamily="34" charset="-122"/>
                <a:cs typeface="Calibri" pitchFamily="34" charset="-120"/>
              </a:rPr>
              <a:t>"Achieve this goal for me."</a:t>
            </a:r>
            <a:endParaRPr lang="en-US" sz="1200" dirty="0"/>
          </a:p>
        </p:txBody>
      </p:sp>
      <p:sp>
        <p:nvSpPr>
          <p:cNvPr id="23" name="Text 17"/>
          <p:cNvSpPr/>
          <p:nvPr/>
        </p:nvSpPr>
        <p:spPr>
          <a:xfrm>
            <a:off x="8394192" y="3200400"/>
            <a:ext cx="3099816" cy="1600200"/>
          </a:xfrm>
          <a:prstGeom prst="rect">
            <a:avLst/>
          </a:prstGeom>
          <a:noFill/>
          <a:ln/>
        </p:spPr>
        <p:txBody>
          <a:bodyPr wrap="square" rtlCol="0" anchor="t"/>
          <a:lstStyle/>
          <a:p>
            <a:pPr marL="342900" indent="-342900">
              <a:spcAft>
                <a:spcPts val="1200"/>
              </a:spcAft>
              <a:buSzPct val="100000"/>
              <a:buChar char="–"/>
            </a:pPr>
            <a:r>
              <a:rPr lang="en-US" sz="1150" dirty="0">
                <a:solidFill>
                  <a:srgbClr val="1B1F3B"/>
                </a:solidFill>
                <a:latin typeface="Calibri" pitchFamily="34" charset="0"/>
                <a:ea typeface="Calibri" pitchFamily="34" charset="-122"/>
                <a:cs typeface="Calibri" pitchFamily="34" charset="-120"/>
              </a:rPr>
              <a:t>Plans steps, uses tools, takes action</a:t>
            </a:r>
            <a:endParaRPr lang="en-US" sz="1150" dirty="0"/>
          </a:p>
          <a:p>
            <a:pPr marL="342900" indent="-342900">
              <a:spcAft>
                <a:spcPts val="1200"/>
              </a:spcAft>
              <a:buSzPct val="100000"/>
              <a:buChar char="–"/>
            </a:pPr>
            <a:r>
              <a:rPr lang="en-US" sz="1150" dirty="0">
                <a:solidFill>
                  <a:srgbClr val="1B1F3B"/>
                </a:solidFill>
                <a:latin typeface="Calibri" pitchFamily="34" charset="0"/>
                <a:ea typeface="Calibri" pitchFamily="34" charset="-122"/>
                <a:cs typeface="Calibri" pitchFamily="34" charset="-120"/>
              </a:rPr>
              <a:t>Operates with memory and autonomy over multiple steps</a:t>
            </a:r>
            <a:endParaRPr lang="en-US" sz="1150" dirty="0"/>
          </a:p>
          <a:p>
            <a:pPr marL="342900" indent="-342900">
              <a:spcAft>
                <a:spcPts val="1200"/>
              </a:spcAft>
              <a:buSzPct val="100000"/>
              <a:buChar char="–"/>
            </a:pPr>
            <a:r>
              <a:rPr lang="en-US" sz="1150" dirty="0">
                <a:solidFill>
                  <a:srgbClr val="1B1F3B"/>
                </a:solidFill>
                <a:latin typeface="Calibri" pitchFamily="34" charset="0"/>
                <a:ea typeface="Calibri" pitchFamily="34" charset="-122"/>
                <a:cs typeface="Calibri" pitchFamily="34" charset="-120"/>
              </a:rPr>
              <a:t>e.g. AI travel-booking agents, autonomous coding agents</a:t>
            </a:r>
            <a:endParaRPr lang="en-US" sz="1150" dirty="0"/>
          </a:p>
        </p:txBody>
      </p:sp>
      <p:sp>
        <p:nvSpPr>
          <p:cNvPr id="24" name="Text 18"/>
          <p:cNvSpPr/>
          <p:nvPr/>
        </p:nvSpPr>
        <p:spPr>
          <a:xfrm>
            <a:off x="548640" y="5303520"/>
            <a:ext cx="11109960" cy="365760"/>
          </a:xfrm>
          <a:prstGeom prst="rect">
            <a:avLst/>
          </a:prstGeom>
          <a:noFill/>
          <a:ln/>
        </p:spPr>
        <p:txBody>
          <a:bodyPr wrap="square" lIns="0" tIns="0" rIns="0" bIns="0" rtlCol="0" anchor="ctr"/>
          <a:lstStyle/>
          <a:p>
            <a:pPr marL="0" indent="0" algn="ctr">
              <a:buNone/>
            </a:pPr>
            <a:r>
              <a:rPr lang="en-US" sz="1250" i="1" dirty="0">
                <a:solidFill>
                  <a:srgbClr val="6B7280"/>
                </a:solidFill>
                <a:latin typeface="Calibri" pitchFamily="34" charset="0"/>
                <a:ea typeface="Calibri" pitchFamily="34" charset="-122"/>
                <a:cs typeface="Calibri" pitchFamily="34" charset="-120"/>
              </a:rPr>
              <a:t>Predictive AI answers a question. Generative AI creates an artifact. Agentic AI completes a task.</a:t>
            </a:r>
            <a:endParaRPr lang="en-US" sz="1250" dirty="0"/>
          </a:p>
        </p:txBody>
      </p:sp>
      <p:sp>
        <p:nvSpPr>
          <p:cNvPr id="26" name="Text 19"/>
          <p:cNvSpPr/>
          <p:nvPr/>
        </p:nvSpPr>
        <p:spPr>
          <a:xfrm>
            <a:off x="457200" y="6446520"/>
            <a:ext cx="7315200" cy="274320"/>
          </a:xfrm>
          <a:prstGeom prst="rect">
            <a:avLst/>
          </a:prstGeom>
          <a:noFill/>
          <a:ln/>
        </p:spPr>
        <p:txBody>
          <a:bodyPr wrap="square" lIns="0" tIns="0" rIns="0" bIns="0"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SYMBIOSIS  |  Autonomous AI Systems &amp; Agent-Based Computing</a:t>
            </a:r>
            <a:endParaRPr lang="en-US" sz="900" dirty="0"/>
          </a:p>
        </p:txBody>
      </p:sp>
      <p:sp>
        <p:nvSpPr>
          <p:cNvPr id="27" name="Text 20"/>
          <p:cNvSpPr/>
          <p:nvPr/>
        </p:nvSpPr>
        <p:spPr>
          <a:xfrm>
            <a:off x="10085832" y="6446520"/>
            <a:ext cx="164592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Session 1  ·  5/12</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0B9A1E-5BF6-CE6A-5FAF-157A99FF2E04}"/>
            </a:ext>
          </a:extLst>
        </p:cNvPr>
        <p:cNvGrpSpPr/>
        <p:nvPr/>
      </p:nvGrpSpPr>
      <p:grpSpPr>
        <a:xfrm>
          <a:off x="0" y="0"/>
          <a:ext cx="0" cy="0"/>
          <a:chOff x="0" y="0"/>
          <a:chExt cx="0" cy="0"/>
        </a:xfrm>
      </p:grpSpPr>
      <p:sp>
        <p:nvSpPr>
          <p:cNvPr id="40" name="Text 36">
            <a:extLst>
              <a:ext uri="{FF2B5EF4-FFF2-40B4-BE49-F238E27FC236}">
                <a16:creationId xmlns:a16="http://schemas.microsoft.com/office/drawing/2014/main" id="{A01F9B1B-5805-2E23-54AF-970567BE5129}"/>
              </a:ext>
            </a:extLst>
          </p:cNvPr>
          <p:cNvSpPr/>
          <p:nvPr/>
        </p:nvSpPr>
        <p:spPr>
          <a:xfrm>
            <a:off x="457200" y="6446520"/>
            <a:ext cx="7315200" cy="274320"/>
          </a:xfrm>
          <a:prstGeom prst="rect">
            <a:avLst/>
          </a:prstGeom>
          <a:noFill/>
          <a:ln/>
        </p:spPr>
        <p:txBody>
          <a:bodyPr wrap="square" lIns="0" tIns="0" rIns="0" bIns="0"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SYMBIOSIS  |  Autonomous AI Systems &amp; Agent-Based Computing</a:t>
            </a:r>
            <a:endParaRPr lang="en-US" sz="900" dirty="0"/>
          </a:p>
        </p:txBody>
      </p:sp>
      <p:pic>
        <p:nvPicPr>
          <p:cNvPr id="2" name="Picture 1">
            <a:extLst>
              <a:ext uri="{FF2B5EF4-FFF2-40B4-BE49-F238E27FC236}">
                <a16:creationId xmlns:a16="http://schemas.microsoft.com/office/drawing/2014/main" id="{ADAD6681-2591-5CD3-402E-79A5D7BB37D7}"/>
              </a:ext>
            </a:extLst>
          </p:cNvPr>
          <p:cNvPicPr>
            <a:picLocks noChangeAspect="1"/>
          </p:cNvPicPr>
          <p:nvPr/>
        </p:nvPicPr>
        <p:blipFill>
          <a:blip r:embed="rId3"/>
          <a:stretch>
            <a:fillRect/>
          </a:stretch>
        </p:blipFill>
        <p:spPr>
          <a:xfrm>
            <a:off x="0" y="0"/>
            <a:ext cx="12192000" cy="6966856"/>
          </a:xfrm>
          <a:prstGeom prst="rect">
            <a:avLst/>
          </a:prstGeom>
        </p:spPr>
      </p:pic>
    </p:spTree>
    <p:extLst>
      <p:ext uri="{BB962C8B-B14F-4D97-AF65-F5344CB8AC3E}">
        <p14:creationId xmlns:p14="http://schemas.microsoft.com/office/powerpoint/2010/main" val="19049315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F5F6FA"/>
        </a:solidFill>
        <a:effectLst/>
      </p:bgPr>
    </p:bg>
    <p:spTree>
      <p:nvGrpSpPr>
        <p:cNvPr id="1" name=""/>
        <p:cNvGrpSpPr/>
        <p:nvPr/>
      </p:nvGrpSpPr>
      <p:grpSpPr>
        <a:xfrm>
          <a:off x="0" y="0"/>
          <a:ext cx="0" cy="0"/>
          <a:chOff x="0" y="0"/>
          <a:chExt cx="0" cy="0"/>
        </a:xfrm>
      </p:grpSpPr>
      <p:sp>
        <p:nvSpPr>
          <p:cNvPr id="2" name="Shape 0"/>
          <p:cNvSpPr/>
          <p:nvPr/>
        </p:nvSpPr>
        <p:spPr>
          <a:xfrm>
            <a:off x="548640" y="457200"/>
            <a:ext cx="640080" cy="640080"/>
          </a:xfrm>
          <a:prstGeom prst="ellipse">
            <a:avLst/>
          </a:prstGeom>
          <a:solidFill>
            <a:srgbClr val="EDEBFF"/>
          </a:solidFill>
          <a:ln/>
        </p:spPr>
        <p:txBody>
          <a:bodyPr/>
          <a:lstStyle/>
          <a:p>
            <a:endParaRPr lang="en-US"/>
          </a:p>
        </p:txBody>
      </p:sp>
      <p:pic>
        <p:nvPicPr>
          <p:cNvPr id="3" name="Image 0" descr="preencoded.png"/>
          <p:cNvPicPr>
            <a:picLocks noChangeAspect="1"/>
          </p:cNvPicPr>
          <p:nvPr/>
        </p:nvPicPr>
        <p:blipFill>
          <a:blip r:embed="rId3"/>
          <a:stretch>
            <a:fillRect/>
          </a:stretch>
        </p:blipFill>
        <p:spPr>
          <a:xfrm>
            <a:off x="715061" y="623621"/>
            <a:ext cx="307238" cy="307238"/>
          </a:xfrm>
          <a:prstGeom prst="rect">
            <a:avLst/>
          </a:prstGeom>
        </p:spPr>
      </p:pic>
      <p:sp>
        <p:nvSpPr>
          <p:cNvPr id="4" name="Text 1"/>
          <p:cNvSpPr/>
          <p:nvPr/>
        </p:nvSpPr>
        <p:spPr>
          <a:xfrm>
            <a:off x="1371600" y="457200"/>
            <a:ext cx="8229600" cy="274320"/>
          </a:xfrm>
          <a:prstGeom prst="rect">
            <a:avLst/>
          </a:prstGeom>
          <a:noFill/>
          <a:ln/>
        </p:spPr>
        <p:txBody>
          <a:bodyPr wrap="square" lIns="0" tIns="0" rIns="0" bIns="0" rtlCol="0" anchor="ctr"/>
          <a:lstStyle/>
          <a:p>
            <a:pPr marL="0" indent="0">
              <a:buNone/>
            </a:pPr>
            <a:r>
              <a:rPr lang="en-US" sz="1200" b="1" kern="0" spc="200" dirty="0">
                <a:solidFill>
                  <a:srgbClr val="00C2A8"/>
                </a:solidFill>
                <a:latin typeface="Calibri" pitchFamily="34" charset="0"/>
                <a:ea typeface="Calibri" pitchFamily="34" charset="-122"/>
                <a:cs typeface="Calibri" pitchFamily="34" charset="-120"/>
              </a:rPr>
              <a:t>CORE CONCEPTS</a:t>
            </a:r>
            <a:endParaRPr lang="en-US" sz="1200" dirty="0"/>
          </a:p>
        </p:txBody>
      </p:sp>
      <p:sp>
        <p:nvSpPr>
          <p:cNvPr id="5" name="Text 2"/>
          <p:cNvSpPr/>
          <p:nvPr/>
        </p:nvSpPr>
        <p:spPr>
          <a:xfrm>
            <a:off x="1371600" y="713232"/>
            <a:ext cx="10058400" cy="640080"/>
          </a:xfrm>
          <a:prstGeom prst="rect">
            <a:avLst/>
          </a:prstGeom>
          <a:noFill/>
          <a:ln/>
        </p:spPr>
        <p:txBody>
          <a:bodyPr wrap="square" lIns="0" tIns="0" rIns="0" bIns="0" rtlCol="0" anchor="ctr"/>
          <a:lstStyle/>
          <a:p>
            <a:pPr marL="0" indent="0">
              <a:buNone/>
            </a:pPr>
            <a:r>
              <a:rPr lang="en-US" sz="3000" b="1" dirty="0">
                <a:solidFill>
                  <a:srgbClr val="1B1F3B"/>
                </a:solidFill>
                <a:latin typeface="Cambria" pitchFamily="34" charset="0"/>
                <a:ea typeface="Cambria" pitchFamily="34" charset="-122"/>
                <a:cs typeface="Cambria" pitchFamily="34" charset="-120"/>
              </a:rPr>
              <a:t>GenAI &amp; LLM Fundamentals — At a Glance</a:t>
            </a:r>
            <a:endParaRPr lang="en-US" sz="3000" dirty="0"/>
          </a:p>
        </p:txBody>
      </p:sp>
      <p:sp>
        <p:nvSpPr>
          <p:cNvPr id="6" name="Shape 3"/>
          <p:cNvSpPr/>
          <p:nvPr/>
        </p:nvSpPr>
        <p:spPr>
          <a:xfrm>
            <a:off x="548640" y="1783080"/>
            <a:ext cx="5394960" cy="1691640"/>
          </a:xfrm>
          <a:prstGeom prst="roundRect">
            <a:avLst>
              <a:gd name="adj" fmla="val 5405"/>
            </a:avLst>
          </a:prstGeom>
          <a:solidFill>
            <a:srgbClr val="FFFFFF"/>
          </a:solidFill>
          <a:ln/>
          <a:effectLst>
            <a:outerShdw blurRad="101600" dist="25400" dir="5400000" algn="bl" rotWithShape="0">
              <a:srgbClr val="1B1F3B">
                <a:alpha val="8000"/>
              </a:srgbClr>
            </a:outerShdw>
          </a:effectLst>
        </p:spPr>
        <p:txBody>
          <a:bodyPr/>
          <a:lstStyle/>
          <a:p>
            <a:endParaRPr lang="en-US"/>
          </a:p>
        </p:txBody>
      </p:sp>
      <p:sp>
        <p:nvSpPr>
          <p:cNvPr id="7" name="Shape 4"/>
          <p:cNvSpPr/>
          <p:nvPr/>
        </p:nvSpPr>
        <p:spPr>
          <a:xfrm>
            <a:off x="777240" y="2039112"/>
            <a:ext cx="548640" cy="548640"/>
          </a:xfrm>
          <a:prstGeom prst="ellipse">
            <a:avLst/>
          </a:prstGeom>
          <a:solidFill>
            <a:srgbClr val="EDEBFF"/>
          </a:solidFill>
          <a:ln/>
        </p:spPr>
        <p:txBody>
          <a:bodyPr/>
          <a:lstStyle/>
          <a:p>
            <a:endParaRPr lang="en-US"/>
          </a:p>
        </p:txBody>
      </p:sp>
      <p:pic>
        <p:nvPicPr>
          <p:cNvPr id="8" name="Image 1" descr="preencoded.png"/>
          <p:cNvPicPr>
            <a:picLocks noChangeAspect="1"/>
          </p:cNvPicPr>
          <p:nvPr/>
        </p:nvPicPr>
        <p:blipFill>
          <a:blip r:embed="rId4"/>
          <a:stretch>
            <a:fillRect/>
          </a:stretch>
        </p:blipFill>
        <p:spPr>
          <a:xfrm>
            <a:off x="919886" y="2181758"/>
            <a:ext cx="263347" cy="263347"/>
          </a:xfrm>
          <a:prstGeom prst="rect">
            <a:avLst/>
          </a:prstGeom>
        </p:spPr>
      </p:pic>
      <p:sp>
        <p:nvSpPr>
          <p:cNvPr id="9" name="Text 5"/>
          <p:cNvSpPr/>
          <p:nvPr/>
        </p:nvSpPr>
        <p:spPr>
          <a:xfrm>
            <a:off x="1463040" y="2039112"/>
            <a:ext cx="4297680" cy="457200"/>
          </a:xfrm>
          <a:prstGeom prst="rect">
            <a:avLst/>
          </a:prstGeom>
          <a:noFill/>
          <a:ln/>
        </p:spPr>
        <p:txBody>
          <a:bodyPr wrap="square" lIns="0" tIns="0" rIns="0" bIns="0" rtlCol="0" anchor="ctr"/>
          <a:lstStyle/>
          <a:p>
            <a:pPr marL="0" indent="0">
              <a:buNone/>
            </a:pPr>
            <a:r>
              <a:rPr lang="en-US" sz="1400" b="1" dirty="0">
                <a:solidFill>
                  <a:srgbClr val="1B1F3B"/>
                </a:solidFill>
                <a:latin typeface="Calibri" pitchFamily="34" charset="0"/>
                <a:ea typeface="Calibri" pitchFamily="34" charset="-122"/>
                <a:cs typeface="Calibri" pitchFamily="34" charset="-120"/>
              </a:rPr>
              <a:t>Generative AI (GenAI)</a:t>
            </a:r>
            <a:endParaRPr lang="en-US" sz="1400" dirty="0"/>
          </a:p>
        </p:txBody>
      </p:sp>
      <p:sp>
        <p:nvSpPr>
          <p:cNvPr id="10" name="Text 6"/>
          <p:cNvSpPr/>
          <p:nvPr/>
        </p:nvSpPr>
        <p:spPr>
          <a:xfrm>
            <a:off x="804672" y="2651760"/>
            <a:ext cx="4882896" cy="685800"/>
          </a:xfrm>
          <a:prstGeom prst="rect">
            <a:avLst/>
          </a:prstGeom>
          <a:noFill/>
          <a:ln/>
        </p:spPr>
        <p:txBody>
          <a:bodyPr wrap="square" lIns="0" tIns="0" rIns="0" bIns="0" rtlCol="0" anchor="t"/>
          <a:lstStyle/>
          <a:p>
            <a:pPr marL="0" indent="0">
              <a:buNone/>
            </a:pPr>
            <a:r>
              <a:rPr lang="en-US" sz="1150" dirty="0">
                <a:solidFill>
                  <a:srgbClr val="6B7280"/>
                </a:solidFill>
                <a:latin typeface="Calibri" pitchFamily="34" charset="0"/>
                <a:ea typeface="Calibri" pitchFamily="34" charset="-122"/>
                <a:cs typeface="Calibri" pitchFamily="34" charset="-120"/>
              </a:rPr>
              <a:t>A branch of AI whose models are trained to produce new content — text, images, audio, video, or code — rather than just classify or score data.</a:t>
            </a:r>
            <a:endParaRPr lang="en-US" sz="1150" dirty="0"/>
          </a:p>
        </p:txBody>
      </p:sp>
      <p:sp>
        <p:nvSpPr>
          <p:cNvPr id="11" name="Shape 7"/>
          <p:cNvSpPr/>
          <p:nvPr/>
        </p:nvSpPr>
        <p:spPr>
          <a:xfrm>
            <a:off x="6263640" y="1783080"/>
            <a:ext cx="5394960" cy="1691640"/>
          </a:xfrm>
          <a:prstGeom prst="roundRect">
            <a:avLst>
              <a:gd name="adj" fmla="val 5405"/>
            </a:avLst>
          </a:prstGeom>
          <a:solidFill>
            <a:srgbClr val="FFFFFF"/>
          </a:solidFill>
          <a:ln/>
          <a:effectLst>
            <a:outerShdw blurRad="101600" dist="25400" dir="5400000" algn="bl" rotWithShape="0">
              <a:srgbClr val="1B1F3B">
                <a:alpha val="8000"/>
              </a:srgbClr>
            </a:outerShdw>
          </a:effectLst>
        </p:spPr>
        <p:txBody>
          <a:bodyPr/>
          <a:lstStyle/>
          <a:p>
            <a:endParaRPr lang="en-US"/>
          </a:p>
        </p:txBody>
      </p:sp>
      <p:sp>
        <p:nvSpPr>
          <p:cNvPr id="12" name="Shape 8"/>
          <p:cNvSpPr/>
          <p:nvPr/>
        </p:nvSpPr>
        <p:spPr>
          <a:xfrm>
            <a:off x="6492240" y="2039112"/>
            <a:ext cx="548640" cy="548640"/>
          </a:xfrm>
          <a:prstGeom prst="ellipse">
            <a:avLst/>
          </a:prstGeom>
          <a:solidFill>
            <a:srgbClr val="EDEBFF"/>
          </a:solidFill>
          <a:ln/>
        </p:spPr>
        <p:txBody>
          <a:bodyPr/>
          <a:lstStyle/>
          <a:p>
            <a:endParaRPr lang="en-US"/>
          </a:p>
        </p:txBody>
      </p:sp>
      <p:pic>
        <p:nvPicPr>
          <p:cNvPr id="13" name="Image 2" descr="preencoded.png"/>
          <p:cNvPicPr>
            <a:picLocks noChangeAspect="1"/>
          </p:cNvPicPr>
          <p:nvPr/>
        </p:nvPicPr>
        <p:blipFill>
          <a:blip r:embed="rId3"/>
          <a:stretch>
            <a:fillRect/>
          </a:stretch>
        </p:blipFill>
        <p:spPr>
          <a:xfrm>
            <a:off x="6634886" y="2181758"/>
            <a:ext cx="263347" cy="263347"/>
          </a:xfrm>
          <a:prstGeom prst="rect">
            <a:avLst/>
          </a:prstGeom>
        </p:spPr>
      </p:pic>
      <p:sp>
        <p:nvSpPr>
          <p:cNvPr id="14" name="Text 9"/>
          <p:cNvSpPr/>
          <p:nvPr/>
        </p:nvSpPr>
        <p:spPr>
          <a:xfrm>
            <a:off x="7178040" y="2039112"/>
            <a:ext cx="4297680" cy="457200"/>
          </a:xfrm>
          <a:prstGeom prst="rect">
            <a:avLst/>
          </a:prstGeom>
          <a:noFill/>
          <a:ln/>
        </p:spPr>
        <p:txBody>
          <a:bodyPr wrap="square" lIns="0" tIns="0" rIns="0" bIns="0" rtlCol="0" anchor="ctr"/>
          <a:lstStyle/>
          <a:p>
            <a:pPr marL="0" indent="0">
              <a:buNone/>
            </a:pPr>
            <a:r>
              <a:rPr lang="en-US" sz="1400" b="1" dirty="0">
                <a:solidFill>
                  <a:srgbClr val="1B1F3B"/>
                </a:solidFill>
                <a:latin typeface="Calibri" pitchFamily="34" charset="0"/>
                <a:ea typeface="Calibri" pitchFamily="34" charset="-122"/>
                <a:cs typeface="Calibri" pitchFamily="34" charset="-120"/>
              </a:rPr>
              <a:t>Large Language Model (LLM)</a:t>
            </a:r>
            <a:endParaRPr lang="en-US" sz="1400" dirty="0"/>
          </a:p>
        </p:txBody>
      </p:sp>
      <p:sp>
        <p:nvSpPr>
          <p:cNvPr id="15" name="Text 10"/>
          <p:cNvSpPr/>
          <p:nvPr/>
        </p:nvSpPr>
        <p:spPr>
          <a:xfrm>
            <a:off x="6519672" y="2651760"/>
            <a:ext cx="4882896" cy="685800"/>
          </a:xfrm>
          <a:prstGeom prst="rect">
            <a:avLst/>
          </a:prstGeom>
          <a:noFill/>
          <a:ln/>
        </p:spPr>
        <p:txBody>
          <a:bodyPr wrap="square" lIns="0" tIns="0" rIns="0" bIns="0" rtlCol="0" anchor="t"/>
          <a:lstStyle/>
          <a:p>
            <a:pPr marL="0" indent="0">
              <a:buNone/>
            </a:pPr>
            <a:r>
              <a:rPr lang="en-US" sz="1150" dirty="0">
                <a:solidFill>
                  <a:srgbClr val="6B7280"/>
                </a:solidFill>
                <a:latin typeface="Calibri" pitchFamily="34" charset="0"/>
                <a:ea typeface="Calibri" pitchFamily="34" charset="-122"/>
                <a:cs typeface="Calibri" pitchFamily="34" charset="-120"/>
              </a:rPr>
              <a:t>A GenAI model trained on massive amounts of text to understand and generate human-like language — e.g. GPT, Claude, Gemini, Llama.</a:t>
            </a:r>
            <a:endParaRPr lang="en-US" sz="1150" dirty="0"/>
          </a:p>
        </p:txBody>
      </p:sp>
      <p:sp>
        <p:nvSpPr>
          <p:cNvPr id="16" name="Shape 11"/>
          <p:cNvSpPr/>
          <p:nvPr/>
        </p:nvSpPr>
        <p:spPr>
          <a:xfrm>
            <a:off x="548640" y="3703320"/>
            <a:ext cx="5394960" cy="1691640"/>
          </a:xfrm>
          <a:prstGeom prst="roundRect">
            <a:avLst>
              <a:gd name="adj" fmla="val 5405"/>
            </a:avLst>
          </a:prstGeom>
          <a:solidFill>
            <a:srgbClr val="FFFFFF"/>
          </a:solidFill>
          <a:ln/>
          <a:effectLst>
            <a:outerShdw blurRad="101600" dist="25400" dir="5400000" algn="bl" rotWithShape="0">
              <a:srgbClr val="1B1F3B">
                <a:alpha val="8000"/>
              </a:srgbClr>
            </a:outerShdw>
          </a:effectLst>
        </p:spPr>
        <p:txBody>
          <a:bodyPr/>
          <a:lstStyle/>
          <a:p>
            <a:endParaRPr lang="en-US"/>
          </a:p>
        </p:txBody>
      </p:sp>
      <p:sp>
        <p:nvSpPr>
          <p:cNvPr id="17" name="Shape 12"/>
          <p:cNvSpPr/>
          <p:nvPr/>
        </p:nvSpPr>
        <p:spPr>
          <a:xfrm>
            <a:off x="777240" y="3959352"/>
            <a:ext cx="548640" cy="548640"/>
          </a:xfrm>
          <a:prstGeom prst="ellipse">
            <a:avLst/>
          </a:prstGeom>
          <a:solidFill>
            <a:srgbClr val="EDEBFF"/>
          </a:solidFill>
          <a:ln/>
        </p:spPr>
        <p:txBody>
          <a:bodyPr/>
          <a:lstStyle/>
          <a:p>
            <a:endParaRPr lang="en-US"/>
          </a:p>
        </p:txBody>
      </p:sp>
      <p:pic>
        <p:nvPicPr>
          <p:cNvPr id="18" name="Image 3" descr="preencoded.png"/>
          <p:cNvPicPr>
            <a:picLocks noChangeAspect="1"/>
          </p:cNvPicPr>
          <p:nvPr/>
        </p:nvPicPr>
        <p:blipFill>
          <a:blip r:embed="rId5"/>
          <a:stretch>
            <a:fillRect/>
          </a:stretch>
        </p:blipFill>
        <p:spPr>
          <a:xfrm>
            <a:off x="919886" y="4101998"/>
            <a:ext cx="263347" cy="263347"/>
          </a:xfrm>
          <a:prstGeom prst="rect">
            <a:avLst/>
          </a:prstGeom>
        </p:spPr>
      </p:pic>
      <p:sp>
        <p:nvSpPr>
          <p:cNvPr id="19" name="Text 13"/>
          <p:cNvSpPr/>
          <p:nvPr/>
        </p:nvSpPr>
        <p:spPr>
          <a:xfrm>
            <a:off x="1463040" y="3959352"/>
            <a:ext cx="4297680" cy="457200"/>
          </a:xfrm>
          <a:prstGeom prst="rect">
            <a:avLst/>
          </a:prstGeom>
          <a:noFill/>
          <a:ln/>
        </p:spPr>
        <p:txBody>
          <a:bodyPr wrap="square" lIns="0" tIns="0" rIns="0" bIns="0" rtlCol="0" anchor="ctr"/>
          <a:lstStyle/>
          <a:p>
            <a:pPr marL="0" indent="0">
              <a:buNone/>
            </a:pPr>
            <a:r>
              <a:rPr lang="en-US" sz="1400" b="1" dirty="0">
                <a:solidFill>
                  <a:srgbClr val="1B1F3B"/>
                </a:solidFill>
                <a:latin typeface="Calibri" pitchFamily="34" charset="0"/>
                <a:ea typeface="Calibri" pitchFamily="34" charset="-122"/>
                <a:cs typeface="Calibri" pitchFamily="34" charset="-120"/>
              </a:rPr>
              <a:t>How it works (in one line)</a:t>
            </a:r>
            <a:endParaRPr lang="en-US" sz="1400" dirty="0"/>
          </a:p>
        </p:txBody>
      </p:sp>
      <p:sp>
        <p:nvSpPr>
          <p:cNvPr id="20" name="Text 14"/>
          <p:cNvSpPr/>
          <p:nvPr/>
        </p:nvSpPr>
        <p:spPr>
          <a:xfrm>
            <a:off x="804672" y="4572000"/>
            <a:ext cx="4882896" cy="685800"/>
          </a:xfrm>
          <a:prstGeom prst="rect">
            <a:avLst/>
          </a:prstGeom>
          <a:noFill/>
          <a:ln/>
        </p:spPr>
        <p:txBody>
          <a:bodyPr wrap="square" lIns="0" tIns="0" rIns="0" bIns="0" rtlCol="0" anchor="t"/>
          <a:lstStyle/>
          <a:p>
            <a:pPr marL="0" indent="0">
              <a:buNone/>
            </a:pPr>
            <a:r>
              <a:rPr lang="en-US" sz="1150" dirty="0">
                <a:solidFill>
                  <a:srgbClr val="6B7280"/>
                </a:solidFill>
                <a:latin typeface="Calibri" pitchFamily="34" charset="0"/>
                <a:ea typeface="Calibri" pitchFamily="34" charset="-122"/>
                <a:cs typeface="Calibri" pitchFamily="34" charset="-120"/>
              </a:rPr>
              <a:t>An LLM predicts the next most likely word/token, one at a time, based on everything that came before it in the prompt.</a:t>
            </a:r>
            <a:endParaRPr lang="en-US" sz="1150" dirty="0"/>
          </a:p>
        </p:txBody>
      </p:sp>
      <p:sp>
        <p:nvSpPr>
          <p:cNvPr id="21" name="Shape 15"/>
          <p:cNvSpPr/>
          <p:nvPr/>
        </p:nvSpPr>
        <p:spPr>
          <a:xfrm>
            <a:off x="6263640" y="3703320"/>
            <a:ext cx="5394960" cy="1691640"/>
          </a:xfrm>
          <a:prstGeom prst="roundRect">
            <a:avLst>
              <a:gd name="adj" fmla="val 5405"/>
            </a:avLst>
          </a:prstGeom>
          <a:solidFill>
            <a:srgbClr val="FFFFFF"/>
          </a:solidFill>
          <a:ln/>
          <a:effectLst>
            <a:outerShdw blurRad="101600" dist="25400" dir="5400000" algn="bl" rotWithShape="0">
              <a:srgbClr val="1B1F3B">
                <a:alpha val="8000"/>
              </a:srgbClr>
            </a:outerShdw>
          </a:effectLst>
        </p:spPr>
        <p:txBody>
          <a:bodyPr/>
          <a:lstStyle/>
          <a:p>
            <a:endParaRPr lang="en-US"/>
          </a:p>
        </p:txBody>
      </p:sp>
      <p:sp>
        <p:nvSpPr>
          <p:cNvPr id="22" name="Shape 16"/>
          <p:cNvSpPr/>
          <p:nvPr/>
        </p:nvSpPr>
        <p:spPr>
          <a:xfrm>
            <a:off x="6492240" y="3959352"/>
            <a:ext cx="548640" cy="548640"/>
          </a:xfrm>
          <a:prstGeom prst="ellipse">
            <a:avLst/>
          </a:prstGeom>
          <a:solidFill>
            <a:srgbClr val="EDEBFF"/>
          </a:solidFill>
          <a:ln/>
        </p:spPr>
        <p:txBody>
          <a:bodyPr/>
          <a:lstStyle/>
          <a:p>
            <a:endParaRPr lang="en-US"/>
          </a:p>
        </p:txBody>
      </p:sp>
      <p:pic>
        <p:nvPicPr>
          <p:cNvPr id="23" name="Image 4" descr="preencoded.png"/>
          <p:cNvPicPr>
            <a:picLocks noChangeAspect="1"/>
          </p:cNvPicPr>
          <p:nvPr/>
        </p:nvPicPr>
        <p:blipFill>
          <a:blip r:embed="rId6"/>
          <a:stretch>
            <a:fillRect/>
          </a:stretch>
        </p:blipFill>
        <p:spPr>
          <a:xfrm>
            <a:off x="6634886" y="4101998"/>
            <a:ext cx="263347" cy="263347"/>
          </a:xfrm>
          <a:prstGeom prst="rect">
            <a:avLst/>
          </a:prstGeom>
        </p:spPr>
      </p:pic>
      <p:sp>
        <p:nvSpPr>
          <p:cNvPr id="24" name="Text 17"/>
          <p:cNvSpPr/>
          <p:nvPr/>
        </p:nvSpPr>
        <p:spPr>
          <a:xfrm>
            <a:off x="7178040" y="3959352"/>
            <a:ext cx="4297680" cy="457200"/>
          </a:xfrm>
          <a:prstGeom prst="rect">
            <a:avLst/>
          </a:prstGeom>
          <a:noFill/>
          <a:ln/>
        </p:spPr>
        <p:txBody>
          <a:bodyPr wrap="square" lIns="0" tIns="0" rIns="0" bIns="0" rtlCol="0" anchor="ctr"/>
          <a:lstStyle/>
          <a:p>
            <a:pPr marL="0" indent="0">
              <a:buNone/>
            </a:pPr>
            <a:r>
              <a:rPr lang="en-US" sz="1400" b="1" dirty="0">
                <a:solidFill>
                  <a:srgbClr val="1B1F3B"/>
                </a:solidFill>
                <a:latin typeface="Calibri" pitchFamily="34" charset="0"/>
                <a:ea typeface="Calibri" pitchFamily="34" charset="-122"/>
                <a:cs typeface="Calibri" pitchFamily="34" charset="-120"/>
              </a:rPr>
              <a:t>Why it matters here</a:t>
            </a:r>
            <a:endParaRPr lang="en-US" sz="1400" dirty="0"/>
          </a:p>
        </p:txBody>
      </p:sp>
      <p:sp>
        <p:nvSpPr>
          <p:cNvPr id="25" name="Text 18"/>
          <p:cNvSpPr/>
          <p:nvPr/>
        </p:nvSpPr>
        <p:spPr>
          <a:xfrm>
            <a:off x="6519672" y="4572000"/>
            <a:ext cx="4882896" cy="685800"/>
          </a:xfrm>
          <a:prstGeom prst="rect">
            <a:avLst/>
          </a:prstGeom>
          <a:noFill/>
          <a:ln/>
        </p:spPr>
        <p:txBody>
          <a:bodyPr wrap="square" lIns="0" tIns="0" rIns="0" bIns="0" rtlCol="0" anchor="t"/>
          <a:lstStyle/>
          <a:p>
            <a:pPr marL="0" indent="0">
              <a:buNone/>
            </a:pPr>
            <a:r>
              <a:rPr lang="en-US" sz="1150" dirty="0">
                <a:solidFill>
                  <a:srgbClr val="6B7280"/>
                </a:solidFill>
                <a:latin typeface="Calibri" pitchFamily="34" charset="0"/>
                <a:ea typeface="Calibri" pitchFamily="34" charset="-122"/>
                <a:cs typeface="Calibri" pitchFamily="34" charset="-120"/>
              </a:rPr>
              <a:t>LLMs are the "reasoning engine" inside GenAI apps and, later, inside the autonomous agents this course builds toward.</a:t>
            </a:r>
            <a:endParaRPr lang="en-US" sz="1150" dirty="0"/>
          </a:p>
        </p:txBody>
      </p:sp>
      <p:sp>
        <p:nvSpPr>
          <p:cNvPr id="26" name="Text 19"/>
          <p:cNvSpPr/>
          <p:nvPr/>
        </p:nvSpPr>
        <p:spPr>
          <a:xfrm>
            <a:off x="548640" y="5806440"/>
            <a:ext cx="11109960" cy="365760"/>
          </a:xfrm>
          <a:prstGeom prst="rect">
            <a:avLst/>
          </a:prstGeom>
          <a:noFill/>
          <a:ln/>
        </p:spPr>
        <p:txBody>
          <a:bodyPr wrap="square" lIns="0" tIns="0" rIns="0" bIns="0" rtlCol="0" anchor="ctr"/>
          <a:lstStyle/>
          <a:p>
            <a:pPr marL="0" indent="0" algn="ctr">
              <a:buNone/>
            </a:pPr>
            <a:r>
              <a:rPr lang="en-US" sz="1250" i="1" dirty="0">
                <a:solidFill>
                  <a:srgbClr val="6B7280"/>
                </a:solidFill>
                <a:latin typeface="Calibri" pitchFamily="34" charset="0"/>
                <a:ea typeface="Calibri" pitchFamily="34" charset="-122"/>
                <a:cs typeface="Calibri" pitchFamily="34" charset="-120"/>
              </a:rPr>
              <a:t>Full technical depth on tokens, transformers, and context windows is coming next session.</a:t>
            </a:r>
            <a:endParaRPr lang="en-US" sz="1250" dirty="0"/>
          </a:p>
        </p:txBody>
      </p:sp>
      <p:sp>
        <p:nvSpPr>
          <p:cNvPr id="28" name="Text 20"/>
          <p:cNvSpPr/>
          <p:nvPr/>
        </p:nvSpPr>
        <p:spPr>
          <a:xfrm>
            <a:off x="457200" y="6446520"/>
            <a:ext cx="7315200" cy="274320"/>
          </a:xfrm>
          <a:prstGeom prst="rect">
            <a:avLst/>
          </a:prstGeom>
          <a:noFill/>
          <a:ln/>
        </p:spPr>
        <p:txBody>
          <a:bodyPr wrap="square" lIns="0" tIns="0" rIns="0" bIns="0"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SYMBIOSIS  |  Autonomous AI Systems &amp; Agent-Based Computing</a:t>
            </a:r>
            <a:endParaRPr lang="en-US" sz="900" dirty="0"/>
          </a:p>
        </p:txBody>
      </p:sp>
      <p:sp>
        <p:nvSpPr>
          <p:cNvPr id="29" name="Text 21"/>
          <p:cNvSpPr/>
          <p:nvPr/>
        </p:nvSpPr>
        <p:spPr>
          <a:xfrm>
            <a:off x="10085832" y="6446520"/>
            <a:ext cx="164592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Session 1  ·  6/12</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1B1F3B"/>
        </a:solidFill>
        <a:effectLst/>
      </p:bgPr>
    </p:bg>
    <p:spTree>
      <p:nvGrpSpPr>
        <p:cNvPr id="1" name=""/>
        <p:cNvGrpSpPr/>
        <p:nvPr/>
      </p:nvGrpSpPr>
      <p:grpSpPr>
        <a:xfrm>
          <a:off x="0" y="0"/>
          <a:ext cx="0" cy="0"/>
          <a:chOff x="0" y="0"/>
          <a:chExt cx="0" cy="0"/>
        </a:xfrm>
      </p:grpSpPr>
      <p:sp>
        <p:nvSpPr>
          <p:cNvPr id="2" name="Shape 0"/>
          <p:cNvSpPr/>
          <p:nvPr/>
        </p:nvSpPr>
        <p:spPr>
          <a:xfrm>
            <a:off x="548640" y="457200"/>
            <a:ext cx="640080" cy="640080"/>
          </a:xfrm>
          <a:prstGeom prst="ellipse">
            <a:avLst/>
          </a:prstGeom>
          <a:solidFill>
            <a:srgbClr val="2B2F55"/>
          </a:solidFill>
          <a:ln/>
        </p:spPr>
        <p:txBody>
          <a:bodyPr/>
          <a:lstStyle/>
          <a:p>
            <a:endParaRPr lang="en-US"/>
          </a:p>
        </p:txBody>
      </p:sp>
      <p:pic>
        <p:nvPicPr>
          <p:cNvPr id="3" name="Image 0" descr="preencoded.png"/>
          <p:cNvPicPr>
            <a:picLocks noChangeAspect="1"/>
          </p:cNvPicPr>
          <p:nvPr/>
        </p:nvPicPr>
        <p:blipFill>
          <a:blip r:embed="rId3"/>
          <a:stretch>
            <a:fillRect/>
          </a:stretch>
        </p:blipFill>
        <p:spPr>
          <a:xfrm>
            <a:off x="715061" y="623621"/>
            <a:ext cx="307238" cy="307238"/>
          </a:xfrm>
          <a:prstGeom prst="rect">
            <a:avLst/>
          </a:prstGeom>
        </p:spPr>
      </p:pic>
      <p:sp>
        <p:nvSpPr>
          <p:cNvPr id="4" name="Text 1"/>
          <p:cNvSpPr/>
          <p:nvPr/>
        </p:nvSpPr>
        <p:spPr>
          <a:xfrm>
            <a:off x="1371600" y="457200"/>
            <a:ext cx="8229600" cy="274320"/>
          </a:xfrm>
          <a:prstGeom prst="rect">
            <a:avLst/>
          </a:prstGeom>
          <a:noFill/>
          <a:ln/>
        </p:spPr>
        <p:txBody>
          <a:bodyPr wrap="square" lIns="0" tIns="0" rIns="0" bIns="0" rtlCol="0" anchor="ctr"/>
          <a:lstStyle/>
          <a:p>
            <a:pPr marL="0" indent="0">
              <a:buNone/>
            </a:pPr>
            <a:r>
              <a:rPr lang="en-US" sz="1200" b="1" kern="0" spc="200" dirty="0">
                <a:solidFill>
                  <a:srgbClr val="00C2A8"/>
                </a:solidFill>
                <a:latin typeface="Calibri" pitchFamily="34" charset="0"/>
                <a:ea typeface="Calibri" pitchFamily="34" charset="-122"/>
                <a:cs typeface="Calibri" pitchFamily="34" charset="-120"/>
              </a:rPr>
              <a:t>DEEPER LOOK</a:t>
            </a:r>
            <a:endParaRPr lang="en-US" sz="1200" dirty="0"/>
          </a:p>
        </p:txBody>
      </p:sp>
      <p:sp>
        <p:nvSpPr>
          <p:cNvPr id="5" name="Text 2"/>
          <p:cNvSpPr/>
          <p:nvPr/>
        </p:nvSpPr>
        <p:spPr>
          <a:xfrm>
            <a:off x="1371600" y="713232"/>
            <a:ext cx="10058400" cy="64008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What Makes a System "Agentic"?</a:t>
            </a:r>
            <a:endParaRPr lang="en-US" sz="3000" dirty="0"/>
          </a:p>
        </p:txBody>
      </p:sp>
      <p:sp>
        <p:nvSpPr>
          <p:cNvPr id="6" name="Shape 3"/>
          <p:cNvSpPr/>
          <p:nvPr/>
        </p:nvSpPr>
        <p:spPr>
          <a:xfrm>
            <a:off x="548640" y="1965960"/>
            <a:ext cx="2606040" cy="3246120"/>
          </a:xfrm>
          <a:prstGeom prst="roundRect">
            <a:avLst>
              <a:gd name="adj" fmla="val 3509"/>
            </a:avLst>
          </a:prstGeom>
          <a:solidFill>
            <a:srgbClr val="2B2F55"/>
          </a:solidFill>
          <a:ln/>
        </p:spPr>
        <p:txBody>
          <a:bodyPr/>
          <a:lstStyle/>
          <a:p>
            <a:endParaRPr lang="en-US"/>
          </a:p>
        </p:txBody>
      </p:sp>
      <p:sp>
        <p:nvSpPr>
          <p:cNvPr id="7" name="Shape 4"/>
          <p:cNvSpPr/>
          <p:nvPr/>
        </p:nvSpPr>
        <p:spPr>
          <a:xfrm>
            <a:off x="1485900" y="2240280"/>
            <a:ext cx="731520" cy="731520"/>
          </a:xfrm>
          <a:prstGeom prst="ellipse">
            <a:avLst/>
          </a:prstGeom>
          <a:solidFill>
            <a:srgbClr val="343A66"/>
          </a:solidFill>
          <a:ln/>
        </p:spPr>
        <p:txBody>
          <a:bodyPr/>
          <a:lstStyle/>
          <a:p>
            <a:endParaRPr lang="en-US"/>
          </a:p>
        </p:txBody>
      </p:sp>
      <p:pic>
        <p:nvPicPr>
          <p:cNvPr id="8" name="Image 1" descr="preencoded.png"/>
          <p:cNvPicPr>
            <a:picLocks noChangeAspect="1"/>
          </p:cNvPicPr>
          <p:nvPr/>
        </p:nvPicPr>
        <p:blipFill>
          <a:blip r:embed="rId4"/>
          <a:stretch>
            <a:fillRect/>
          </a:stretch>
        </p:blipFill>
        <p:spPr>
          <a:xfrm>
            <a:off x="1676095" y="2430475"/>
            <a:ext cx="351130" cy="351130"/>
          </a:xfrm>
          <a:prstGeom prst="rect">
            <a:avLst/>
          </a:prstGeom>
        </p:spPr>
      </p:pic>
      <p:sp>
        <p:nvSpPr>
          <p:cNvPr id="9" name="Text 5"/>
          <p:cNvSpPr/>
          <p:nvPr/>
        </p:nvSpPr>
        <p:spPr>
          <a:xfrm>
            <a:off x="685800" y="3154680"/>
            <a:ext cx="2331720" cy="457200"/>
          </a:xfrm>
          <a:prstGeom prst="rect">
            <a:avLst/>
          </a:prstGeom>
          <a:noFill/>
          <a:ln/>
        </p:spPr>
        <p:txBody>
          <a:bodyPr wrap="square" lIns="0" tIns="0" rIns="0" bIns="0" rtlCol="0" anchor="ctr"/>
          <a:lstStyle/>
          <a:p>
            <a:pPr marL="0" indent="0" algn="ctr">
              <a:buNone/>
            </a:pPr>
            <a:r>
              <a:rPr lang="en-US" sz="1450" b="1" dirty="0">
                <a:solidFill>
                  <a:srgbClr val="FFFFFF"/>
                </a:solidFill>
                <a:latin typeface="Calibri" pitchFamily="34" charset="0"/>
                <a:ea typeface="Calibri" pitchFamily="34" charset="-122"/>
                <a:cs typeface="Calibri" pitchFamily="34" charset="-120"/>
              </a:rPr>
              <a:t>Reasoning</a:t>
            </a:r>
            <a:endParaRPr lang="en-US" sz="1450" dirty="0"/>
          </a:p>
        </p:txBody>
      </p:sp>
      <p:sp>
        <p:nvSpPr>
          <p:cNvPr id="10" name="Text 6"/>
          <p:cNvSpPr/>
          <p:nvPr/>
        </p:nvSpPr>
        <p:spPr>
          <a:xfrm>
            <a:off x="731520" y="3657600"/>
            <a:ext cx="2240280" cy="1417320"/>
          </a:xfrm>
          <a:prstGeom prst="rect">
            <a:avLst/>
          </a:prstGeom>
          <a:noFill/>
          <a:ln/>
        </p:spPr>
        <p:txBody>
          <a:bodyPr wrap="square" lIns="0" tIns="0" rIns="0" bIns="0" rtlCol="0" anchor="t"/>
          <a:lstStyle/>
          <a:p>
            <a:pPr marL="0" indent="0" algn="ctr">
              <a:buNone/>
            </a:pPr>
            <a:r>
              <a:rPr lang="en-US" sz="1050" dirty="0">
                <a:solidFill>
                  <a:srgbClr val="C9CCE8"/>
                </a:solidFill>
                <a:latin typeface="Calibri" pitchFamily="34" charset="0"/>
                <a:ea typeface="Calibri" pitchFamily="34" charset="-122"/>
                <a:cs typeface="Calibri" pitchFamily="34" charset="-120"/>
              </a:rPr>
              <a:t>Breaks down a goal and thinks through how to approach it.</a:t>
            </a:r>
            <a:endParaRPr lang="en-US" sz="1050" dirty="0"/>
          </a:p>
        </p:txBody>
      </p:sp>
      <p:sp>
        <p:nvSpPr>
          <p:cNvPr id="11" name="Shape 7"/>
          <p:cNvSpPr/>
          <p:nvPr/>
        </p:nvSpPr>
        <p:spPr>
          <a:xfrm>
            <a:off x="3383280" y="1965960"/>
            <a:ext cx="2606040" cy="3246120"/>
          </a:xfrm>
          <a:prstGeom prst="roundRect">
            <a:avLst>
              <a:gd name="adj" fmla="val 3509"/>
            </a:avLst>
          </a:prstGeom>
          <a:solidFill>
            <a:srgbClr val="2B2F55"/>
          </a:solidFill>
          <a:ln/>
        </p:spPr>
        <p:txBody>
          <a:bodyPr/>
          <a:lstStyle/>
          <a:p>
            <a:endParaRPr lang="en-US"/>
          </a:p>
        </p:txBody>
      </p:sp>
      <p:sp>
        <p:nvSpPr>
          <p:cNvPr id="12" name="Shape 8"/>
          <p:cNvSpPr/>
          <p:nvPr/>
        </p:nvSpPr>
        <p:spPr>
          <a:xfrm>
            <a:off x="4320540" y="2240280"/>
            <a:ext cx="731520" cy="731520"/>
          </a:xfrm>
          <a:prstGeom prst="ellipse">
            <a:avLst/>
          </a:prstGeom>
          <a:solidFill>
            <a:srgbClr val="343A66"/>
          </a:solidFill>
          <a:ln/>
        </p:spPr>
        <p:txBody>
          <a:bodyPr/>
          <a:lstStyle/>
          <a:p>
            <a:endParaRPr lang="en-US"/>
          </a:p>
        </p:txBody>
      </p:sp>
      <p:pic>
        <p:nvPicPr>
          <p:cNvPr id="13" name="Image 2" descr="preencoded.png"/>
          <p:cNvPicPr>
            <a:picLocks noChangeAspect="1"/>
          </p:cNvPicPr>
          <p:nvPr/>
        </p:nvPicPr>
        <p:blipFill>
          <a:blip r:embed="rId5"/>
          <a:stretch>
            <a:fillRect/>
          </a:stretch>
        </p:blipFill>
        <p:spPr>
          <a:xfrm>
            <a:off x="4510735" y="2430475"/>
            <a:ext cx="351130" cy="351130"/>
          </a:xfrm>
          <a:prstGeom prst="rect">
            <a:avLst/>
          </a:prstGeom>
        </p:spPr>
      </p:pic>
      <p:sp>
        <p:nvSpPr>
          <p:cNvPr id="14" name="Text 9"/>
          <p:cNvSpPr/>
          <p:nvPr/>
        </p:nvSpPr>
        <p:spPr>
          <a:xfrm>
            <a:off x="3520440" y="3154680"/>
            <a:ext cx="2331720" cy="457200"/>
          </a:xfrm>
          <a:prstGeom prst="rect">
            <a:avLst/>
          </a:prstGeom>
          <a:noFill/>
          <a:ln/>
        </p:spPr>
        <p:txBody>
          <a:bodyPr wrap="square" lIns="0" tIns="0" rIns="0" bIns="0" rtlCol="0" anchor="ctr"/>
          <a:lstStyle/>
          <a:p>
            <a:pPr marL="0" indent="0" algn="ctr">
              <a:buNone/>
            </a:pPr>
            <a:r>
              <a:rPr lang="en-US" sz="1450" b="1" dirty="0">
                <a:solidFill>
                  <a:srgbClr val="FFFFFF"/>
                </a:solidFill>
                <a:latin typeface="Calibri" pitchFamily="34" charset="0"/>
                <a:ea typeface="Calibri" pitchFamily="34" charset="-122"/>
                <a:cs typeface="Calibri" pitchFamily="34" charset="-120"/>
              </a:rPr>
              <a:t>Planning</a:t>
            </a:r>
            <a:endParaRPr lang="en-US" sz="1450" dirty="0"/>
          </a:p>
        </p:txBody>
      </p:sp>
      <p:sp>
        <p:nvSpPr>
          <p:cNvPr id="15" name="Text 10"/>
          <p:cNvSpPr/>
          <p:nvPr/>
        </p:nvSpPr>
        <p:spPr>
          <a:xfrm>
            <a:off x="3566160" y="3657600"/>
            <a:ext cx="2240280" cy="1417320"/>
          </a:xfrm>
          <a:prstGeom prst="rect">
            <a:avLst/>
          </a:prstGeom>
          <a:noFill/>
          <a:ln/>
        </p:spPr>
        <p:txBody>
          <a:bodyPr wrap="square" lIns="0" tIns="0" rIns="0" bIns="0" rtlCol="0" anchor="t"/>
          <a:lstStyle/>
          <a:p>
            <a:pPr marL="0" indent="0" algn="ctr">
              <a:buNone/>
            </a:pPr>
            <a:r>
              <a:rPr lang="en-US" sz="1050" dirty="0">
                <a:solidFill>
                  <a:srgbClr val="C9CCE8"/>
                </a:solidFill>
                <a:latin typeface="Calibri" pitchFamily="34" charset="0"/>
                <a:ea typeface="Calibri" pitchFamily="34" charset="-122"/>
                <a:cs typeface="Calibri" pitchFamily="34" charset="-120"/>
              </a:rPr>
              <a:t>Creates a sequence of steps to reach the goal.</a:t>
            </a:r>
            <a:endParaRPr lang="en-US" sz="1050" dirty="0"/>
          </a:p>
        </p:txBody>
      </p:sp>
      <p:sp>
        <p:nvSpPr>
          <p:cNvPr id="16" name="Shape 11"/>
          <p:cNvSpPr/>
          <p:nvPr/>
        </p:nvSpPr>
        <p:spPr>
          <a:xfrm>
            <a:off x="6217920" y="1965960"/>
            <a:ext cx="2606040" cy="3246120"/>
          </a:xfrm>
          <a:prstGeom prst="roundRect">
            <a:avLst>
              <a:gd name="adj" fmla="val 3509"/>
            </a:avLst>
          </a:prstGeom>
          <a:solidFill>
            <a:srgbClr val="2B2F55"/>
          </a:solidFill>
          <a:ln/>
        </p:spPr>
        <p:txBody>
          <a:bodyPr/>
          <a:lstStyle/>
          <a:p>
            <a:endParaRPr lang="en-US"/>
          </a:p>
        </p:txBody>
      </p:sp>
      <p:sp>
        <p:nvSpPr>
          <p:cNvPr id="17" name="Shape 12"/>
          <p:cNvSpPr/>
          <p:nvPr/>
        </p:nvSpPr>
        <p:spPr>
          <a:xfrm>
            <a:off x="7155180" y="2240280"/>
            <a:ext cx="731520" cy="731520"/>
          </a:xfrm>
          <a:prstGeom prst="ellipse">
            <a:avLst/>
          </a:prstGeom>
          <a:solidFill>
            <a:srgbClr val="343A66"/>
          </a:solidFill>
          <a:ln/>
        </p:spPr>
        <p:txBody>
          <a:bodyPr/>
          <a:lstStyle/>
          <a:p>
            <a:endParaRPr lang="en-US"/>
          </a:p>
        </p:txBody>
      </p:sp>
      <p:pic>
        <p:nvPicPr>
          <p:cNvPr id="18" name="Image 3" descr="preencoded.png"/>
          <p:cNvPicPr>
            <a:picLocks noChangeAspect="1"/>
          </p:cNvPicPr>
          <p:nvPr/>
        </p:nvPicPr>
        <p:blipFill>
          <a:blip r:embed="rId6"/>
          <a:stretch>
            <a:fillRect/>
          </a:stretch>
        </p:blipFill>
        <p:spPr>
          <a:xfrm>
            <a:off x="7345375" y="2430475"/>
            <a:ext cx="351130" cy="351130"/>
          </a:xfrm>
          <a:prstGeom prst="rect">
            <a:avLst/>
          </a:prstGeom>
        </p:spPr>
      </p:pic>
      <p:sp>
        <p:nvSpPr>
          <p:cNvPr id="19" name="Text 13"/>
          <p:cNvSpPr/>
          <p:nvPr/>
        </p:nvSpPr>
        <p:spPr>
          <a:xfrm>
            <a:off x="6355080" y="3154680"/>
            <a:ext cx="2331720" cy="457200"/>
          </a:xfrm>
          <a:prstGeom prst="rect">
            <a:avLst/>
          </a:prstGeom>
          <a:noFill/>
          <a:ln/>
        </p:spPr>
        <p:txBody>
          <a:bodyPr wrap="square" lIns="0" tIns="0" rIns="0" bIns="0" rtlCol="0" anchor="ctr"/>
          <a:lstStyle/>
          <a:p>
            <a:pPr marL="0" indent="0" algn="ctr">
              <a:buNone/>
            </a:pPr>
            <a:r>
              <a:rPr lang="en-US" sz="1450" b="1" dirty="0">
                <a:solidFill>
                  <a:srgbClr val="FFFFFF"/>
                </a:solidFill>
                <a:latin typeface="Calibri" pitchFamily="34" charset="0"/>
                <a:ea typeface="Calibri" pitchFamily="34" charset="-122"/>
                <a:cs typeface="Calibri" pitchFamily="34" charset="-120"/>
              </a:rPr>
              <a:t>Memory</a:t>
            </a:r>
            <a:endParaRPr lang="en-US" sz="1450" dirty="0"/>
          </a:p>
        </p:txBody>
      </p:sp>
      <p:sp>
        <p:nvSpPr>
          <p:cNvPr id="20" name="Text 14"/>
          <p:cNvSpPr/>
          <p:nvPr/>
        </p:nvSpPr>
        <p:spPr>
          <a:xfrm>
            <a:off x="6400800" y="3657600"/>
            <a:ext cx="2240280" cy="1417320"/>
          </a:xfrm>
          <a:prstGeom prst="rect">
            <a:avLst/>
          </a:prstGeom>
          <a:noFill/>
          <a:ln/>
        </p:spPr>
        <p:txBody>
          <a:bodyPr wrap="square" lIns="0" tIns="0" rIns="0" bIns="0" rtlCol="0" anchor="t"/>
          <a:lstStyle/>
          <a:p>
            <a:pPr marL="0" indent="0" algn="ctr">
              <a:buNone/>
            </a:pPr>
            <a:r>
              <a:rPr lang="en-US" sz="1050" dirty="0">
                <a:solidFill>
                  <a:srgbClr val="C9CCE8"/>
                </a:solidFill>
                <a:latin typeface="Calibri" pitchFamily="34" charset="0"/>
                <a:ea typeface="Calibri" pitchFamily="34" charset="-122"/>
                <a:cs typeface="Calibri" pitchFamily="34" charset="-120"/>
              </a:rPr>
              <a:t>Retains context across steps, and sometimes across sessions.</a:t>
            </a:r>
            <a:endParaRPr lang="en-US" sz="1050" dirty="0"/>
          </a:p>
        </p:txBody>
      </p:sp>
      <p:sp>
        <p:nvSpPr>
          <p:cNvPr id="21" name="Shape 15"/>
          <p:cNvSpPr/>
          <p:nvPr/>
        </p:nvSpPr>
        <p:spPr>
          <a:xfrm>
            <a:off x="9052560" y="1965960"/>
            <a:ext cx="2606040" cy="3246120"/>
          </a:xfrm>
          <a:prstGeom prst="roundRect">
            <a:avLst>
              <a:gd name="adj" fmla="val 3509"/>
            </a:avLst>
          </a:prstGeom>
          <a:solidFill>
            <a:srgbClr val="2B2F55"/>
          </a:solidFill>
          <a:ln/>
        </p:spPr>
        <p:txBody>
          <a:bodyPr/>
          <a:lstStyle/>
          <a:p>
            <a:endParaRPr lang="en-US"/>
          </a:p>
        </p:txBody>
      </p:sp>
      <p:sp>
        <p:nvSpPr>
          <p:cNvPr id="22" name="Shape 16"/>
          <p:cNvSpPr/>
          <p:nvPr/>
        </p:nvSpPr>
        <p:spPr>
          <a:xfrm>
            <a:off x="9989820" y="2240280"/>
            <a:ext cx="731520" cy="731520"/>
          </a:xfrm>
          <a:prstGeom prst="ellipse">
            <a:avLst/>
          </a:prstGeom>
          <a:solidFill>
            <a:srgbClr val="343A66"/>
          </a:solidFill>
          <a:ln/>
        </p:spPr>
        <p:txBody>
          <a:bodyPr/>
          <a:lstStyle/>
          <a:p>
            <a:endParaRPr lang="en-US"/>
          </a:p>
        </p:txBody>
      </p:sp>
      <p:pic>
        <p:nvPicPr>
          <p:cNvPr id="23" name="Image 4" descr="preencoded.png"/>
          <p:cNvPicPr>
            <a:picLocks noChangeAspect="1"/>
          </p:cNvPicPr>
          <p:nvPr/>
        </p:nvPicPr>
        <p:blipFill>
          <a:blip r:embed="rId7"/>
          <a:stretch>
            <a:fillRect/>
          </a:stretch>
        </p:blipFill>
        <p:spPr>
          <a:xfrm>
            <a:off x="10180015" y="2430475"/>
            <a:ext cx="351130" cy="351130"/>
          </a:xfrm>
          <a:prstGeom prst="rect">
            <a:avLst/>
          </a:prstGeom>
        </p:spPr>
      </p:pic>
      <p:sp>
        <p:nvSpPr>
          <p:cNvPr id="24" name="Text 17"/>
          <p:cNvSpPr/>
          <p:nvPr/>
        </p:nvSpPr>
        <p:spPr>
          <a:xfrm>
            <a:off x="9189720" y="3154680"/>
            <a:ext cx="2331720" cy="457200"/>
          </a:xfrm>
          <a:prstGeom prst="rect">
            <a:avLst/>
          </a:prstGeom>
          <a:noFill/>
          <a:ln/>
        </p:spPr>
        <p:txBody>
          <a:bodyPr wrap="square" lIns="0" tIns="0" rIns="0" bIns="0" rtlCol="0" anchor="ctr"/>
          <a:lstStyle/>
          <a:p>
            <a:pPr marL="0" indent="0" algn="ctr">
              <a:buNone/>
            </a:pPr>
            <a:r>
              <a:rPr lang="en-US" sz="1450" b="1" dirty="0">
                <a:solidFill>
                  <a:srgbClr val="FFFFFF"/>
                </a:solidFill>
                <a:latin typeface="Calibri" pitchFamily="34" charset="0"/>
                <a:ea typeface="Calibri" pitchFamily="34" charset="-122"/>
                <a:cs typeface="Calibri" pitchFamily="34" charset="-120"/>
              </a:rPr>
              <a:t>Tool Use / Action</a:t>
            </a:r>
            <a:endParaRPr lang="en-US" sz="1450" dirty="0"/>
          </a:p>
        </p:txBody>
      </p:sp>
      <p:sp>
        <p:nvSpPr>
          <p:cNvPr id="25" name="Text 18"/>
          <p:cNvSpPr/>
          <p:nvPr/>
        </p:nvSpPr>
        <p:spPr>
          <a:xfrm>
            <a:off x="9235440" y="3657600"/>
            <a:ext cx="2240280" cy="1417320"/>
          </a:xfrm>
          <a:prstGeom prst="rect">
            <a:avLst/>
          </a:prstGeom>
          <a:noFill/>
          <a:ln/>
        </p:spPr>
        <p:txBody>
          <a:bodyPr wrap="square" lIns="0" tIns="0" rIns="0" bIns="0" rtlCol="0" anchor="t"/>
          <a:lstStyle/>
          <a:p>
            <a:pPr marL="0" indent="0" algn="ctr">
              <a:buNone/>
            </a:pPr>
            <a:r>
              <a:rPr lang="en-US" sz="1050" dirty="0">
                <a:solidFill>
                  <a:srgbClr val="C9CCE8"/>
                </a:solidFill>
                <a:latin typeface="Calibri" pitchFamily="34" charset="0"/>
                <a:ea typeface="Calibri" pitchFamily="34" charset="-122"/>
                <a:cs typeface="Calibri" pitchFamily="34" charset="-120"/>
              </a:rPr>
              <a:t>Calls APIs, functions, or external tools to act in the world.</a:t>
            </a:r>
            <a:endParaRPr lang="en-US" sz="1050" dirty="0"/>
          </a:p>
        </p:txBody>
      </p:sp>
      <p:sp>
        <p:nvSpPr>
          <p:cNvPr id="26" name="Text 19"/>
          <p:cNvSpPr/>
          <p:nvPr/>
        </p:nvSpPr>
        <p:spPr>
          <a:xfrm>
            <a:off x="548640" y="5440680"/>
            <a:ext cx="11109960" cy="457200"/>
          </a:xfrm>
          <a:prstGeom prst="rect">
            <a:avLst/>
          </a:prstGeom>
          <a:noFill/>
          <a:ln/>
        </p:spPr>
        <p:txBody>
          <a:bodyPr wrap="square" lIns="0" tIns="0" rIns="0" bIns="0" rtlCol="0" anchor="ctr"/>
          <a:lstStyle/>
          <a:p>
            <a:pPr marL="0" indent="0" algn="ctr">
              <a:buNone/>
            </a:pPr>
            <a:r>
              <a:rPr lang="en-US" sz="1300" i="1" dirty="0">
                <a:solidFill>
                  <a:srgbClr val="00C2A8"/>
                </a:solidFill>
                <a:latin typeface="Calibri" pitchFamily="34" charset="0"/>
                <a:ea typeface="Calibri" pitchFamily="34" charset="-122"/>
                <a:cs typeface="Calibri" pitchFamily="34" charset="-120"/>
              </a:rPr>
              <a:t>A GenAI model becomes an AGENT the moment it can plan, remember, and act — not just respond once.</a:t>
            </a:r>
            <a:endParaRPr lang="en-US" sz="1300" dirty="0"/>
          </a:p>
        </p:txBody>
      </p:sp>
      <p:sp>
        <p:nvSpPr>
          <p:cNvPr id="28" name="Text 20"/>
          <p:cNvSpPr/>
          <p:nvPr/>
        </p:nvSpPr>
        <p:spPr>
          <a:xfrm>
            <a:off x="457200" y="6446520"/>
            <a:ext cx="7315200" cy="274320"/>
          </a:xfrm>
          <a:prstGeom prst="rect">
            <a:avLst/>
          </a:prstGeom>
          <a:noFill/>
          <a:ln/>
        </p:spPr>
        <p:txBody>
          <a:bodyPr wrap="square" lIns="0" tIns="0" rIns="0" bIns="0" rtlCol="0" anchor="ctr"/>
          <a:lstStyle/>
          <a:p>
            <a:pPr marL="0" indent="0" algn="l">
              <a:buNone/>
            </a:pPr>
            <a:r>
              <a:rPr lang="en-US" sz="900" dirty="0">
                <a:solidFill>
                  <a:srgbClr val="9AA0C3"/>
                </a:solidFill>
                <a:latin typeface="Calibri" pitchFamily="34" charset="0"/>
                <a:ea typeface="Calibri" pitchFamily="34" charset="-122"/>
                <a:cs typeface="Calibri" pitchFamily="34" charset="-120"/>
              </a:rPr>
              <a:t>SYMBIOSIS  |  Autonomous AI Systems &amp; Agent-Based Computing</a:t>
            </a:r>
            <a:endParaRPr lang="en-US" sz="900" dirty="0"/>
          </a:p>
        </p:txBody>
      </p:sp>
      <p:sp>
        <p:nvSpPr>
          <p:cNvPr id="29" name="Text 21"/>
          <p:cNvSpPr/>
          <p:nvPr/>
        </p:nvSpPr>
        <p:spPr>
          <a:xfrm>
            <a:off x="10085832" y="6446520"/>
            <a:ext cx="1645920" cy="274320"/>
          </a:xfrm>
          <a:prstGeom prst="rect">
            <a:avLst/>
          </a:prstGeom>
          <a:noFill/>
          <a:ln/>
        </p:spPr>
        <p:txBody>
          <a:bodyPr wrap="square" lIns="0" tIns="0" rIns="0" bIns="0" rtlCol="0" anchor="ctr"/>
          <a:lstStyle/>
          <a:p>
            <a:pPr marL="0" indent="0" algn="r">
              <a:buNone/>
            </a:pPr>
            <a:r>
              <a:rPr lang="en-US" sz="900" dirty="0">
                <a:solidFill>
                  <a:srgbClr val="9AA0C3"/>
                </a:solidFill>
                <a:latin typeface="Calibri" pitchFamily="34" charset="0"/>
                <a:ea typeface="Calibri" pitchFamily="34" charset="-122"/>
                <a:cs typeface="Calibri" pitchFamily="34" charset="-120"/>
              </a:rPr>
              <a:t>Session 1  ·  7/12</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F5F6FA"/>
        </a:solidFill>
        <a:effectLst/>
      </p:bgPr>
    </p:bg>
    <p:spTree>
      <p:nvGrpSpPr>
        <p:cNvPr id="1" name=""/>
        <p:cNvGrpSpPr/>
        <p:nvPr/>
      </p:nvGrpSpPr>
      <p:grpSpPr>
        <a:xfrm>
          <a:off x="0" y="0"/>
          <a:ext cx="0" cy="0"/>
          <a:chOff x="0" y="0"/>
          <a:chExt cx="0" cy="0"/>
        </a:xfrm>
      </p:grpSpPr>
      <p:sp>
        <p:nvSpPr>
          <p:cNvPr id="2" name="Shape 0"/>
          <p:cNvSpPr/>
          <p:nvPr/>
        </p:nvSpPr>
        <p:spPr>
          <a:xfrm>
            <a:off x="548640" y="457200"/>
            <a:ext cx="640080" cy="640080"/>
          </a:xfrm>
          <a:prstGeom prst="ellipse">
            <a:avLst/>
          </a:prstGeom>
          <a:solidFill>
            <a:srgbClr val="EDEBFF"/>
          </a:solidFill>
          <a:ln/>
        </p:spPr>
        <p:txBody>
          <a:bodyPr/>
          <a:lstStyle/>
          <a:p>
            <a:endParaRPr lang="en-US"/>
          </a:p>
        </p:txBody>
      </p:sp>
      <p:pic>
        <p:nvPicPr>
          <p:cNvPr id="3" name="Image 0" descr="preencoded.png"/>
          <p:cNvPicPr>
            <a:picLocks noChangeAspect="1"/>
          </p:cNvPicPr>
          <p:nvPr/>
        </p:nvPicPr>
        <p:blipFill>
          <a:blip r:embed="rId3"/>
          <a:stretch>
            <a:fillRect/>
          </a:stretch>
        </p:blipFill>
        <p:spPr>
          <a:xfrm>
            <a:off x="715061" y="623621"/>
            <a:ext cx="307238" cy="307238"/>
          </a:xfrm>
          <a:prstGeom prst="rect">
            <a:avLst/>
          </a:prstGeom>
        </p:spPr>
      </p:pic>
      <p:sp>
        <p:nvSpPr>
          <p:cNvPr id="4" name="Text 1"/>
          <p:cNvSpPr/>
          <p:nvPr/>
        </p:nvSpPr>
        <p:spPr>
          <a:xfrm>
            <a:off x="1371600" y="457200"/>
            <a:ext cx="8229600" cy="274320"/>
          </a:xfrm>
          <a:prstGeom prst="rect">
            <a:avLst/>
          </a:prstGeom>
          <a:noFill/>
          <a:ln/>
        </p:spPr>
        <p:txBody>
          <a:bodyPr wrap="square" lIns="0" tIns="0" rIns="0" bIns="0" rtlCol="0" anchor="ctr"/>
          <a:lstStyle/>
          <a:p>
            <a:pPr marL="0" indent="0">
              <a:buNone/>
            </a:pPr>
            <a:r>
              <a:rPr lang="en-US" sz="1200" b="1" kern="0" spc="200" dirty="0">
                <a:solidFill>
                  <a:srgbClr val="00C2A8"/>
                </a:solidFill>
                <a:latin typeface="Calibri" pitchFamily="34" charset="0"/>
                <a:ea typeface="Calibri" pitchFamily="34" charset="-122"/>
                <a:cs typeface="Calibri" pitchFamily="34" charset="-120"/>
              </a:rPr>
              <a:t>TERMINOLOGY CLINIC</a:t>
            </a:r>
            <a:endParaRPr lang="en-US" sz="1200" dirty="0"/>
          </a:p>
        </p:txBody>
      </p:sp>
      <p:sp>
        <p:nvSpPr>
          <p:cNvPr id="5" name="Text 2"/>
          <p:cNvSpPr/>
          <p:nvPr/>
        </p:nvSpPr>
        <p:spPr>
          <a:xfrm>
            <a:off x="1371600" y="713232"/>
            <a:ext cx="10058400" cy="640080"/>
          </a:xfrm>
          <a:prstGeom prst="rect">
            <a:avLst/>
          </a:prstGeom>
          <a:noFill/>
          <a:ln/>
        </p:spPr>
        <p:txBody>
          <a:bodyPr wrap="square" lIns="0" tIns="0" rIns="0" bIns="0" rtlCol="0" anchor="ctr"/>
          <a:lstStyle/>
          <a:p>
            <a:pPr marL="0" indent="0">
              <a:buNone/>
            </a:pPr>
            <a:r>
              <a:rPr lang="en-US" sz="3000" b="1" dirty="0">
                <a:solidFill>
                  <a:srgbClr val="1B1F3B"/>
                </a:solidFill>
                <a:latin typeface="Cambria" pitchFamily="34" charset="0"/>
                <a:ea typeface="Cambria" pitchFamily="34" charset="-122"/>
                <a:cs typeface="Cambria" pitchFamily="34" charset="-120"/>
              </a:rPr>
              <a:t>Chatbot vs Copilot vs Assistant vs Agent</a:t>
            </a:r>
            <a:endParaRPr lang="en-US" sz="3000" dirty="0"/>
          </a:p>
        </p:txBody>
      </p:sp>
      <p:sp>
        <p:nvSpPr>
          <p:cNvPr id="6" name="Shape 3"/>
          <p:cNvSpPr/>
          <p:nvPr/>
        </p:nvSpPr>
        <p:spPr>
          <a:xfrm>
            <a:off x="502920" y="1783080"/>
            <a:ext cx="2697480" cy="3017520"/>
          </a:xfrm>
          <a:prstGeom prst="roundRect">
            <a:avLst>
              <a:gd name="adj" fmla="val 3390"/>
            </a:avLst>
          </a:prstGeom>
          <a:solidFill>
            <a:srgbClr val="FFFFFF"/>
          </a:solidFill>
          <a:ln/>
          <a:effectLst>
            <a:outerShdw blurRad="101600" dist="25400" dir="5400000" algn="bl" rotWithShape="0">
              <a:srgbClr val="1B1F3B">
                <a:alpha val="8000"/>
              </a:srgbClr>
            </a:outerShdw>
          </a:effectLst>
        </p:spPr>
        <p:txBody>
          <a:bodyPr/>
          <a:lstStyle/>
          <a:p>
            <a:endParaRPr lang="en-US"/>
          </a:p>
        </p:txBody>
      </p:sp>
      <p:sp>
        <p:nvSpPr>
          <p:cNvPr id="7" name="Shape 4"/>
          <p:cNvSpPr/>
          <p:nvPr/>
        </p:nvSpPr>
        <p:spPr>
          <a:xfrm>
            <a:off x="1531620" y="2039112"/>
            <a:ext cx="640080" cy="640080"/>
          </a:xfrm>
          <a:prstGeom prst="ellipse">
            <a:avLst/>
          </a:prstGeom>
          <a:solidFill>
            <a:srgbClr val="EDEBFF"/>
          </a:solidFill>
          <a:ln/>
        </p:spPr>
        <p:txBody>
          <a:bodyPr/>
          <a:lstStyle/>
          <a:p>
            <a:endParaRPr lang="en-US"/>
          </a:p>
        </p:txBody>
      </p:sp>
      <p:pic>
        <p:nvPicPr>
          <p:cNvPr id="8" name="Image 1" descr="preencoded.png"/>
          <p:cNvPicPr>
            <a:picLocks noChangeAspect="1"/>
          </p:cNvPicPr>
          <p:nvPr/>
        </p:nvPicPr>
        <p:blipFill>
          <a:blip r:embed="rId3"/>
          <a:stretch>
            <a:fillRect/>
          </a:stretch>
        </p:blipFill>
        <p:spPr>
          <a:xfrm>
            <a:off x="1698041" y="2205533"/>
            <a:ext cx="307238" cy="307238"/>
          </a:xfrm>
          <a:prstGeom prst="rect">
            <a:avLst/>
          </a:prstGeom>
        </p:spPr>
      </p:pic>
      <p:sp>
        <p:nvSpPr>
          <p:cNvPr id="9" name="Text 5"/>
          <p:cNvSpPr/>
          <p:nvPr/>
        </p:nvSpPr>
        <p:spPr>
          <a:xfrm>
            <a:off x="640080" y="2834640"/>
            <a:ext cx="2423160" cy="365760"/>
          </a:xfrm>
          <a:prstGeom prst="rect">
            <a:avLst/>
          </a:prstGeom>
          <a:noFill/>
          <a:ln/>
        </p:spPr>
        <p:txBody>
          <a:bodyPr wrap="square" lIns="0" tIns="0" rIns="0" bIns="0" rtlCol="0" anchor="ctr"/>
          <a:lstStyle/>
          <a:p>
            <a:pPr marL="0" indent="0" algn="ctr">
              <a:buNone/>
            </a:pPr>
            <a:r>
              <a:rPr lang="en-US" sz="1500" b="1" dirty="0">
                <a:solidFill>
                  <a:srgbClr val="1B1F3B"/>
                </a:solidFill>
                <a:latin typeface="Calibri" pitchFamily="34" charset="0"/>
                <a:ea typeface="Calibri" pitchFamily="34" charset="-122"/>
                <a:cs typeface="Calibri" pitchFamily="34" charset="-120"/>
              </a:rPr>
              <a:t>Chatbot</a:t>
            </a:r>
            <a:endParaRPr lang="en-US" sz="1500" dirty="0"/>
          </a:p>
        </p:txBody>
      </p:sp>
      <p:sp>
        <p:nvSpPr>
          <p:cNvPr id="10" name="Text 6"/>
          <p:cNvSpPr/>
          <p:nvPr/>
        </p:nvSpPr>
        <p:spPr>
          <a:xfrm>
            <a:off x="685800" y="3291840"/>
            <a:ext cx="2331720" cy="822960"/>
          </a:xfrm>
          <a:prstGeom prst="rect">
            <a:avLst/>
          </a:prstGeom>
          <a:noFill/>
          <a:ln/>
        </p:spPr>
        <p:txBody>
          <a:bodyPr wrap="square" lIns="0" tIns="0" rIns="0" bIns="0" rtlCol="0" anchor="t"/>
          <a:lstStyle/>
          <a:p>
            <a:pPr marL="0" indent="0" algn="ctr">
              <a:buNone/>
            </a:pPr>
            <a:r>
              <a:rPr lang="en-US" sz="1050" dirty="0">
                <a:solidFill>
                  <a:srgbClr val="1B1F3B"/>
                </a:solidFill>
                <a:latin typeface="Calibri" pitchFamily="34" charset="0"/>
                <a:ea typeface="Calibri" pitchFamily="34" charset="-122"/>
                <a:cs typeface="Calibri" pitchFamily="34" charset="-120"/>
              </a:rPr>
              <a:t>Answers questions / holds a conversation.</a:t>
            </a:r>
            <a:endParaRPr lang="en-US" sz="1050" dirty="0"/>
          </a:p>
        </p:txBody>
      </p:sp>
      <p:sp>
        <p:nvSpPr>
          <p:cNvPr id="11" name="Text 7"/>
          <p:cNvSpPr/>
          <p:nvPr/>
        </p:nvSpPr>
        <p:spPr>
          <a:xfrm>
            <a:off x="685800" y="4114800"/>
            <a:ext cx="2331720" cy="594360"/>
          </a:xfrm>
          <a:prstGeom prst="rect">
            <a:avLst/>
          </a:prstGeom>
          <a:noFill/>
          <a:ln/>
        </p:spPr>
        <p:txBody>
          <a:bodyPr wrap="square" lIns="0" tIns="0" rIns="0" bIns="0" rtlCol="0" anchor="t"/>
          <a:lstStyle/>
          <a:p>
            <a:pPr marL="0" indent="0" algn="ctr">
              <a:buNone/>
            </a:pPr>
            <a:r>
              <a:rPr lang="en-US" sz="1000" i="1" dirty="0">
                <a:solidFill>
                  <a:srgbClr val="6B7280"/>
                </a:solidFill>
                <a:latin typeface="Calibri" pitchFamily="34" charset="0"/>
                <a:ea typeface="Calibri" pitchFamily="34" charset="-122"/>
                <a:cs typeface="Calibri" pitchFamily="34" charset="-120"/>
              </a:rPr>
              <a:t>Reactive, single-turn focus, no autonomy.</a:t>
            </a:r>
            <a:endParaRPr lang="en-US" sz="1000" dirty="0"/>
          </a:p>
        </p:txBody>
      </p:sp>
      <p:sp>
        <p:nvSpPr>
          <p:cNvPr id="12" name="Shape 8"/>
          <p:cNvSpPr/>
          <p:nvPr/>
        </p:nvSpPr>
        <p:spPr>
          <a:xfrm>
            <a:off x="3337560" y="1783080"/>
            <a:ext cx="2697480" cy="3017520"/>
          </a:xfrm>
          <a:prstGeom prst="roundRect">
            <a:avLst>
              <a:gd name="adj" fmla="val 3390"/>
            </a:avLst>
          </a:prstGeom>
          <a:solidFill>
            <a:srgbClr val="FFFFFF"/>
          </a:solidFill>
          <a:ln/>
          <a:effectLst>
            <a:outerShdw blurRad="101600" dist="25400" dir="5400000" algn="bl" rotWithShape="0">
              <a:srgbClr val="1B1F3B">
                <a:alpha val="8000"/>
              </a:srgbClr>
            </a:outerShdw>
          </a:effectLst>
        </p:spPr>
        <p:txBody>
          <a:bodyPr/>
          <a:lstStyle/>
          <a:p>
            <a:endParaRPr lang="en-US"/>
          </a:p>
        </p:txBody>
      </p:sp>
      <p:sp>
        <p:nvSpPr>
          <p:cNvPr id="13" name="Shape 9"/>
          <p:cNvSpPr/>
          <p:nvPr/>
        </p:nvSpPr>
        <p:spPr>
          <a:xfrm>
            <a:off x="4366260" y="2039112"/>
            <a:ext cx="640080" cy="640080"/>
          </a:xfrm>
          <a:prstGeom prst="ellipse">
            <a:avLst/>
          </a:prstGeom>
          <a:solidFill>
            <a:srgbClr val="E2FBF6"/>
          </a:solidFill>
          <a:ln/>
        </p:spPr>
        <p:txBody>
          <a:bodyPr/>
          <a:lstStyle/>
          <a:p>
            <a:endParaRPr lang="en-US"/>
          </a:p>
        </p:txBody>
      </p:sp>
      <p:pic>
        <p:nvPicPr>
          <p:cNvPr id="14" name="Image 2" descr="preencoded.png"/>
          <p:cNvPicPr>
            <a:picLocks noChangeAspect="1"/>
          </p:cNvPicPr>
          <p:nvPr/>
        </p:nvPicPr>
        <p:blipFill>
          <a:blip r:embed="rId4"/>
          <a:stretch>
            <a:fillRect/>
          </a:stretch>
        </p:blipFill>
        <p:spPr>
          <a:xfrm>
            <a:off x="4532681" y="2205533"/>
            <a:ext cx="307238" cy="307238"/>
          </a:xfrm>
          <a:prstGeom prst="rect">
            <a:avLst/>
          </a:prstGeom>
        </p:spPr>
      </p:pic>
      <p:sp>
        <p:nvSpPr>
          <p:cNvPr id="15" name="Text 10"/>
          <p:cNvSpPr/>
          <p:nvPr/>
        </p:nvSpPr>
        <p:spPr>
          <a:xfrm>
            <a:off x="3474720" y="2834640"/>
            <a:ext cx="2423160" cy="365760"/>
          </a:xfrm>
          <a:prstGeom prst="rect">
            <a:avLst/>
          </a:prstGeom>
          <a:noFill/>
          <a:ln/>
        </p:spPr>
        <p:txBody>
          <a:bodyPr wrap="square" lIns="0" tIns="0" rIns="0" bIns="0" rtlCol="0" anchor="ctr"/>
          <a:lstStyle/>
          <a:p>
            <a:pPr marL="0" indent="0" algn="ctr">
              <a:buNone/>
            </a:pPr>
            <a:r>
              <a:rPr lang="en-US" sz="1500" b="1" dirty="0">
                <a:solidFill>
                  <a:srgbClr val="1B1F3B"/>
                </a:solidFill>
                <a:latin typeface="Calibri" pitchFamily="34" charset="0"/>
                <a:ea typeface="Calibri" pitchFamily="34" charset="-122"/>
                <a:cs typeface="Calibri" pitchFamily="34" charset="-120"/>
              </a:rPr>
              <a:t>Copilot</a:t>
            </a:r>
            <a:endParaRPr lang="en-US" sz="1500" dirty="0"/>
          </a:p>
        </p:txBody>
      </p:sp>
      <p:sp>
        <p:nvSpPr>
          <p:cNvPr id="16" name="Text 11"/>
          <p:cNvSpPr/>
          <p:nvPr/>
        </p:nvSpPr>
        <p:spPr>
          <a:xfrm>
            <a:off x="3520440" y="3291840"/>
            <a:ext cx="2331720" cy="822960"/>
          </a:xfrm>
          <a:prstGeom prst="rect">
            <a:avLst/>
          </a:prstGeom>
          <a:noFill/>
          <a:ln/>
        </p:spPr>
        <p:txBody>
          <a:bodyPr wrap="square" lIns="0" tIns="0" rIns="0" bIns="0" rtlCol="0" anchor="t"/>
          <a:lstStyle/>
          <a:p>
            <a:pPr marL="0" indent="0" algn="ctr">
              <a:buNone/>
            </a:pPr>
            <a:r>
              <a:rPr lang="en-US" sz="1050" dirty="0">
                <a:solidFill>
                  <a:srgbClr val="1B1F3B"/>
                </a:solidFill>
                <a:latin typeface="Calibri" pitchFamily="34" charset="0"/>
                <a:ea typeface="Calibri" pitchFamily="34" charset="-122"/>
                <a:cs typeface="Calibri" pitchFamily="34" charset="-120"/>
              </a:rPr>
              <a:t>Works alongside you inside a specific tool.</a:t>
            </a:r>
            <a:endParaRPr lang="en-US" sz="1050" dirty="0"/>
          </a:p>
        </p:txBody>
      </p:sp>
      <p:sp>
        <p:nvSpPr>
          <p:cNvPr id="17" name="Text 12"/>
          <p:cNvSpPr/>
          <p:nvPr/>
        </p:nvSpPr>
        <p:spPr>
          <a:xfrm>
            <a:off x="3520440" y="4114800"/>
            <a:ext cx="2331720" cy="594360"/>
          </a:xfrm>
          <a:prstGeom prst="rect">
            <a:avLst/>
          </a:prstGeom>
          <a:noFill/>
          <a:ln/>
        </p:spPr>
        <p:txBody>
          <a:bodyPr wrap="square" lIns="0" tIns="0" rIns="0" bIns="0" rtlCol="0" anchor="t"/>
          <a:lstStyle/>
          <a:p>
            <a:pPr marL="0" indent="0" algn="ctr">
              <a:buNone/>
            </a:pPr>
            <a:r>
              <a:rPr lang="en-US" sz="1000" i="1" dirty="0">
                <a:solidFill>
                  <a:srgbClr val="6B7280"/>
                </a:solidFill>
                <a:latin typeface="Calibri" pitchFamily="34" charset="0"/>
                <a:ea typeface="Calibri" pitchFamily="34" charset="-122"/>
                <a:cs typeface="Calibri" pitchFamily="34" charset="-120"/>
              </a:rPr>
              <a:t>Suggests / assists; human stays in control.</a:t>
            </a:r>
            <a:endParaRPr lang="en-US" sz="1000" dirty="0"/>
          </a:p>
        </p:txBody>
      </p:sp>
      <p:sp>
        <p:nvSpPr>
          <p:cNvPr id="18" name="Shape 13"/>
          <p:cNvSpPr/>
          <p:nvPr/>
        </p:nvSpPr>
        <p:spPr>
          <a:xfrm>
            <a:off x="6172200" y="1783080"/>
            <a:ext cx="2697480" cy="3017520"/>
          </a:xfrm>
          <a:prstGeom prst="roundRect">
            <a:avLst>
              <a:gd name="adj" fmla="val 3390"/>
            </a:avLst>
          </a:prstGeom>
          <a:solidFill>
            <a:srgbClr val="FFFFFF"/>
          </a:solidFill>
          <a:ln/>
          <a:effectLst>
            <a:outerShdw blurRad="101600" dist="25400" dir="5400000" algn="bl" rotWithShape="0">
              <a:srgbClr val="1B1F3B">
                <a:alpha val="8000"/>
              </a:srgbClr>
            </a:outerShdw>
          </a:effectLst>
        </p:spPr>
        <p:txBody>
          <a:bodyPr/>
          <a:lstStyle/>
          <a:p>
            <a:endParaRPr lang="en-US"/>
          </a:p>
        </p:txBody>
      </p:sp>
      <p:sp>
        <p:nvSpPr>
          <p:cNvPr id="19" name="Shape 14"/>
          <p:cNvSpPr/>
          <p:nvPr/>
        </p:nvSpPr>
        <p:spPr>
          <a:xfrm>
            <a:off x="7200900" y="2039112"/>
            <a:ext cx="640080" cy="640080"/>
          </a:xfrm>
          <a:prstGeom prst="ellipse">
            <a:avLst/>
          </a:prstGeom>
          <a:solidFill>
            <a:srgbClr val="EDEBFF"/>
          </a:solidFill>
          <a:ln/>
        </p:spPr>
        <p:txBody>
          <a:bodyPr/>
          <a:lstStyle/>
          <a:p>
            <a:endParaRPr lang="en-US"/>
          </a:p>
        </p:txBody>
      </p:sp>
      <p:pic>
        <p:nvPicPr>
          <p:cNvPr id="20" name="Image 3" descr="preencoded.png"/>
          <p:cNvPicPr>
            <a:picLocks noChangeAspect="1"/>
          </p:cNvPicPr>
          <p:nvPr/>
        </p:nvPicPr>
        <p:blipFill>
          <a:blip r:embed="rId5"/>
          <a:stretch>
            <a:fillRect/>
          </a:stretch>
        </p:blipFill>
        <p:spPr>
          <a:xfrm>
            <a:off x="7367321" y="2205533"/>
            <a:ext cx="307238" cy="307238"/>
          </a:xfrm>
          <a:prstGeom prst="rect">
            <a:avLst/>
          </a:prstGeom>
        </p:spPr>
      </p:pic>
      <p:sp>
        <p:nvSpPr>
          <p:cNvPr id="21" name="Text 15"/>
          <p:cNvSpPr/>
          <p:nvPr/>
        </p:nvSpPr>
        <p:spPr>
          <a:xfrm>
            <a:off x="6309360" y="2834640"/>
            <a:ext cx="2423160" cy="365760"/>
          </a:xfrm>
          <a:prstGeom prst="rect">
            <a:avLst/>
          </a:prstGeom>
          <a:noFill/>
          <a:ln/>
        </p:spPr>
        <p:txBody>
          <a:bodyPr wrap="square" lIns="0" tIns="0" rIns="0" bIns="0" rtlCol="0" anchor="ctr"/>
          <a:lstStyle/>
          <a:p>
            <a:pPr marL="0" indent="0" algn="ctr">
              <a:buNone/>
            </a:pPr>
            <a:r>
              <a:rPr lang="en-US" sz="1500" b="1" dirty="0">
                <a:solidFill>
                  <a:srgbClr val="1B1F3B"/>
                </a:solidFill>
                <a:latin typeface="Calibri" pitchFamily="34" charset="0"/>
                <a:ea typeface="Calibri" pitchFamily="34" charset="-122"/>
                <a:cs typeface="Calibri" pitchFamily="34" charset="-120"/>
              </a:rPr>
              <a:t>Assistant</a:t>
            </a:r>
            <a:endParaRPr lang="en-US" sz="1500" dirty="0"/>
          </a:p>
        </p:txBody>
      </p:sp>
      <p:sp>
        <p:nvSpPr>
          <p:cNvPr id="22" name="Text 16"/>
          <p:cNvSpPr/>
          <p:nvPr/>
        </p:nvSpPr>
        <p:spPr>
          <a:xfrm>
            <a:off x="6355080" y="3291840"/>
            <a:ext cx="2331720" cy="822960"/>
          </a:xfrm>
          <a:prstGeom prst="rect">
            <a:avLst/>
          </a:prstGeom>
          <a:noFill/>
          <a:ln/>
        </p:spPr>
        <p:txBody>
          <a:bodyPr wrap="square" lIns="0" tIns="0" rIns="0" bIns="0" rtlCol="0" anchor="t"/>
          <a:lstStyle/>
          <a:p>
            <a:pPr marL="0" indent="0" algn="ctr">
              <a:buNone/>
            </a:pPr>
            <a:r>
              <a:rPr lang="en-US" sz="1050" dirty="0">
                <a:solidFill>
                  <a:srgbClr val="1B1F3B"/>
                </a:solidFill>
                <a:latin typeface="Calibri" pitchFamily="34" charset="0"/>
                <a:ea typeface="Calibri" pitchFamily="34" charset="-122"/>
                <a:cs typeface="Calibri" pitchFamily="34" charset="-120"/>
              </a:rPr>
              <a:t>Helps manage tasks across contexts (calendar, email).</a:t>
            </a:r>
            <a:endParaRPr lang="en-US" sz="1050" dirty="0"/>
          </a:p>
        </p:txBody>
      </p:sp>
      <p:sp>
        <p:nvSpPr>
          <p:cNvPr id="23" name="Text 17"/>
          <p:cNvSpPr/>
          <p:nvPr/>
        </p:nvSpPr>
        <p:spPr>
          <a:xfrm>
            <a:off x="6355080" y="4114800"/>
            <a:ext cx="2331720" cy="594360"/>
          </a:xfrm>
          <a:prstGeom prst="rect">
            <a:avLst/>
          </a:prstGeom>
          <a:noFill/>
          <a:ln/>
        </p:spPr>
        <p:txBody>
          <a:bodyPr wrap="square" lIns="0" tIns="0" rIns="0" bIns="0" rtlCol="0" anchor="t"/>
          <a:lstStyle/>
          <a:p>
            <a:pPr marL="0" indent="0" algn="ctr">
              <a:buNone/>
            </a:pPr>
            <a:r>
              <a:rPr lang="en-US" sz="1000" i="1" dirty="0">
                <a:solidFill>
                  <a:srgbClr val="6B7280"/>
                </a:solidFill>
                <a:latin typeface="Calibri" pitchFamily="34" charset="0"/>
                <a:ea typeface="Calibri" pitchFamily="34" charset="-122"/>
                <a:cs typeface="Calibri" pitchFamily="34" charset="-120"/>
              </a:rPr>
              <a:t>Broader scope, still mostly reactive.</a:t>
            </a:r>
            <a:endParaRPr lang="en-US" sz="1000" dirty="0"/>
          </a:p>
        </p:txBody>
      </p:sp>
      <p:sp>
        <p:nvSpPr>
          <p:cNvPr id="24" name="Shape 18"/>
          <p:cNvSpPr/>
          <p:nvPr/>
        </p:nvSpPr>
        <p:spPr>
          <a:xfrm>
            <a:off x="9006840" y="1783080"/>
            <a:ext cx="2697480" cy="3017520"/>
          </a:xfrm>
          <a:prstGeom prst="roundRect">
            <a:avLst>
              <a:gd name="adj" fmla="val 3390"/>
            </a:avLst>
          </a:prstGeom>
          <a:solidFill>
            <a:srgbClr val="FFFFFF"/>
          </a:solidFill>
          <a:ln/>
          <a:effectLst>
            <a:outerShdw blurRad="101600" dist="25400" dir="5400000" algn="bl" rotWithShape="0">
              <a:srgbClr val="1B1F3B">
                <a:alpha val="8000"/>
              </a:srgbClr>
            </a:outerShdw>
          </a:effectLst>
        </p:spPr>
        <p:txBody>
          <a:bodyPr/>
          <a:lstStyle/>
          <a:p>
            <a:endParaRPr lang="en-US"/>
          </a:p>
        </p:txBody>
      </p:sp>
      <p:sp>
        <p:nvSpPr>
          <p:cNvPr id="25" name="Shape 19"/>
          <p:cNvSpPr/>
          <p:nvPr/>
        </p:nvSpPr>
        <p:spPr>
          <a:xfrm>
            <a:off x="10035540" y="2039112"/>
            <a:ext cx="640080" cy="640080"/>
          </a:xfrm>
          <a:prstGeom prst="ellipse">
            <a:avLst/>
          </a:prstGeom>
          <a:solidFill>
            <a:srgbClr val="E2FBF6"/>
          </a:solidFill>
          <a:ln/>
        </p:spPr>
        <p:txBody>
          <a:bodyPr/>
          <a:lstStyle/>
          <a:p>
            <a:endParaRPr lang="en-US"/>
          </a:p>
        </p:txBody>
      </p:sp>
      <p:pic>
        <p:nvPicPr>
          <p:cNvPr id="26" name="Image 4" descr="preencoded.png"/>
          <p:cNvPicPr>
            <a:picLocks noChangeAspect="1"/>
          </p:cNvPicPr>
          <p:nvPr/>
        </p:nvPicPr>
        <p:blipFill>
          <a:blip r:embed="rId6"/>
          <a:stretch>
            <a:fillRect/>
          </a:stretch>
        </p:blipFill>
        <p:spPr>
          <a:xfrm>
            <a:off x="10201961" y="2205533"/>
            <a:ext cx="307238" cy="307238"/>
          </a:xfrm>
          <a:prstGeom prst="rect">
            <a:avLst/>
          </a:prstGeom>
        </p:spPr>
      </p:pic>
      <p:sp>
        <p:nvSpPr>
          <p:cNvPr id="27" name="Text 20"/>
          <p:cNvSpPr/>
          <p:nvPr/>
        </p:nvSpPr>
        <p:spPr>
          <a:xfrm>
            <a:off x="9144000" y="2834640"/>
            <a:ext cx="2423160" cy="365760"/>
          </a:xfrm>
          <a:prstGeom prst="rect">
            <a:avLst/>
          </a:prstGeom>
          <a:noFill/>
          <a:ln/>
        </p:spPr>
        <p:txBody>
          <a:bodyPr wrap="square" lIns="0" tIns="0" rIns="0" bIns="0" rtlCol="0" anchor="ctr"/>
          <a:lstStyle/>
          <a:p>
            <a:pPr marL="0" indent="0" algn="ctr">
              <a:buNone/>
            </a:pPr>
            <a:r>
              <a:rPr lang="en-US" sz="1500" b="1" dirty="0">
                <a:solidFill>
                  <a:srgbClr val="1B1F3B"/>
                </a:solidFill>
                <a:latin typeface="Calibri" pitchFamily="34" charset="0"/>
                <a:ea typeface="Calibri" pitchFamily="34" charset="-122"/>
                <a:cs typeface="Calibri" pitchFamily="34" charset="-120"/>
              </a:rPr>
              <a:t>Agent</a:t>
            </a:r>
            <a:endParaRPr lang="en-US" sz="1500" dirty="0"/>
          </a:p>
        </p:txBody>
      </p:sp>
      <p:sp>
        <p:nvSpPr>
          <p:cNvPr id="28" name="Text 21"/>
          <p:cNvSpPr/>
          <p:nvPr/>
        </p:nvSpPr>
        <p:spPr>
          <a:xfrm>
            <a:off x="9189720" y="3291840"/>
            <a:ext cx="2331720" cy="822960"/>
          </a:xfrm>
          <a:prstGeom prst="rect">
            <a:avLst/>
          </a:prstGeom>
          <a:noFill/>
          <a:ln/>
        </p:spPr>
        <p:txBody>
          <a:bodyPr wrap="square" lIns="0" tIns="0" rIns="0" bIns="0" rtlCol="0" anchor="t"/>
          <a:lstStyle/>
          <a:p>
            <a:pPr marL="0" indent="0" algn="ctr">
              <a:buNone/>
            </a:pPr>
            <a:r>
              <a:rPr lang="en-US" sz="1050" dirty="0">
                <a:solidFill>
                  <a:srgbClr val="1B1F3B"/>
                </a:solidFill>
                <a:latin typeface="Calibri" pitchFamily="34" charset="0"/>
                <a:ea typeface="Calibri" pitchFamily="34" charset="-122"/>
                <a:cs typeface="Calibri" pitchFamily="34" charset="-120"/>
              </a:rPr>
              <a:t>Pursues a goal autonomously across many steps.</a:t>
            </a:r>
            <a:endParaRPr lang="en-US" sz="1050" dirty="0"/>
          </a:p>
        </p:txBody>
      </p:sp>
      <p:sp>
        <p:nvSpPr>
          <p:cNvPr id="29" name="Text 22"/>
          <p:cNvSpPr/>
          <p:nvPr/>
        </p:nvSpPr>
        <p:spPr>
          <a:xfrm>
            <a:off x="9189720" y="4114800"/>
            <a:ext cx="2331720" cy="594360"/>
          </a:xfrm>
          <a:prstGeom prst="rect">
            <a:avLst/>
          </a:prstGeom>
          <a:noFill/>
          <a:ln/>
        </p:spPr>
        <p:txBody>
          <a:bodyPr wrap="square" lIns="0" tIns="0" rIns="0" bIns="0" rtlCol="0" anchor="t"/>
          <a:lstStyle/>
          <a:p>
            <a:pPr marL="0" indent="0" algn="ctr">
              <a:buNone/>
            </a:pPr>
            <a:r>
              <a:rPr lang="en-US" sz="1000" i="1" dirty="0">
                <a:solidFill>
                  <a:srgbClr val="6B7280"/>
                </a:solidFill>
                <a:latin typeface="Calibri" pitchFamily="34" charset="0"/>
                <a:ea typeface="Calibri" pitchFamily="34" charset="-122"/>
                <a:cs typeface="Calibri" pitchFamily="34" charset="-120"/>
              </a:rPr>
              <a:t>Plans, uses tools, acts with less supervision.</a:t>
            </a:r>
            <a:endParaRPr lang="en-US" sz="1000" dirty="0"/>
          </a:p>
        </p:txBody>
      </p:sp>
      <p:sp>
        <p:nvSpPr>
          <p:cNvPr id="30" name="Text 23"/>
          <p:cNvSpPr/>
          <p:nvPr/>
        </p:nvSpPr>
        <p:spPr>
          <a:xfrm>
            <a:off x="502920" y="5120640"/>
            <a:ext cx="11201400" cy="320040"/>
          </a:xfrm>
          <a:prstGeom prst="rect">
            <a:avLst/>
          </a:prstGeom>
          <a:noFill/>
          <a:ln/>
        </p:spPr>
        <p:txBody>
          <a:bodyPr wrap="square" lIns="0" tIns="0" rIns="0" bIns="0" rtlCol="0" anchor="ctr"/>
          <a:lstStyle/>
          <a:p>
            <a:pPr marL="0" indent="0" algn="ctr">
              <a:buNone/>
            </a:pPr>
            <a:r>
              <a:rPr lang="en-US" sz="1150" i="1" dirty="0">
                <a:solidFill>
                  <a:srgbClr val="6B7280"/>
                </a:solidFill>
                <a:latin typeface="Calibri" pitchFamily="34" charset="0"/>
                <a:ea typeface="Calibri" pitchFamily="34" charset="-122"/>
                <a:cs typeface="Calibri" pitchFamily="34" charset="-120"/>
              </a:rPr>
              <a:t>Autonomy increases left to right — from answering, to assisting, to acting.</a:t>
            </a:r>
            <a:endParaRPr lang="en-US" sz="1150" dirty="0"/>
          </a:p>
        </p:txBody>
      </p:sp>
      <p:sp>
        <p:nvSpPr>
          <p:cNvPr id="32" name="Text 24"/>
          <p:cNvSpPr/>
          <p:nvPr/>
        </p:nvSpPr>
        <p:spPr>
          <a:xfrm>
            <a:off x="457200" y="6446520"/>
            <a:ext cx="7315200" cy="274320"/>
          </a:xfrm>
          <a:prstGeom prst="rect">
            <a:avLst/>
          </a:prstGeom>
          <a:noFill/>
          <a:ln/>
        </p:spPr>
        <p:txBody>
          <a:bodyPr wrap="square" lIns="0" tIns="0" rIns="0" bIns="0"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SYMBIOSIS  |  Autonomous AI Systems &amp; Agent-Based Computing</a:t>
            </a:r>
            <a:endParaRPr lang="en-US" sz="900" dirty="0"/>
          </a:p>
        </p:txBody>
      </p:sp>
      <p:sp>
        <p:nvSpPr>
          <p:cNvPr id="33" name="Text 25"/>
          <p:cNvSpPr/>
          <p:nvPr/>
        </p:nvSpPr>
        <p:spPr>
          <a:xfrm>
            <a:off x="10085832" y="6446520"/>
            <a:ext cx="164592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Session 1  ·  8/12</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F5F6FA"/>
        </a:solidFill>
        <a:effectLst/>
      </p:bgPr>
    </p:bg>
    <p:spTree>
      <p:nvGrpSpPr>
        <p:cNvPr id="1" name=""/>
        <p:cNvGrpSpPr/>
        <p:nvPr/>
      </p:nvGrpSpPr>
      <p:grpSpPr>
        <a:xfrm>
          <a:off x="0" y="0"/>
          <a:ext cx="0" cy="0"/>
          <a:chOff x="0" y="0"/>
          <a:chExt cx="0" cy="0"/>
        </a:xfrm>
      </p:grpSpPr>
      <p:sp>
        <p:nvSpPr>
          <p:cNvPr id="2" name="Shape 0"/>
          <p:cNvSpPr/>
          <p:nvPr/>
        </p:nvSpPr>
        <p:spPr>
          <a:xfrm>
            <a:off x="548640" y="457200"/>
            <a:ext cx="640080" cy="640080"/>
          </a:xfrm>
          <a:prstGeom prst="ellipse">
            <a:avLst/>
          </a:prstGeom>
          <a:solidFill>
            <a:srgbClr val="EDEBFF"/>
          </a:solidFill>
          <a:ln/>
        </p:spPr>
        <p:txBody>
          <a:bodyPr/>
          <a:lstStyle/>
          <a:p>
            <a:endParaRPr lang="en-US"/>
          </a:p>
        </p:txBody>
      </p:sp>
      <p:pic>
        <p:nvPicPr>
          <p:cNvPr id="3" name="Image 0" descr="preencoded.png"/>
          <p:cNvPicPr>
            <a:picLocks noChangeAspect="1"/>
          </p:cNvPicPr>
          <p:nvPr/>
        </p:nvPicPr>
        <p:blipFill>
          <a:blip r:embed="rId3"/>
          <a:stretch>
            <a:fillRect/>
          </a:stretch>
        </p:blipFill>
        <p:spPr>
          <a:xfrm>
            <a:off x="715061" y="623621"/>
            <a:ext cx="307238" cy="307238"/>
          </a:xfrm>
          <a:prstGeom prst="rect">
            <a:avLst/>
          </a:prstGeom>
        </p:spPr>
      </p:pic>
      <p:sp>
        <p:nvSpPr>
          <p:cNvPr id="4" name="Text 1"/>
          <p:cNvSpPr/>
          <p:nvPr/>
        </p:nvSpPr>
        <p:spPr>
          <a:xfrm>
            <a:off x="1371600" y="457200"/>
            <a:ext cx="8229600" cy="274320"/>
          </a:xfrm>
          <a:prstGeom prst="rect">
            <a:avLst/>
          </a:prstGeom>
          <a:noFill/>
          <a:ln/>
        </p:spPr>
        <p:txBody>
          <a:bodyPr wrap="square" lIns="0" tIns="0" rIns="0" bIns="0" rtlCol="0" anchor="ctr"/>
          <a:lstStyle/>
          <a:p>
            <a:pPr marL="0" indent="0">
              <a:buNone/>
            </a:pPr>
            <a:r>
              <a:rPr lang="en-US" sz="1200" b="1" kern="0" spc="200" dirty="0">
                <a:solidFill>
                  <a:srgbClr val="00C2A8"/>
                </a:solidFill>
                <a:latin typeface="Calibri" pitchFamily="34" charset="0"/>
                <a:ea typeface="Calibri" pitchFamily="34" charset="-122"/>
                <a:cs typeface="Calibri" pitchFamily="34" charset="-120"/>
              </a:rPr>
              <a:t>SEEING IT IN ACTION</a:t>
            </a:r>
            <a:endParaRPr lang="en-US" sz="1200" dirty="0"/>
          </a:p>
        </p:txBody>
      </p:sp>
      <p:sp>
        <p:nvSpPr>
          <p:cNvPr id="5" name="Text 2"/>
          <p:cNvSpPr/>
          <p:nvPr/>
        </p:nvSpPr>
        <p:spPr>
          <a:xfrm>
            <a:off x="1371600" y="713232"/>
            <a:ext cx="10058400" cy="640080"/>
          </a:xfrm>
          <a:prstGeom prst="rect">
            <a:avLst/>
          </a:prstGeom>
          <a:noFill/>
          <a:ln/>
        </p:spPr>
        <p:txBody>
          <a:bodyPr wrap="square" lIns="0" tIns="0" rIns="0" bIns="0" rtlCol="0" anchor="ctr"/>
          <a:lstStyle/>
          <a:p>
            <a:pPr marL="0" indent="0">
              <a:buNone/>
            </a:pPr>
            <a:r>
              <a:rPr lang="en-US" sz="3000" b="1" dirty="0">
                <a:solidFill>
                  <a:srgbClr val="1B1F3B"/>
                </a:solidFill>
                <a:latin typeface="Cambria" pitchFamily="34" charset="0"/>
                <a:ea typeface="Cambria" pitchFamily="34" charset="-122"/>
                <a:cs typeface="Cambria" pitchFamily="34" charset="-120"/>
              </a:rPr>
              <a:t>Real-World Examples You Already Use</a:t>
            </a:r>
            <a:endParaRPr lang="en-US" sz="3000" dirty="0"/>
          </a:p>
        </p:txBody>
      </p:sp>
      <p:sp>
        <p:nvSpPr>
          <p:cNvPr id="6" name="Shape 3"/>
          <p:cNvSpPr/>
          <p:nvPr/>
        </p:nvSpPr>
        <p:spPr>
          <a:xfrm>
            <a:off x="548640" y="1783080"/>
            <a:ext cx="3611880" cy="1508760"/>
          </a:xfrm>
          <a:prstGeom prst="roundRect">
            <a:avLst>
              <a:gd name="adj" fmla="val 6061"/>
            </a:avLst>
          </a:prstGeom>
          <a:solidFill>
            <a:srgbClr val="FFFFFF"/>
          </a:solidFill>
          <a:ln/>
          <a:effectLst>
            <a:outerShdw blurRad="101600" dist="25400" dir="5400000" algn="bl" rotWithShape="0">
              <a:srgbClr val="1B1F3B">
                <a:alpha val="8000"/>
              </a:srgbClr>
            </a:outerShdw>
          </a:effectLst>
        </p:spPr>
        <p:txBody>
          <a:bodyPr/>
          <a:lstStyle/>
          <a:p>
            <a:endParaRPr lang="en-US"/>
          </a:p>
        </p:txBody>
      </p:sp>
      <p:sp>
        <p:nvSpPr>
          <p:cNvPr id="7" name="Shape 4"/>
          <p:cNvSpPr/>
          <p:nvPr/>
        </p:nvSpPr>
        <p:spPr>
          <a:xfrm>
            <a:off x="731520" y="1965960"/>
            <a:ext cx="502920" cy="502920"/>
          </a:xfrm>
          <a:prstGeom prst="ellipse">
            <a:avLst/>
          </a:prstGeom>
          <a:solidFill>
            <a:srgbClr val="EDEBFF"/>
          </a:solidFill>
          <a:ln/>
        </p:spPr>
        <p:txBody>
          <a:bodyPr/>
          <a:lstStyle/>
          <a:p>
            <a:endParaRPr lang="en-US"/>
          </a:p>
        </p:txBody>
      </p:sp>
      <p:pic>
        <p:nvPicPr>
          <p:cNvPr id="8" name="Image 1" descr="preencoded.png"/>
          <p:cNvPicPr>
            <a:picLocks noChangeAspect="1"/>
          </p:cNvPicPr>
          <p:nvPr/>
        </p:nvPicPr>
        <p:blipFill>
          <a:blip r:embed="rId4"/>
          <a:stretch>
            <a:fillRect/>
          </a:stretch>
        </p:blipFill>
        <p:spPr>
          <a:xfrm>
            <a:off x="862279" y="2096719"/>
            <a:ext cx="241402" cy="241402"/>
          </a:xfrm>
          <a:prstGeom prst="rect">
            <a:avLst/>
          </a:prstGeom>
        </p:spPr>
      </p:pic>
      <p:sp>
        <p:nvSpPr>
          <p:cNvPr id="9" name="Text 5"/>
          <p:cNvSpPr/>
          <p:nvPr/>
        </p:nvSpPr>
        <p:spPr>
          <a:xfrm>
            <a:off x="1371600" y="1965960"/>
            <a:ext cx="2606040" cy="228600"/>
          </a:xfrm>
          <a:prstGeom prst="rect">
            <a:avLst/>
          </a:prstGeom>
          <a:noFill/>
          <a:ln/>
        </p:spPr>
        <p:txBody>
          <a:bodyPr wrap="square" lIns="0" tIns="0" rIns="0" bIns="0" rtlCol="0" anchor="ctr"/>
          <a:lstStyle/>
          <a:p>
            <a:pPr marL="0" indent="0">
              <a:buNone/>
            </a:pPr>
            <a:r>
              <a:rPr lang="en-US" sz="950" b="1" kern="0" spc="100" dirty="0">
                <a:solidFill>
                  <a:srgbClr val="00C2A8"/>
                </a:solidFill>
                <a:latin typeface="Calibri" pitchFamily="34" charset="0"/>
                <a:ea typeface="Calibri" pitchFamily="34" charset="-122"/>
                <a:cs typeface="Calibri" pitchFamily="34" charset="-120"/>
              </a:rPr>
              <a:t>PREDICTIVE</a:t>
            </a:r>
            <a:endParaRPr lang="en-US" sz="950" dirty="0"/>
          </a:p>
        </p:txBody>
      </p:sp>
      <p:sp>
        <p:nvSpPr>
          <p:cNvPr id="10" name="Text 6"/>
          <p:cNvSpPr/>
          <p:nvPr/>
        </p:nvSpPr>
        <p:spPr>
          <a:xfrm>
            <a:off x="1371600" y="2185416"/>
            <a:ext cx="2606040" cy="274320"/>
          </a:xfrm>
          <a:prstGeom prst="rect">
            <a:avLst/>
          </a:prstGeom>
          <a:noFill/>
          <a:ln/>
        </p:spPr>
        <p:txBody>
          <a:bodyPr wrap="square" lIns="0" tIns="0" rIns="0" bIns="0" rtlCol="0" anchor="ctr"/>
          <a:lstStyle/>
          <a:p>
            <a:pPr marL="0" indent="0">
              <a:buNone/>
            </a:pPr>
            <a:r>
              <a:rPr lang="en-US" sz="1200" b="1" dirty="0">
                <a:solidFill>
                  <a:srgbClr val="1B1F3B"/>
                </a:solidFill>
                <a:latin typeface="Calibri" pitchFamily="34" charset="0"/>
                <a:ea typeface="Calibri" pitchFamily="34" charset="-122"/>
                <a:cs typeface="Calibri" pitchFamily="34" charset="-120"/>
              </a:rPr>
              <a:t>Netflix / Spotify recommendations</a:t>
            </a:r>
            <a:endParaRPr lang="en-US" sz="1200" dirty="0"/>
          </a:p>
        </p:txBody>
      </p:sp>
      <p:sp>
        <p:nvSpPr>
          <p:cNvPr id="11" name="Text 7"/>
          <p:cNvSpPr/>
          <p:nvPr/>
        </p:nvSpPr>
        <p:spPr>
          <a:xfrm>
            <a:off x="731520" y="2651760"/>
            <a:ext cx="3246120" cy="502920"/>
          </a:xfrm>
          <a:prstGeom prst="rect">
            <a:avLst/>
          </a:prstGeom>
          <a:noFill/>
          <a:ln/>
        </p:spPr>
        <p:txBody>
          <a:bodyPr wrap="square" lIns="0" tIns="0" rIns="0" bIns="0" rtlCol="0" anchor="t"/>
          <a:lstStyle/>
          <a:p>
            <a:pPr marL="0" indent="0">
              <a:buNone/>
            </a:pPr>
            <a:r>
              <a:rPr lang="en-US" sz="1000" dirty="0">
                <a:solidFill>
                  <a:srgbClr val="6B7280"/>
                </a:solidFill>
                <a:latin typeface="Calibri" pitchFamily="34" charset="0"/>
                <a:ea typeface="Calibri" pitchFamily="34" charset="-122"/>
                <a:cs typeface="Calibri" pitchFamily="34" charset="-120"/>
              </a:rPr>
              <a:t>Predicts what you're likely to watch or hear next.</a:t>
            </a:r>
            <a:endParaRPr lang="en-US" sz="1000" dirty="0"/>
          </a:p>
        </p:txBody>
      </p:sp>
      <p:sp>
        <p:nvSpPr>
          <p:cNvPr id="12" name="Shape 8"/>
          <p:cNvSpPr/>
          <p:nvPr/>
        </p:nvSpPr>
        <p:spPr>
          <a:xfrm>
            <a:off x="4343400" y="1783080"/>
            <a:ext cx="3611880" cy="1508760"/>
          </a:xfrm>
          <a:prstGeom prst="roundRect">
            <a:avLst>
              <a:gd name="adj" fmla="val 6061"/>
            </a:avLst>
          </a:prstGeom>
          <a:solidFill>
            <a:srgbClr val="FFFFFF"/>
          </a:solidFill>
          <a:ln/>
          <a:effectLst>
            <a:outerShdw blurRad="101600" dist="25400" dir="5400000" algn="bl" rotWithShape="0">
              <a:srgbClr val="1B1F3B">
                <a:alpha val="8000"/>
              </a:srgbClr>
            </a:outerShdw>
          </a:effectLst>
        </p:spPr>
        <p:txBody>
          <a:bodyPr/>
          <a:lstStyle/>
          <a:p>
            <a:endParaRPr lang="en-US"/>
          </a:p>
        </p:txBody>
      </p:sp>
      <p:sp>
        <p:nvSpPr>
          <p:cNvPr id="13" name="Shape 9"/>
          <p:cNvSpPr/>
          <p:nvPr/>
        </p:nvSpPr>
        <p:spPr>
          <a:xfrm>
            <a:off x="4526280" y="1965960"/>
            <a:ext cx="502920" cy="502920"/>
          </a:xfrm>
          <a:prstGeom prst="ellipse">
            <a:avLst/>
          </a:prstGeom>
          <a:solidFill>
            <a:srgbClr val="EDEBFF"/>
          </a:solidFill>
          <a:ln/>
        </p:spPr>
        <p:txBody>
          <a:bodyPr/>
          <a:lstStyle/>
          <a:p>
            <a:endParaRPr lang="en-US"/>
          </a:p>
        </p:txBody>
      </p:sp>
      <p:pic>
        <p:nvPicPr>
          <p:cNvPr id="14" name="Image 2" descr="preencoded.png"/>
          <p:cNvPicPr>
            <a:picLocks noChangeAspect="1"/>
          </p:cNvPicPr>
          <p:nvPr/>
        </p:nvPicPr>
        <p:blipFill>
          <a:blip r:embed="rId5"/>
          <a:stretch>
            <a:fillRect/>
          </a:stretch>
        </p:blipFill>
        <p:spPr>
          <a:xfrm>
            <a:off x="4657039" y="2096719"/>
            <a:ext cx="241402" cy="241402"/>
          </a:xfrm>
          <a:prstGeom prst="rect">
            <a:avLst/>
          </a:prstGeom>
        </p:spPr>
      </p:pic>
      <p:sp>
        <p:nvSpPr>
          <p:cNvPr id="15" name="Text 10"/>
          <p:cNvSpPr/>
          <p:nvPr/>
        </p:nvSpPr>
        <p:spPr>
          <a:xfrm>
            <a:off x="5166360" y="1965960"/>
            <a:ext cx="2606040" cy="228600"/>
          </a:xfrm>
          <a:prstGeom prst="rect">
            <a:avLst/>
          </a:prstGeom>
          <a:noFill/>
          <a:ln/>
        </p:spPr>
        <p:txBody>
          <a:bodyPr wrap="square" lIns="0" tIns="0" rIns="0" bIns="0" rtlCol="0" anchor="ctr"/>
          <a:lstStyle/>
          <a:p>
            <a:pPr marL="0" indent="0">
              <a:buNone/>
            </a:pPr>
            <a:r>
              <a:rPr lang="en-US" sz="950" b="1" kern="0" spc="100" dirty="0">
                <a:solidFill>
                  <a:srgbClr val="00C2A8"/>
                </a:solidFill>
                <a:latin typeface="Calibri" pitchFamily="34" charset="0"/>
                <a:ea typeface="Calibri" pitchFamily="34" charset="-122"/>
                <a:cs typeface="Calibri" pitchFamily="34" charset="-120"/>
              </a:rPr>
              <a:t>GENERATIVE</a:t>
            </a:r>
            <a:endParaRPr lang="en-US" sz="950" dirty="0"/>
          </a:p>
        </p:txBody>
      </p:sp>
      <p:sp>
        <p:nvSpPr>
          <p:cNvPr id="16" name="Text 11"/>
          <p:cNvSpPr/>
          <p:nvPr/>
        </p:nvSpPr>
        <p:spPr>
          <a:xfrm>
            <a:off x="5166360" y="2185416"/>
            <a:ext cx="2606040" cy="274320"/>
          </a:xfrm>
          <a:prstGeom prst="rect">
            <a:avLst/>
          </a:prstGeom>
          <a:noFill/>
          <a:ln/>
        </p:spPr>
        <p:txBody>
          <a:bodyPr wrap="square" lIns="0" tIns="0" rIns="0" bIns="0" rtlCol="0" anchor="ctr"/>
          <a:lstStyle/>
          <a:p>
            <a:pPr marL="0" indent="0">
              <a:buNone/>
            </a:pPr>
            <a:r>
              <a:rPr lang="en-US" sz="1200" b="1" dirty="0">
                <a:solidFill>
                  <a:srgbClr val="1B1F3B"/>
                </a:solidFill>
                <a:latin typeface="Calibri" pitchFamily="34" charset="0"/>
                <a:ea typeface="Calibri" pitchFamily="34" charset="-122"/>
                <a:cs typeface="Calibri" pitchFamily="34" charset="-120"/>
              </a:rPr>
              <a:t>ChatGPT, Copilot, Midjourney</a:t>
            </a:r>
            <a:endParaRPr lang="en-US" sz="1200" dirty="0"/>
          </a:p>
        </p:txBody>
      </p:sp>
      <p:sp>
        <p:nvSpPr>
          <p:cNvPr id="17" name="Text 12"/>
          <p:cNvSpPr/>
          <p:nvPr/>
        </p:nvSpPr>
        <p:spPr>
          <a:xfrm>
            <a:off x="4526280" y="2651760"/>
            <a:ext cx="3246120" cy="502920"/>
          </a:xfrm>
          <a:prstGeom prst="rect">
            <a:avLst/>
          </a:prstGeom>
          <a:noFill/>
          <a:ln/>
        </p:spPr>
        <p:txBody>
          <a:bodyPr wrap="square" lIns="0" tIns="0" rIns="0" bIns="0" rtlCol="0" anchor="t"/>
          <a:lstStyle/>
          <a:p>
            <a:pPr marL="0" indent="0">
              <a:buNone/>
            </a:pPr>
            <a:r>
              <a:rPr lang="en-US" sz="1000" dirty="0">
                <a:solidFill>
                  <a:srgbClr val="6B7280"/>
                </a:solidFill>
                <a:latin typeface="Calibri" pitchFamily="34" charset="0"/>
                <a:ea typeface="Calibri" pitchFamily="34" charset="-122"/>
                <a:cs typeface="Calibri" pitchFamily="34" charset="-120"/>
              </a:rPr>
              <a:t>Generates essays, code, and images from a prompt.</a:t>
            </a:r>
            <a:endParaRPr lang="en-US" sz="1000" dirty="0"/>
          </a:p>
        </p:txBody>
      </p:sp>
      <p:sp>
        <p:nvSpPr>
          <p:cNvPr id="18" name="Shape 13"/>
          <p:cNvSpPr/>
          <p:nvPr/>
        </p:nvSpPr>
        <p:spPr>
          <a:xfrm>
            <a:off x="8138160" y="1783080"/>
            <a:ext cx="3611880" cy="1508760"/>
          </a:xfrm>
          <a:prstGeom prst="roundRect">
            <a:avLst>
              <a:gd name="adj" fmla="val 6061"/>
            </a:avLst>
          </a:prstGeom>
          <a:solidFill>
            <a:srgbClr val="FFFFFF"/>
          </a:solidFill>
          <a:ln/>
          <a:effectLst>
            <a:outerShdw blurRad="101600" dist="25400" dir="5400000" algn="bl" rotWithShape="0">
              <a:srgbClr val="1B1F3B">
                <a:alpha val="8000"/>
              </a:srgbClr>
            </a:outerShdw>
          </a:effectLst>
        </p:spPr>
        <p:txBody>
          <a:bodyPr/>
          <a:lstStyle/>
          <a:p>
            <a:endParaRPr lang="en-US"/>
          </a:p>
        </p:txBody>
      </p:sp>
      <p:sp>
        <p:nvSpPr>
          <p:cNvPr id="19" name="Shape 14"/>
          <p:cNvSpPr/>
          <p:nvPr/>
        </p:nvSpPr>
        <p:spPr>
          <a:xfrm>
            <a:off x="8321040" y="1965960"/>
            <a:ext cx="502920" cy="502920"/>
          </a:xfrm>
          <a:prstGeom prst="ellipse">
            <a:avLst/>
          </a:prstGeom>
          <a:solidFill>
            <a:srgbClr val="EDEBFF"/>
          </a:solidFill>
          <a:ln/>
        </p:spPr>
        <p:txBody>
          <a:bodyPr/>
          <a:lstStyle/>
          <a:p>
            <a:endParaRPr lang="en-US"/>
          </a:p>
        </p:txBody>
      </p:sp>
      <p:pic>
        <p:nvPicPr>
          <p:cNvPr id="20" name="Image 3" descr="preencoded.png"/>
          <p:cNvPicPr>
            <a:picLocks noChangeAspect="1"/>
          </p:cNvPicPr>
          <p:nvPr/>
        </p:nvPicPr>
        <p:blipFill>
          <a:blip r:embed="rId6"/>
          <a:stretch>
            <a:fillRect/>
          </a:stretch>
        </p:blipFill>
        <p:spPr>
          <a:xfrm>
            <a:off x="8451799" y="2096719"/>
            <a:ext cx="241402" cy="241402"/>
          </a:xfrm>
          <a:prstGeom prst="rect">
            <a:avLst/>
          </a:prstGeom>
        </p:spPr>
      </p:pic>
      <p:sp>
        <p:nvSpPr>
          <p:cNvPr id="21" name="Text 15"/>
          <p:cNvSpPr/>
          <p:nvPr/>
        </p:nvSpPr>
        <p:spPr>
          <a:xfrm>
            <a:off x="8961120" y="1965960"/>
            <a:ext cx="2606040" cy="228600"/>
          </a:xfrm>
          <a:prstGeom prst="rect">
            <a:avLst/>
          </a:prstGeom>
          <a:noFill/>
          <a:ln/>
        </p:spPr>
        <p:txBody>
          <a:bodyPr wrap="square" lIns="0" tIns="0" rIns="0" bIns="0" rtlCol="0" anchor="ctr"/>
          <a:lstStyle/>
          <a:p>
            <a:pPr marL="0" indent="0">
              <a:buNone/>
            </a:pPr>
            <a:r>
              <a:rPr lang="en-US" sz="950" b="1" kern="0" spc="100" dirty="0">
                <a:solidFill>
                  <a:srgbClr val="00C2A8"/>
                </a:solidFill>
                <a:latin typeface="Calibri" pitchFamily="34" charset="0"/>
                <a:ea typeface="Calibri" pitchFamily="34" charset="-122"/>
                <a:cs typeface="Calibri" pitchFamily="34" charset="-120"/>
              </a:rPr>
              <a:t>ASSISTANT</a:t>
            </a:r>
            <a:endParaRPr lang="en-US" sz="950" dirty="0"/>
          </a:p>
        </p:txBody>
      </p:sp>
      <p:sp>
        <p:nvSpPr>
          <p:cNvPr id="22" name="Text 16"/>
          <p:cNvSpPr/>
          <p:nvPr/>
        </p:nvSpPr>
        <p:spPr>
          <a:xfrm>
            <a:off x="8961120" y="2185416"/>
            <a:ext cx="2606040" cy="274320"/>
          </a:xfrm>
          <a:prstGeom prst="rect">
            <a:avLst/>
          </a:prstGeom>
          <a:noFill/>
          <a:ln/>
        </p:spPr>
        <p:txBody>
          <a:bodyPr wrap="square" lIns="0" tIns="0" rIns="0" bIns="0" rtlCol="0" anchor="ctr"/>
          <a:lstStyle/>
          <a:p>
            <a:pPr marL="0" indent="0">
              <a:buNone/>
            </a:pPr>
            <a:r>
              <a:rPr lang="en-US" sz="1200" b="1" dirty="0">
                <a:solidFill>
                  <a:srgbClr val="1B1F3B"/>
                </a:solidFill>
                <a:latin typeface="Calibri" pitchFamily="34" charset="0"/>
                <a:ea typeface="Calibri" pitchFamily="34" charset="-122"/>
                <a:cs typeface="Calibri" pitchFamily="34" charset="-120"/>
              </a:rPr>
              <a:t>Siri, Alexa, Google Assistant</a:t>
            </a:r>
            <a:endParaRPr lang="en-US" sz="1200" dirty="0"/>
          </a:p>
        </p:txBody>
      </p:sp>
      <p:sp>
        <p:nvSpPr>
          <p:cNvPr id="23" name="Text 17"/>
          <p:cNvSpPr/>
          <p:nvPr/>
        </p:nvSpPr>
        <p:spPr>
          <a:xfrm>
            <a:off x="8321040" y="2651760"/>
            <a:ext cx="3246120" cy="502920"/>
          </a:xfrm>
          <a:prstGeom prst="rect">
            <a:avLst/>
          </a:prstGeom>
          <a:noFill/>
          <a:ln/>
        </p:spPr>
        <p:txBody>
          <a:bodyPr wrap="square" lIns="0" tIns="0" rIns="0" bIns="0" rtlCol="0" anchor="t"/>
          <a:lstStyle/>
          <a:p>
            <a:pPr marL="0" indent="0">
              <a:buNone/>
            </a:pPr>
            <a:r>
              <a:rPr lang="en-US" sz="1000" dirty="0">
                <a:solidFill>
                  <a:srgbClr val="6B7280"/>
                </a:solidFill>
                <a:latin typeface="Calibri" pitchFamily="34" charset="0"/>
                <a:ea typeface="Calibri" pitchFamily="34" charset="-122"/>
                <a:cs typeface="Calibri" pitchFamily="34" charset="-120"/>
              </a:rPr>
              <a:t>Handles voice requests across everyday tasks.</a:t>
            </a:r>
            <a:endParaRPr lang="en-US" sz="1000" dirty="0"/>
          </a:p>
        </p:txBody>
      </p:sp>
      <p:sp>
        <p:nvSpPr>
          <p:cNvPr id="24" name="Shape 18"/>
          <p:cNvSpPr/>
          <p:nvPr/>
        </p:nvSpPr>
        <p:spPr>
          <a:xfrm>
            <a:off x="548640" y="3474720"/>
            <a:ext cx="3611880" cy="1508760"/>
          </a:xfrm>
          <a:prstGeom prst="roundRect">
            <a:avLst>
              <a:gd name="adj" fmla="val 6061"/>
            </a:avLst>
          </a:prstGeom>
          <a:solidFill>
            <a:srgbClr val="FFFFFF"/>
          </a:solidFill>
          <a:ln/>
          <a:effectLst>
            <a:outerShdw blurRad="101600" dist="25400" dir="5400000" algn="bl" rotWithShape="0">
              <a:srgbClr val="1B1F3B">
                <a:alpha val="8000"/>
              </a:srgbClr>
            </a:outerShdw>
          </a:effectLst>
        </p:spPr>
        <p:txBody>
          <a:bodyPr/>
          <a:lstStyle/>
          <a:p>
            <a:endParaRPr lang="en-US"/>
          </a:p>
        </p:txBody>
      </p:sp>
      <p:sp>
        <p:nvSpPr>
          <p:cNvPr id="25" name="Shape 19"/>
          <p:cNvSpPr/>
          <p:nvPr/>
        </p:nvSpPr>
        <p:spPr>
          <a:xfrm>
            <a:off x="731520" y="3657600"/>
            <a:ext cx="502920" cy="502920"/>
          </a:xfrm>
          <a:prstGeom prst="ellipse">
            <a:avLst/>
          </a:prstGeom>
          <a:solidFill>
            <a:srgbClr val="EDEBFF"/>
          </a:solidFill>
          <a:ln/>
        </p:spPr>
        <p:txBody>
          <a:bodyPr/>
          <a:lstStyle/>
          <a:p>
            <a:endParaRPr lang="en-US"/>
          </a:p>
        </p:txBody>
      </p:sp>
      <p:pic>
        <p:nvPicPr>
          <p:cNvPr id="26" name="Image 4" descr="preencoded.png"/>
          <p:cNvPicPr>
            <a:picLocks noChangeAspect="1"/>
          </p:cNvPicPr>
          <p:nvPr/>
        </p:nvPicPr>
        <p:blipFill>
          <a:blip r:embed="rId7"/>
          <a:stretch>
            <a:fillRect/>
          </a:stretch>
        </p:blipFill>
        <p:spPr>
          <a:xfrm>
            <a:off x="862279" y="3788359"/>
            <a:ext cx="241402" cy="241402"/>
          </a:xfrm>
          <a:prstGeom prst="rect">
            <a:avLst/>
          </a:prstGeom>
        </p:spPr>
      </p:pic>
      <p:sp>
        <p:nvSpPr>
          <p:cNvPr id="27" name="Text 20"/>
          <p:cNvSpPr/>
          <p:nvPr/>
        </p:nvSpPr>
        <p:spPr>
          <a:xfrm>
            <a:off x="1371600" y="3657600"/>
            <a:ext cx="2606040" cy="228600"/>
          </a:xfrm>
          <a:prstGeom prst="rect">
            <a:avLst/>
          </a:prstGeom>
          <a:noFill/>
          <a:ln/>
        </p:spPr>
        <p:txBody>
          <a:bodyPr wrap="square" lIns="0" tIns="0" rIns="0" bIns="0" rtlCol="0" anchor="ctr"/>
          <a:lstStyle/>
          <a:p>
            <a:pPr marL="0" indent="0">
              <a:buNone/>
            </a:pPr>
            <a:r>
              <a:rPr lang="en-US" sz="950" b="1" kern="0" spc="100" dirty="0">
                <a:solidFill>
                  <a:srgbClr val="00C2A8"/>
                </a:solidFill>
                <a:latin typeface="Calibri" pitchFamily="34" charset="0"/>
                <a:ea typeface="Calibri" pitchFamily="34" charset="-122"/>
                <a:cs typeface="Calibri" pitchFamily="34" charset="-120"/>
              </a:rPr>
              <a:t>AGENTIC</a:t>
            </a:r>
            <a:endParaRPr lang="en-US" sz="950" dirty="0"/>
          </a:p>
        </p:txBody>
      </p:sp>
      <p:sp>
        <p:nvSpPr>
          <p:cNvPr id="28" name="Text 21"/>
          <p:cNvSpPr/>
          <p:nvPr/>
        </p:nvSpPr>
        <p:spPr>
          <a:xfrm>
            <a:off x="1371600" y="3877056"/>
            <a:ext cx="2606040" cy="274320"/>
          </a:xfrm>
          <a:prstGeom prst="rect">
            <a:avLst/>
          </a:prstGeom>
          <a:noFill/>
          <a:ln/>
        </p:spPr>
        <p:txBody>
          <a:bodyPr wrap="square" lIns="0" tIns="0" rIns="0" bIns="0" rtlCol="0" anchor="ctr"/>
          <a:lstStyle/>
          <a:p>
            <a:pPr marL="0" indent="0">
              <a:buNone/>
            </a:pPr>
            <a:r>
              <a:rPr lang="en-US" sz="1200" b="1" dirty="0">
                <a:solidFill>
                  <a:srgbClr val="1B1F3B"/>
                </a:solidFill>
                <a:latin typeface="Calibri" pitchFamily="34" charset="0"/>
                <a:ea typeface="Calibri" pitchFamily="34" charset="-122"/>
                <a:cs typeface="Calibri" pitchFamily="34" charset="-120"/>
              </a:rPr>
              <a:t>AI travel &amp; coding agents</a:t>
            </a:r>
            <a:endParaRPr lang="en-US" sz="1200" dirty="0"/>
          </a:p>
        </p:txBody>
      </p:sp>
      <p:sp>
        <p:nvSpPr>
          <p:cNvPr id="29" name="Text 22"/>
          <p:cNvSpPr/>
          <p:nvPr/>
        </p:nvSpPr>
        <p:spPr>
          <a:xfrm>
            <a:off x="731520" y="4343400"/>
            <a:ext cx="3246120" cy="502920"/>
          </a:xfrm>
          <a:prstGeom prst="rect">
            <a:avLst/>
          </a:prstGeom>
          <a:noFill/>
          <a:ln/>
        </p:spPr>
        <p:txBody>
          <a:bodyPr wrap="square" lIns="0" tIns="0" rIns="0" bIns="0" rtlCol="0" anchor="t"/>
          <a:lstStyle/>
          <a:p>
            <a:pPr marL="0" indent="0">
              <a:buNone/>
            </a:pPr>
            <a:r>
              <a:rPr lang="en-US" sz="1000" dirty="0">
                <a:solidFill>
                  <a:srgbClr val="6B7280"/>
                </a:solidFill>
                <a:latin typeface="Calibri" pitchFamily="34" charset="0"/>
                <a:ea typeface="Calibri" pitchFamily="34" charset="-122"/>
                <a:cs typeface="Calibri" pitchFamily="34" charset="-120"/>
              </a:rPr>
              <a:t>Plans, searches, and executes multi-step tasks.</a:t>
            </a:r>
            <a:endParaRPr lang="en-US" sz="1000" dirty="0"/>
          </a:p>
        </p:txBody>
      </p:sp>
      <p:sp>
        <p:nvSpPr>
          <p:cNvPr id="30" name="Shape 23"/>
          <p:cNvSpPr/>
          <p:nvPr/>
        </p:nvSpPr>
        <p:spPr>
          <a:xfrm>
            <a:off x="4343400" y="3474720"/>
            <a:ext cx="3611880" cy="1508760"/>
          </a:xfrm>
          <a:prstGeom prst="roundRect">
            <a:avLst>
              <a:gd name="adj" fmla="val 6061"/>
            </a:avLst>
          </a:prstGeom>
          <a:solidFill>
            <a:srgbClr val="FFFFFF"/>
          </a:solidFill>
          <a:ln/>
          <a:effectLst>
            <a:outerShdw blurRad="101600" dist="25400" dir="5400000" algn="bl" rotWithShape="0">
              <a:srgbClr val="1B1F3B">
                <a:alpha val="8000"/>
              </a:srgbClr>
            </a:outerShdw>
          </a:effectLst>
        </p:spPr>
        <p:txBody>
          <a:bodyPr/>
          <a:lstStyle/>
          <a:p>
            <a:endParaRPr lang="en-US"/>
          </a:p>
        </p:txBody>
      </p:sp>
      <p:sp>
        <p:nvSpPr>
          <p:cNvPr id="31" name="Shape 24"/>
          <p:cNvSpPr/>
          <p:nvPr/>
        </p:nvSpPr>
        <p:spPr>
          <a:xfrm>
            <a:off x="4526280" y="3657600"/>
            <a:ext cx="502920" cy="502920"/>
          </a:xfrm>
          <a:prstGeom prst="ellipse">
            <a:avLst/>
          </a:prstGeom>
          <a:solidFill>
            <a:srgbClr val="EDEBFF"/>
          </a:solidFill>
          <a:ln/>
        </p:spPr>
        <p:txBody>
          <a:bodyPr/>
          <a:lstStyle/>
          <a:p>
            <a:endParaRPr lang="en-US"/>
          </a:p>
        </p:txBody>
      </p:sp>
      <p:pic>
        <p:nvPicPr>
          <p:cNvPr id="32" name="Image 5" descr="preencoded.png"/>
          <p:cNvPicPr>
            <a:picLocks noChangeAspect="1"/>
          </p:cNvPicPr>
          <p:nvPr/>
        </p:nvPicPr>
        <p:blipFill>
          <a:blip r:embed="rId8"/>
          <a:stretch>
            <a:fillRect/>
          </a:stretch>
        </p:blipFill>
        <p:spPr>
          <a:xfrm>
            <a:off x="4657039" y="3788359"/>
            <a:ext cx="241402" cy="241402"/>
          </a:xfrm>
          <a:prstGeom prst="rect">
            <a:avLst/>
          </a:prstGeom>
        </p:spPr>
      </p:pic>
      <p:sp>
        <p:nvSpPr>
          <p:cNvPr id="33" name="Text 25"/>
          <p:cNvSpPr/>
          <p:nvPr/>
        </p:nvSpPr>
        <p:spPr>
          <a:xfrm>
            <a:off x="5166360" y="3657600"/>
            <a:ext cx="2606040" cy="228600"/>
          </a:xfrm>
          <a:prstGeom prst="rect">
            <a:avLst/>
          </a:prstGeom>
          <a:noFill/>
          <a:ln/>
        </p:spPr>
        <p:txBody>
          <a:bodyPr wrap="square" lIns="0" tIns="0" rIns="0" bIns="0" rtlCol="0" anchor="ctr"/>
          <a:lstStyle/>
          <a:p>
            <a:pPr marL="0" indent="0">
              <a:buNone/>
            </a:pPr>
            <a:r>
              <a:rPr lang="en-US" sz="950" b="1" kern="0" spc="100" dirty="0">
                <a:solidFill>
                  <a:srgbClr val="00C2A8"/>
                </a:solidFill>
                <a:latin typeface="Calibri" pitchFamily="34" charset="0"/>
                <a:ea typeface="Calibri" pitchFamily="34" charset="-122"/>
                <a:cs typeface="Calibri" pitchFamily="34" charset="-120"/>
              </a:rPr>
              <a:t>PREDICTIVE</a:t>
            </a:r>
            <a:endParaRPr lang="en-US" sz="950" dirty="0"/>
          </a:p>
        </p:txBody>
      </p:sp>
      <p:sp>
        <p:nvSpPr>
          <p:cNvPr id="34" name="Text 26"/>
          <p:cNvSpPr/>
          <p:nvPr/>
        </p:nvSpPr>
        <p:spPr>
          <a:xfrm>
            <a:off x="5166360" y="3877056"/>
            <a:ext cx="2606040" cy="274320"/>
          </a:xfrm>
          <a:prstGeom prst="rect">
            <a:avLst/>
          </a:prstGeom>
          <a:noFill/>
          <a:ln/>
        </p:spPr>
        <p:txBody>
          <a:bodyPr wrap="square" lIns="0" tIns="0" rIns="0" bIns="0" rtlCol="0" anchor="ctr"/>
          <a:lstStyle/>
          <a:p>
            <a:pPr marL="0" indent="0">
              <a:buNone/>
            </a:pPr>
            <a:r>
              <a:rPr lang="en-US" sz="1200" b="1" dirty="0">
                <a:solidFill>
                  <a:srgbClr val="1B1F3B"/>
                </a:solidFill>
                <a:latin typeface="Calibri" pitchFamily="34" charset="0"/>
                <a:ea typeface="Calibri" pitchFamily="34" charset="-122"/>
                <a:cs typeface="Calibri" pitchFamily="34" charset="-120"/>
              </a:rPr>
              <a:t>Fraud detection at checkout</a:t>
            </a:r>
            <a:endParaRPr lang="en-US" sz="1200" dirty="0"/>
          </a:p>
        </p:txBody>
      </p:sp>
      <p:sp>
        <p:nvSpPr>
          <p:cNvPr id="35" name="Text 27"/>
          <p:cNvSpPr/>
          <p:nvPr/>
        </p:nvSpPr>
        <p:spPr>
          <a:xfrm>
            <a:off x="4526280" y="4343400"/>
            <a:ext cx="3246120" cy="502920"/>
          </a:xfrm>
          <a:prstGeom prst="rect">
            <a:avLst/>
          </a:prstGeom>
          <a:noFill/>
          <a:ln/>
        </p:spPr>
        <p:txBody>
          <a:bodyPr wrap="square" lIns="0" tIns="0" rIns="0" bIns="0" rtlCol="0" anchor="t"/>
          <a:lstStyle/>
          <a:p>
            <a:pPr marL="0" indent="0">
              <a:buNone/>
            </a:pPr>
            <a:r>
              <a:rPr lang="en-US" sz="1000" dirty="0">
                <a:solidFill>
                  <a:srgbClr val="6B7280"/>
                </a:solidFill>
                <a:latin typeface="Calibri" pitchFamily="34" charset="0"/>
                <a:ea typeface="Calibri" pitchFamily="34" charset="-122"/>
                <a:cs typeface="Calibri" pitchFamily="34" charset="-120"/>
              </a:rPr>
              <a:t>Flags suspicious transactions in real time.</a:t>
            </a:r>
            <a:endParaRPr lang="en-US" sz="1000" dirty="0"/>
          </a:p>
        </p:txBody>
      </p:sp>
      <p:sp>
        <p:nvSpPr>
          <p:cNvPr id="36" name="Shape 28"/>
          <p:cNvSpPr/>
          <p:nvPr/>
        </p:nvSpPr>
        <p:spPr>
          <a:xfrm>
            <a:off x="8138160" y="3474720"/>
            <a:ext cx="3611880" cy="1508760"/>
          </a:xfrm>
          <a:prstGeom prst="roundRect">
            <a:avLst>
              <a:gd name="adj" fmla="val 6061"/>
            </a:avLst>
          </a:prstGeom>
          <a:solidFill>
            <a:srgbClr val="FFFFFF"/>
          </a:solidFill>
          <a:ln/>
          <a:effectLst>
            <a:outerShdw blurRad="101600" dist="25400" dir="5400000" algn="bl" rotWithShape="0">
              <a:srgbClr val="1B1F3B">
                <a:alpha val="8000"/>
              </a:srgbClr>
            </a:outerShdw>
          </a:effectLst>
        </p:spPr>
        <p:txBody>
          <a:bodyPr/>
          <a:lstStyle/>
          <a:p>
            <a:endParaRPr lang="en-US"/>
          </a:p>
        </p:txBody>
      </p:sp>
      <p:sp>
        <p:nvSpPr>
          <p:cNvPr id="37" name="Shape 29"/>
          <p:cNvSpPr/>
          <p:nvPr/>
        </p:nvSpPr>
        <p:spPr>
          <a:xfrm>
            <a:off x="8321040" y="3657600"/>
            <a:ext cx="502920" cy="502920"/>
          </a:xfrm>
          <a:prstGeom prst="ellipse">
            <a:avLst/>
          </a:prstGeom>
          <a:solidFill>
            <a:srgbClr val="EDEBFF"/>
          </a:solidFill>
          <a:ln/>
        </p:spPr>
        <p:txBody>
          <a:bodyPr/>
          <a:lstStyle/>
          <a:p>
            <a:endParaRPr lang="en-US"/>
          </a:p>
        </p:txBody>
      </p:sp>
      <p:pic>
        <p:nvPicPr>
          <p:cNvPr id="38" name="Image 6" descr="preencoded.png"/>
          <p:cNvPicPr>
            <a:picLocks noChangeAspect="1"/>
          </p:cNvPicPr>
          <p:nvPr/>
        </p:nvPicPr>
        <p:blipFill>
          <a:blip r:embed="rId9"/>
          <a:stretch>
            <a:fillRect/>
          </a:stretch>
        </p:blipFill>
        <p:spPr>
          <a:xfrm>
            <a:off x="8451799" y="3788359"/>
            <a:ext cx="241402" cy="241402"/>
          </a:xfrm>
          <a:prstGeom prst="rect">
            <a:avLst/>
          </a:prstGeom>
        </p:spPr>
      </p:pic>
      <p:sp>
        <p:nvSpPr>
          <p:cNvPr id="39" name="Text 30"/>
          <p:cNvSpPr/>
          <p:nvPr/>
        </p:nvSpPr>
        <p:spPr>
          <a:xfrm>
            <a:off x="8961120" y="3657600"/>
            <a:ext cx="2606040" cy="228600"/>
          </a:xfrm>
          <a:prstGeom prst="rect">
            <a:avLst/>
          </a:prstGeom>
          <a:noFill/>
          <a:ln/>
        </p:spPr>
        <p:txBody>
          <a:bodyPr wrap="square" lIns="0" tIns="0" rIns="0" bIns="0" rtlCol="0" anchor="ctr"/>
          <a:lstStyle/>
          <a:p>
            <a:pPr marL="0" indent="0">
              <a:buNone/>
            </a:pPr>
            <a:r>
              <a:rPr lang="en-US" sz="950" b="1" kern="0" spc="100" dirty="0">
                <a:solidFill>
                  <a:srgbClr val="00C2A8"/>
                </a:solidFill>
                <a:latin typeface="Calibri" pitchFamily="34" charset="0"/>
                <a:ea typeface="Calibri" pitchFamily="34" charset="-122"/>
                <a:cs typeface="Calibri" pitchFamily="34" charset="-120"/>
              </a:rPr>
              <a:t>AGENTIC</a:t>
            </a:r>
            <a:endParaRPr lang="en-US" sz="950" dirty="0"/>
          </a:p>
        </p:txBody>
      </p:sp>
      <p:sp>
        <p:nvSpPr>
          <p:cNvPr id="40" name="Text 31"/>
          <p:cNvSpPr/>
          <p:nvPr/>
        </p:nvSpPr>
        <p:spPr>
          <a:xfrm>
            <a:off x="8961120" y="3877056"/>
            <a:ext cx="2606040" cy="274320"/>
          </a:xfrm>
          <a:prstGeom prst="rect">
            <a:avLst/>
          </a:prstGeom>
          <a:noFill/>
          <a:ln/>
        </p:spPr>
        <p:txBody>
          <a:bodyPr wrap="square" lIns="0" tIns="0" rIns="0" bIns="0" rtlCol="0" anchor="ctr"/>
          <a:lstStyle/>
          <a:p>
            <a:pPr marL="0" indent="0">
              <a:buNone/>
            </a:pPr>
            <a:r>
              <a:rPr lang="en-US" sz="1200" b="1" dirty="0">
                <a:solidFill>
                  <a:srgbClr val="1B1F3B"/>
                </a:solidFill>
                <a:latin typeface="Calibri" pitchFamily="34" charset="0"/>
                <a:ea typeface="Calibri" pitchFamily="34" charset="-122"/>
                <a:cs typeface="Calibri" pitchFamily="34" charset="-120"/>
              </a:rPr>
              <a:t>Autonomous-driving stacks</a:t>
            </a:r>
            <a:endParaRPr lang="en-US" sz="1200" dirty="0"/>
          </a:p>
        </p:txBody>
      </p:sp>
      <p:sp>
        <p:nvSpPr>
          <p:cNvPr id="41" name="Text 32"/>
          <p:cNvSpPr/>
          <p:nvPr/>
        </p:nvSpPr>
        <p:spPr>
          <a:xfrm>
            <a:off x="8321040" y="4343400"/>
            <a:ext cx="3246120" cy="502920"/>
          </a:xfrm>
          <a:prstGeom prst="rect">
            <a:avLst/>
          </a:prstGeom>
          <a:noFill/>
          <a:ln/>
        </p:spPr>
        <p:txBody>
          <a:bodyPr wrap="square" lIns="0" tIns="0" rIns="0" bIns="0" rtlCol="0" anchor="t"/>
          <a:lstStyle/>
          <a:p>
            <a:pPr marL="0" indent="0">
              <a:buNone/>
            </a:pPr>
            <a:r>
              <a:rPr lang="en-US" sz="1000" dirty="0">
                <a:solidFill>
                  <a:srgbClr val="6B7280"/>
                </a:solidFill>
                <a:latin typeface="Calibri" pitchFamily="34" charset="0"/>
                <a:ea typeface="Calibri" pitchFamily="34" charset="-122"/>
                <a:cs typeface="Calibri" pitchFamily="34" charset="-120"/>
              </a:rPr>
              <a:t>Perceives, plans, and acts continuously to drive.</a:t>
            </a:r>
            <a:endParaRPr lang="en-US" sz="1000" dirty="0"/>
          </a:p>
        </p:txBody>
      </p:sp>
      <p:sp>
        <p:nvSpPr>
          <p:cNvPr id="42" name="Text 33"/>
          <p:cNvSpPr/>
          <p:nvPr/>
        </p:nvSpPr>
        <p:spPr>
          <a:xfrm>
            <a:off x="548640" y="5394960"/>
            <a:ext cx="11109960" cy="365760"/>
          </a:xfrm>
          <a:prstGeom prst="rect">
            <a:avLst/>
          </a:prstGeom>
          <a:noFill/>
          <a:ln/>
        </p:spPr>
        <p:txBody>
          <a:bodyPr wrap="square" lIns="0" tIns="0" rIns="0" bIns="0" rtlCol="0" anchor="ctr"/>
          <a:lstStyle/>
          <a:p>
            <a:pPr marL="0" indent="0" algn="ctr">
              <a:buNone/>
            </a:pPr>
            <a:r>
              <a:rPr lang="en-US" sz="1250" i="1" dirty="0">
                <a:solidFill>
                  <a:srgbClr val="6B7280"/>
                </a:solidFill>
                <a:latin typeface="Calibri" pitchFamily="34" charset="0"/>
                <a:ea typeface="Calibri" pitchFamily="34" charset="-122"/>
                <a:cs typeface="Calibri" pitchFamily="34" charset="-120"/>
              </a:rPr>
              <a:t>Most real products blend these categories rather than being purely one type.</a:t>
            </a:r>
            <a:endParaRPr lang="en-US" sz="1250" dirty="0"/>
          </a:p>
        </p:txBody>
      </p:sp>
      <p:sp>
        <p:nvSpPr>
          <p:cNvPr id="44" name="Text 34"/>
          <p:cNvSpPr/>
          <p:nvPr/>
        </p:nvSpPr>
        <p:spPr>
          <a:xfrm>
            <a:off x="457200" y="6446520"/>
            <a:ext cx="7315200" cy="274320"/>
          </a:xfrm>
          <a:prstGeom prst="rect">
            <a:avLst/>
          </a:prstGeom>
          <a:noFill/>
          <a:ln/>
        </p:spPr>
        <p:txBody>
          <a:bodyPr wrap="square" lIns="0" tIns="0" rIns="0" bIns="0"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SYMBIOSIS  |  Autonomous AI Systems &amp; Agent-Based Computing</a:t>
            </a:r>
            <a:endParaRPr lang="en-US" sz="900" dirty="0"/>
          </a:p>
        </p:txBody>
      </p:sp>
      <p:sp>
        <p:nvSpPr>
          <p:cNvPr id="45" name="Text 35"/>
          <p:cNvSpPr/>
          <p:nvPr/>
        </p:nvSpPr>
        <p:spPr>
          <a:xfrm>
            <a:off x="10085832" y="6446520"/>
            <a:ext cx="164592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Session 1  ·  9/12</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BA5FD6-FD4C-26C3-6826-E53CDAEB14DA}"/>
            </a:ext>
          </a:extLst>
        </p:cNvPr>
        <p:cNvGrpSpPr/>
        <p:nvPr/>
      </p:nvGrpSpPr>
      <p:grpSpPr>
        <a:xfrm>
          <a:off x="0" y="0"/>
          <a:ext cx="0" cy="0"/>
          <a:chOff x="0" y="0"/>
          <a:chExt cx="0" cy="0"/>
        </a:xfrm>
      </p:grpSpPr>
      <p:sp>
        <p:nvSpPr>
          <p:cNvPr id="40" name="Text 36">
            <a:extLst>
              <a:ext uri="{FF2B5EF4-FFF2-40B4-BE49-F238E27FC236}">
                <a16:creationId xmlns:a16="http://schemas.microsoft.com/office/drawing/2014/main" id="{BA087CDA-DFB0-8C74-08E1-13FC4E7A985E}"/>
              </a:ext>
            </a:extLst>
          </p:cNvPr>
          <p:cNvSpPr/>
          <p:nvPr/>
        </p:nvSpPr>
        <p:spPr>
          <a:xfrm>
            <a:off x="457200" y="6446520"/>
            <a:ext cx="7315200" cy="274320"/>
          </a:xfrm>
          <a:prstGeom prst="rect">
            <a:avLst/>
          </a:prstGeom>
          <a:noFill/>
          <a:ln/>
        </p:spPr>
        <p:txBody>
          <a:bodyPr wrap="square" lIns="0" tIns="0" rIns="0" bIns="0"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SYMBIOSIS  |  Autonomous AI Systems &amp; Agent-Based Computing</a:t>
            </a:r>
            <a:endParaRPr lang="en-US" sz="900" dirty="0"/>
          </a:p>
        </p:txBody>
      </p:sp>
      <p:pic>
        <p:nvPicPr>
          <p:cNvPr id="3" name="Picture 2">
            <a:extLst>
              <a:ext uri="{FF2B5EF4-FFF2-40B4-BE49-F238E27FC236}">
                <a16:creationId xmlns:a16="http://schemas.microsoft.com/office/drawing/2014/main" id="{25C41353-0E82-5FD0-1E3E-0870C66FEB4E}"/>
              </a:ext>
            </a:extLst>
          </p:cNvPr>
          <p:cNvPicPr>
            <a:picLocks noChangeAspect="1"/>
          </p:cNvPicPr>
          <p:nvPr/>
        </p:nvPicPr>
        <p:blipFill>
          <a:blip r:embed="rId3"/>
          <a:stretch>
            <a:fillRect/>
          </a:stretch>
        </p:blipFill>
        <p:spPr>
          <a:xfrm>
            <a:off x="0" y="0"/>
            <a:ext cx="12192000" cy="6966856"/>
          </a:xfrm>
          <a:prstGeom prst="rect">
            <a:avLst/>
          </a:prstGeom>
        </p:spPr>
      </p:pic>
    </p:spTree>
    <p:extLst>
      <p:ext uri="{BB962C8B-B14F-4D97-AF65-F5344CB8AC3E}">
        <p14:creationId xmlns:p14="http://schemas.microsoft.com/office/powerpoint/2010/main" val="33268752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bg>
      <p:bgPr>
        <a:solidFill>
          <a:srgbClr val="F5F6FA"/>
        </a:solidFill>
        <a:effectLst/>
      </p:bgPr>
    </p:bg>
    <p:spTree>
      <p:nvGrpSpPr>
        <p:cNvPr id="1" name=""/>
        <p:cNvGrpSpPr/>
        <p:nvPr/>
      </p:nvGrpSpPr>
      <p:grpSpPr>
        <a:xfrm>
          <a:off x="0" y="0"/>
          <a:ext cx="0" cy="0"/>
          <a:chOff x="0" y="0"/>
          <a:chExt cx="0" cy="0"/>
        </a:xfrm>
      </p:grpSpPr>
      <p:sp>
        <p:nvSpPr>
          <p:cNvPr id="2" name="Shape 0"/>
          <p:cNvSpPr/>
          <p:nvPr/>
        </p:nvSpPr>
        <p:spPr>
          <a:xfrm>
            <a:off x="548640" y="457200"/>
            <a:ext cx="640080" cy="640080"/>
          </a:xfrm>
          <a:prstGeom prst="ellipse">
            <a:avLst/>
          </a:prstGeom>
          <a:solidFill>
            <a:srgbClr val="EDEBFF"/>
          </a:solidFill>
          <a:ln/>
        </p:spPr>
        <p:txBody>
          <a:bodyPr/>
          <a:lstStyle/>
          <a:p>
            <a:endParaRPr lang="en-US"/>
          </a:p>
        </p:txBody>
      </p:sp>
      <p:pic>
        <p:nvPicPr>
          <p:cNvPr id="3" name="Image 0" descr="preencoded.png"/>
          <p:cNvPicPr>
            <a:picLocks noChangeAspect="1"/>
          </p:cNvPicPr>
          <p:nvPr/>
        </p:nvPicPr>
        <p:blipFill>
          <a:blip r:embed="rId3"/>
          <a:stretch>
            <a:fillRect/>
          </a:stretch>
        </p:blipFill>
        <p:spPr>
          <a:xfrm>
            <a:off x="715061" y="623621"/>
            <a:ext cx="307238" cy="307238"/>
          </a:xfrm>
          <a:prstGeom prst="rect">
            <a:avLst/>
          </a:prstGeom>
        </p:spPr>
      </p:pic>
      <p:sp>
        <p:nvSpPr>
          <p:cNvPr id="4" name="Text 1"/>
          <p:cNvSpPr/>
          <p:nvPr/>
        </p:nvSpPr>
        <p:spPr>
          <a:xfrm>
            <a:off x="1371600" y="457200"/>
            <a:ext cx="8229600" cy="274320"/>
          </a:xfrm>
          <a:prstGeom prst="rect">
            <a:avLst/>
          </a:prstGeom>
          <a:noFill/>
          <a:ln/>
        </p:spPr>
        <p:txBody>
          <a:bodyPr wrap="square" lIns="0" tIns="0" rIns="0" bIns="0" rtlCol="0" anchor="ctr"/>
          <a:lstStyle/>
          <a:p>
            <a:pPr marL="0" indent="0">
              <a:buNone/>
            </a:pPr>
            <a:r>
              <a:rPr lang="en-US" sz="1200" b="1" kern="0" spc="200" dirty="0">
                <a:solidFill>
                  <a:srgbClr val="00C2A8"/>
                </a:solidFill>
                <a:latin typeface="Calibri" pitchFamily="34" charset="0"/>
                <a:ea typeface="Calibri" pitchFamily="34" charset="-122"/>
                <a:cs typeface="Calibri" pitchFamily="34" charset="-120"/>
              </a:rPr>
              <a:t>HANDS-ON LAB</a:t>
            </a:r>
            <a:endParaRPr lang="en-US" sz="1200" dirty="0"/>
          </a:p>
        </p:txBody>
      </p:sp>
      <p:sp>
        <p:nvSpPr>
          <p:cNvPr id="5" name="Text 2"/>
          <p:cNvSpPr/>
          <p:nvPr/>
        </p:nvSpPr>
        <p:spPr>
          <a:xfrm>
            <a:off x="1371600" y="713232"/>
            <a:ext cx="10058400" cy="640080"/>
          </a:xfrm>
          <a:prstGeom prst="rect">
            <a:avLst/>
          </a:prstGeom>
          <a:noFill/>
          <a:ln/>
        </p:spPr>
        <p:txBody>
          <a:bodyPr wrap="square" lIns="0" tIns="0" rIns="0" bIns="0" rtlCol="0" anchor="ctr"/>
          <a:lstStyle/>
          <a:p>
            <a:pPr marL="0" indent="0">
              <a:buNone/>
            </a:pPr>
            <a:r>
              <a:rPr lang="en-US" sz="3000" b="1" dirty="0">
                <a:solidFill>
                  <a:srgbClr val="1B1F3B"/>
                </a:solidFill>
                <a:latin typeface="Cambria" pitchFamily="34" charset="0"/>
                <a:ea typeface="Cambria" pitchFamily="34" charset="-122"/>
                <a:cs typeface="Cambria" pitchFamily="34" charset="-120"/>
              </a:rPr>
              <a:t>Classroom Exercise: Generate a Resume with GenAI</a:t>
            </a:r>
            <a:endParaRPr lang="en-US" sz="3000" dirty="0"/>
          </a:p>
        </p:txBody>
      </p:sp>
      <p:sp>
        <p:nvSpPr>
          <p:cNvPr id="6" name="Shape 3"/>
          <p:cNvSpPr/>
          <p:nvPr/>
        </p:nvSpPr>
        <p:spPr>
          <a:xfrm>
            <a:off x="548640" y="1691640"/>
            <a:ext cx="6309360" cy="4160520"/>
          </a:xfrm>
          <a:prstGeom prst="roundRect">
            <a:avLst>
              <a:gd name="adj" fmla="val 2198"/>
            </a:avLst>
          </a:prstGeom>
          <a:solidFill>
            <a:srgbClr val="FFFFFF"/>
          </a:solidFill>
          <a:ln/>
          <a:effectLst>
            <a:outerShdw blurRad="101600" dist="25400" dir="5400000" algn="bl" rotWithShape="0">
              <a:srgbClr val="1B1F3B">
                <a:alpha val="8000"/>
              </a:srgbClr>
            </a:outerShdw>
          </a:effectLst>
        </p:spPr>
        <p:txBody>
          <a:bodyPr/>
          <a:lstStyle/>
          <a:p>
            <a:endParaRPr lang="en-US"/>
          </a:p>
        </p:txBody>
      </p:sp>
      <p:sp>
        <p:nvSpPr>
          <p:cNvPr id="7" name="Text 4"/>
          <p:cNvSpPr/>
          <p:nvPr/>
        </p:nvSpPr>
        <p:spPr>
          <a:xfrm>
            <a:off x="822960" y="1874520"/>
            <a:ext cx="5760720" cy="320040"/>
          </a:xfrm>
          <a:prstGeom prst="rect">
            <a:avLst/>
          </a:prstGeom>
          <a:noFill/>
          <a:ln/>
        </p:spPr>
        <p:txBody>
          <a:bodyPr wrap="square" lIns="0" tIns="0" rIns="0" bIns="0" rtlCol="0" anchor="ctr"/>
          <a:lstStyle/>
          <a:p>
            <a:pPr marL="0" indent="0">
              <a:buNone/>
            </a:pPr>
            <a:r>
              <a:rPr lang="en-US" sz="1300" b="1" dirty="0">
                <a:solidFill>
                  <a:srgbClr val="6C63FF"/>
                </a:solidFill>
                <a:latin typeface="Calibri" pitchFamily="34" charset="0"/>
                <a:ea typeface="Calibri" pitchFamily="34" charset="-122"/>
                <a:cs typeface="Calibri" pitchFamily="34" charset="-120"/>
              </a:rPr>
              <a:t>Steps</a:t>
            </a:r>
            <a:endParaRPr lang="en-US" sz="1300" dirty="0"/>
          </a:p>
        </p:txBody>
      </p:sp>
      <p:sp>
        <p:nvSpPr>
          <p:cNvPr id="8" name="Text 5"/>
          <p:cNvSpPr/>
          <p:nvPr/>
        </p:nvSpPr>
        <p:spPr>
          <a:xfrm>
            <a:off x="822960" y="2240280"/>
            <a:ext cx="5760720" cy="3474720"/>
          </a:xfrm>
          <a:prstGeom prst="rect">
            <a:avLst/>
          </a:prstGeom>
          <a:noFill/>
          <a:ln/>
        </p:spPr>
        <p:txBody>
          <a:bodyPr wrap="square" rtlCol="0" anchor="t"/>
          <a:lstStyle/>
          <a:p>
            <a:pPr marL="342900" indent="-342900">
              <a:spcAft>
                <a:spcPts val="1000"/>
              </a:spcAft>
              <a:buSzPct val="100000"/>
              <a:buFont typeface="+mj-lt"/>
              <a:buAutoNum type="arabicPeriod"/>
            </a:pPr>
            <a:r>
              <a:rPr lang="en-US" sz="1200" dirty="0">
                <a:solidFill>
                  <a:srgbClr val="1B1F3B"/>
                </a:solidFill>
                <a:latin typeface="Calibri" pitchFamily="34" charset="0"/>
                <a:ea typeface="Calibri" pitchFamily="34" charset="-122"/>
                <a:cs typeface="Calibri" pitchFamily="34" charset="-120"/>
              </a:rPr>
              <a:t>Invent a fictional student profile (name, degree, skills, one internship/project).</a:t>
            </a:r>
            <a:endParaRPr lang="en-US" sz="1200" dirty="0"/>
          </a:p>
          <a:p>
            <a:pPr marL="342900" indent="-342900">
              <a:spcAft>
                <a:spcPts val="1000"/>
              </a:spcAft>
              <a:buSzPct val="100000"/>
              <a:buFont typeface="+mj-lt"/>
              <a:buAutoNum type="arabicPeriod"/>
            </a:pPr>
            <a:r>
              <a:rPr lang="en-US" sz="1200" dirty="0">
                <a:solidFill>
                  <a:srgbClr val="1B1F3B"/>
                </a:solidFill>
                <a:latin typeface="Calibri" pitchFamily="34" charset="0"/>
                <a:ea typeface="Calibri" pitchFamily="34" charset="-122"/>
                <a:cs typeface="Calibri" pitchFamily="34" charset="-120"/>
              </a:rPr>
              <a:t>Open any GenAI tool (ChatGPT, Claude, Gemini, or Copilot).</a:t>
            </a:r>
            <a:endParaRPr lang="en-US" sz="1200" dirty="0"/>
          </a:p>
          <a:p>
            <a:pPr marL="342900" indent="-342900">
              <a:spcAft>
                <a:spcPts val="1000"/>
              </a:spcAft>
              <a:buSzPct val="100000"/>
              <a:buFont typeface="+mj-lt"/>
              <a:buAutoNum type="arabicPeriod"/>
            </a:pPr>
            <a:r>
              <a:rPr lang="en-US" sz="1200" dirty="0">
                <a:solidFill>
                  <a:srgbClr val="1B1F3B"/>
                </a:solidFill>
                <a:latin typeface="Calibri" pitchFamily="34" charset="0"/>
                <a:ea typeface="Calibri" pitchFamily="34" charset="-122"/>
                <a:cs typeface="Calibri" pitchFamily="34" charset="-120"/>
              </a:rPr>
              <a:t>Write a prompt asking it to generate a one-page resume for that profile.</a:t>
            </a:r>
            <a:endParaRPr lang="en-US" sz="1200" dirty="0"/>
          </a:p>
          <a:p>
            <a:pPr marL="342900" indent="-342900">
              <a:spcAft>
                <a:spcPts val="1000"/>
              </a:spcAft>
              <a:buSzPct val="100000"/>
              <a:buFont typeface="+mj-lt"/>
              <a:buAutoNum type="arabicPeriod"/>
            </a:pPr>
            <a:r>
              <a:rPr lang="en-US" sz="1200" dirty="0">
                <a:solidFill>
                  <a:srgbClr val="1B1F3B"/>
                </a:solidFill>
                <a:latin typeface="Calibri" pitchFamily="34" charset="0"/>
                <a:ea typeface="Calibri" pitchFamily="34" charset="-122"/>
                <a:cs typeface="Calibri" pitchFamily="34" charset="-120"/>
              </a:rPr>
              <a:t>Review the output — is it complete, realistic, and well-formatted?</a:t>
            </a:r>
            <a:endParaRPr lang="en-US" sz="1200" dirty="0"/>
          </a:p>
          <a:p>
            <a:pPr marL="342900" indent="-342900">
              <a:spcAft>
                <a:spcPts val="1000"/>
              </a:spcAft>
              <a:buSzPct val="100000"/>
              <a:buFont typeface="+mj-lt"/>
              <a:buAutoNum type="arabicPeriod"/>
            </a:pPr>
            <a:r>
              <a:rPr lang="en-US" sz="1200" dirty="0">
                <a:solidFill>
                  <a:srgbClr val="1B1F3B"/>
                </a:solidFill>
                <a:latin typeface="Calibri" pitchFamily="34" charset="0"/>
                <a:ea typeface="Calibri" pitchFamily="34" charset="-122"/>
                <a:cs typeface="Calibri" pitchFamily="34" charset="-120"/>
              </a:rPr>
              <a:t>Present: show your prompt + the generated resume to the class.</a:t>
            </a:r>
            <a:endParaRPr lang="en-US" sz="1200" dirty="0"/>
          </a:p>
        </p:txBody>
      </p:sp>
      <p:sp>
        <p:nvSpPr>
          <p:cNvPr id="9" name="Shape 6"/>
          <p:cNvSpPr/>
          <p:nvPr/>
        </p:nvSpPr>
        <p:spPr>
          <a:xfrm>
            <a:off x="7086600" y="1691640"/>
            <a:ext cx="4553712" cy="1965960"/>
          </a:xfrm>
          <a:prstGeom prst="roundRect">
            <a:avLst>
              <a:gd name="adj" fmla="val 4651"/>
            </a:avLst>
          </a:prstGeom>
          <a:solidFill>
            <a:srgbClr val="1B1F3B"/>
          </a:solidFill>
          <a:ln/>
        </p:spPr>
        <p:txBody>
          <a:bodyPr/>
          <a:lstStyle/>
          <a:p>
            <a:endParaRPr lang="en-US"/>
          </a:p>
        </p:txBody>
      </p:sp>
      <p:sp>
        <p:nvSpPr>
          <p:cNvPr id="10" name="Shape 7"/>
          <p:cNvSpPr/>
          <p:nvPr/>
        </p:nvSpPr>
        <p:spPr>
          <a:xfrm>
            <a:off x="7315200" y="1920240"/>
            <a:ext cx="502920" cy="502920"/>
          </a:xfrm>
          <a:prstGeom prst="ellipse">
            <a:avLst/>
          </a:prstGeom>
          <a:solidFill>
            <a:srgbClr val="2B2F55"/>
          </a:solidFill>
          <a:ln/>
        </p:spPr>
        <p:txBody>
          <a:bodyPr/>
          <a:lstStyle/>
          <a:p>
            <a:endParaRPr lang="en-US"/>
          </a:p>
        </p:txBody>
      </p:sp>
      <p:pic>
        <p:nvPicPr>
          <p:cNvPr id="11" name="Image 1" descr="preencoded.png"/>
          <p:cNvPicPr>
            <a:picLocks noChangeAspect="1"/>
          </p:cNvPicPr>
          <p:nvPr/>
        </p:nvPicPr>
        <p:blipFill>
          <a:blip r:embed="rId4"/>
          <a:stretch>
            <a:fillRect/>
          </a:stretch>
        </p:blipFill>
        <p:spPr>
          <a:xfrm>
            <a:off x="7445959" y="2050999"/>
            <a:ext cx="241402" cy="241402"/>
          </a:xfrm>
          <a:prstGeom prst="rect">
            <a:avLst/>
          </a:prstGeom>
        </p:spPr>
      </p:pic>
      <p:sp>
        <p:nvSpPr>
          <p:cNvPr id="12" name="Text 8"/>
          <p:cNvSpPr/>
          <p:nvPr/>
        </p:nvSpPr>
        <p:spPr>
          <a:xfrm>
            <a:off x="7955280" y="1920240"/>
            <a:ext cx="3566160" cy="320040"/>
          </a:xfrm>
          <a:prstGeom prst="rect">
            <a:avLst/>
          </a:prstGeom>
          <a:noFill/>
          <a:ln/>
        </p:spPr>
        <p:txBody>
          <a:bodyPr wrap="square" lIns="0" tIns="0" rIns="0" bIns="0" rtlCol="0" anchor="ctr"/>
          <a:lstStyle/>
          <a:p>
            <a:pPr marL="0" indent="0">
              <a:buNone/>
            </a:pPr>
            <a:r>
              <a:rPr lang="en-US" sz="1300" b="1" dirty="0">
                <a:solidFill>
                  <a:srgbClr val="00C2A8"/>
                </a:solidFill>
                <a:latin typeface="Calibri" pitchFamily="34" charset="0"/>
                <a:ea typeface="Calibri" pitchFamily="34" charset="-122"/>
                <a:cs typeface="Calibri" pitchFamily="34" charset="-120"/>
              </a:rPr>
              <a:t>Goal</a:t>
            </a:r>
            <a:endParaRPr lang="en-US" sz="1300" dirty="0"/>
          </a:p>
        </p:txBody>
      </p:sp>
      <p:sp>
        <p:nvSpPr>
          <p:cNvPr id="13" name="Text 9"/>
          <p:cNvSpPr/>
          <p:nvPr/>
        </p:nvSpPr>
        <p:spPr>
          <a:xfrm>
            <a:off x="7315200" y="2331720"/>
            <a:ext cx="4114800" cy="1234440"/>
          </a:xfrm>
          <a:prstGeom prst="rect">
            <a:avLst/>
          </a:prstGeom>
          <a:noFill/>
          <a:ln/>
        </p:spPr>
        <p:txBody>
          <a:bodyPr wrap="square" lIns="0" tIns="0" rIns="0" bIns="0" rtlCol="0" anchor="t"/>
          <a:lstStyle/>
          <a:p>
            <a:pPr marL="0" indent="0">
              <a:buNone/>
            </a:pPr>
            <a:r>
              <a:rPr lang="en-US" sz="1150" dirty="0">
                <a:solidFill>
                  <a:srgbClr val="E4E3F7"/>
                </a:solidFill>
                <a:latin typeface="Calibri" pitchFamily="34" charset="0"/>
                <a:ea typeface="Calibri" pitchFamily="34" charset="-122"/>
                <a:cs typeface="Calibri" pitchFamily="34" charset="-120"/>
              </a:rPr>
              <a:t>See content generation as your first hands-on use of Generative AI — no coding required yet.</a:t>
            </a:r>
            <a:endParaRPr lang="en-US" sz="1150" dirty="0"/>
          </a:p>
        </p:txBody>
      </p:sp>
      <p:sp>
        <p:nvSpPr>
          <p:cNvPr id="14" name="Shape 10"/>
          <p:cNvSpPr/>
          <p:nvPr/>
        </p:nvSpPr>
        <p:spPr>
          <a:xfrm>
            <a:off x="7086600" y="3840480"/>
            <a:ext cx="4553712" cy="2011680"/>
          </a:xfrm>
          <a:prstGeom prst="roundRect">
            <a:avLst>
              <a:gd name="adj" fmla="val 4545"/>
            </a:avLst>
          </a:prstGeom>
          <a:solidFill>
            <a:srgbClr val="FFFFFF"/>
          </a:solidFill>
          <a:ln/>
          <a:effectLst>
            <a:outerShdw blurRad="101600" dist="25400" dir="5400000" algn="bl" rotWithShape="0">
              <a:srgbClr val="1B1F3B">
                <a:alpha val="8000"/>
              </a:srgbClr>
            </a:outerShdw>
          </a:effectLst>
        </p:spPr>
        <p:txBody>
          <a:bodyPr/>
          <a:lstStyle/>
          <a:p>
            <a:endParaRPr lang="en-US"/>
          </a:p>
        </p:txBody>
      </p:sp>
      <p:sp>
        <p:nvSpPr>
          <p:cNvPr id="15" name="Shape 11"/>
          <p:cNvSpPr/>
          <p:nvPr/>
        </p:nvSpPr>
        <p:spPr>
          <a:xfrm>
            <a:off x="7315200" y="4069080"/>
            <a:ext cx="502920" cy="502920"/>
          </a:xfrm>
          <a:prstGeom prst="ellipse">
            <a:avLst/>
          </a:prstGeom>
          <a:solidFill>
            <a:srgbClr val="E2FBF6"/>
          </a:solidFill>
          <a:ln/>
        </p:spPr>
        <p:txBody>
          <a:bodyPr/>
          <a:lstStyle/>
          <a:p>
            <a:endParaRPr lang="en-US"/>
          </a:p>
        </p:txBody>
      </p:sp>
      <p:pic>
        <p:nvPicPr>
          <p:cNvPr id="16" name="Image 2" descr="preencoded.png"/>
          <p:cNvPicPr>
            <a:picLocks noChangeAspect="1"/>
          </p:cNvPicPr>
          <p:nvPr/>
        </p:nvPicPr>
        <p:blipFill>
          <a:blip r:embed="rId5"/>
          <a:stretch>
            <a:fillRect/>
          </a:stretch>
        </p:blipFill>
        <p:spPr>
          <a:xfrm>
            <a:off x="7445959" y="4199839"/>
            <a:ext cx="241402" cy="241402"/>
          </a:xfrm>
          <a:prstGeom prst="rect">
            <a:avLst/>
          </a:prstGeom>
        </p:spPr>
      </p:pic>
      <p:sp>
        <p:nvSpPr>
          <p:cNvPr id="17" name="Text 12"/>
          <p:cNvSpPr/>
          <p:nvPr/>
        </p:nvSpPr>
        <p:spPr>
          <a:xfrm>
            <a:off x="7955280" y="4069080"/>
            <a:ext cx="3566160" cy="320040"/>
          </a:xfrm>
          <a:prstGeom prst="rect">
            <a:avLst/>
          </a:prstGeom>
          <a:noFill/>
          <a:ln/>
        </p:spPr>
        <p:txBody>
          <a:bodyPr wrap="square" lIns="0" tIns="0" rIns="0" bIns="0" rtlCol="0" anchor="ctr"/>
          <a:lstStyle/>
          <a:p>
            <a:pPr marL="0" indent="0">
              <a:buNone/>
            </a:pPr>
            <a:r>
              <a:rPr lang="en-US" sz="1300" b="1" dirty="0">
                <a:solidFill>
                  <a:srgbClr val="00C2A8"/>
                </a:solidFill>
                <a:latin typeface="Calibri" pitchFamily="34" charset="0"/>
                <a:ea typeface="Calibri" pitchFamily="34" charset="-122"/>
                <a:cs typeface="Calibri" pitchFamily="34" charset="-120"/>
              </a:rPr>
              <a:t>Deliverable</a:t>
            </a:r>
            <a:endParaRPr lang="en-US" sz="1300" dirty="0"/>
          </a:p>
        </p:txBody>
      </p:sp>
      <p:sp>
        <p:nvSpPr>
          <p:cNvPr id="18" name="Text 13"/>
          <p:cNvSpPr/>
          <p:nvPr/>
        </p:nvSpPr>
        <p:spPr>
          <a:xfrm>
            <a:off x="7315200" y="4480560"/>
            <a:ext cx="4114800" cy="1280160"/>
          </a:xfrm>
          <a:prstGeom prst="rect">
            <a:avLst/>
          </a:prstGeom>
          <a:noFill/>
          <a:ln/>
        </p:spPr>
        <p:txBody>
          <a:bodyPr wrap="square" lIns="0" tIns="0" rIns="0" bIns="0" rtlCol="0" anchor="t"/>
          <a:lstStyle/>
          <a:p>
            <a:pPr marL="0" indent="0">
              <a:buNone/>
            </a:pPr>
            <a:r>
              <a:rPr lang="en-US" sz="1150" dirty="0">
                <a:solidFill>
                  <a:srgbClr val="1B1F3B"/>
                </a:solidFill>
                <a:latin typeface="Calibri" pitchFamily="34" charset="0"/>
                <a:ea typeface="Calibri" pitchFamily="34" charset="-122"/>
                <a:cs typeface="Calibri" pitchFamily="34" charset="-120"/>
              </a:rPr>
              <a:t>The prompt you used + the generated resume, ready to present. Keep both — you'll reuse and refine this in Session 2 &amp; 3.</a:t>
            </a:r>
            <a:endParaRPr lang="en-US" sz="1150" dirty="0"/>
          </a:p>
        </p:txBody>
      </p:sp>
      <p:sp>
        <p:nvSpPr>
          <p:cNvPr id="20" name="Text 14"/>
          <p:cNvSpPr/>
          <p:nvPr/>
        </p:nvSpPr>
        <p:spPr>
          <a:xfrm>
            <a:off x="457200" y="6446520"/>
            <a:ext cx="7315200" cy="274320"/>
          </a:xfrm>
          <a:prstGeom prst="rect">
            <a:avLst/>
          </a:prstGeom>
          <a:noFill/>
          <a:ln/>
        </p:spPr>
        <p:txBody>
          <a:bodyPr wrap="square" lIns="0" tIns="0" rIns="0" bIns="0"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SYMBIOSIS  |  Autonomous AI Systems &amp; Agent-Based Computing</a:t>
            </a:r>
            <a:endParaRPr lang="en-US" sz="900" dirty="0"/>
          </a:p>
        </p:txBody>
      </p:sp>
      <p:sp>
        <p:nvSpPr>
          <p:cNvPr id="21" name="Text 15"/>
          <p:cNvSpPr/>
          <p:nvPr/>
        </p:nvSpPr>
        <p:spPr>
          <a:xfrm>
            <a:off x="10085832" y="6446520"/>
            <a:ext cx="164592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Session 1  ·  10/12</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1">
    <p:bg>
      <p:bgPr>
        <a:solidFill>
          <a:srgbClr val="1B1F3B"/>
        </a:solidFill>
        <a:effectLst/>
      </p:bgPr>
    </p:bg>
    <p:spTree>
      <p:nvGrpSpPr>
        <p:cNvPr id="1" name=""/>
        <p:cNvGrpSpPr/>
        <p:nvPr/>
      </p:nvGrpSpPr>
      <p:grpSpPr>
        <a:xfrm>
          <a:off x="0" y="0"/>
          <a:ext cx="0" cy="0"/>
          <a:chOff x="0" y="0"/>
          <a:chExt cx="0" cy="0"/>
        </a:xfrm>
      </p:grpSpPr>
      <p:sp>
        <p:nvSpPr>
          <p:cNvPr id="2" name="Shape 0"/>
          <p:cNvSpPr/>
          <p:nvPr/>
        </p:nvSpPr>
        <p:spPr>
          <a:xfrm>
            <a:off x="548640" y="457200"/>
            <a:ext cx="640080" cy="640080"/>
          </a:xfrm>
          <a:prstGeom prst="ellipse">
            <a:avLst/>
          </a:prstGeom>
          <a:solidFill>
            <a:srgbClr val="2B2F55"/>
          </a:solidFill>
          <a:ln/>
        </p:spPr>
        <p:txBody>
          <a:bodyPr/>
          <a:lstStyle/>
          <a:p>
            <a:endParaRPr lang="en-US"/>
          </a:p>
        </p:txBody>
      </p:sp>
      <p:pic>
        <p:nvPicPr>
          <p:cNvPr id="3" name="Image 0" descr="preencoded.png"/>
          <p:cNvPicPr>
            <a:picLocks noChangeAspect="1"/>
          </p:cNvPicPr>
          <p:nvPr/>
        </p:nvPicPr>
        <p:blipFill>
          <a:blip r:embed="rId3"/>
          <a:stretch>
            <a:fillRect/>
          </a:stretch>
        </p:blipFill>
        <p:spPr>
          <a:xfrm>
            <a:off x="715061" y="623621"/>
            <a:ext cx="307238" cy="307238"/>
          </a:xfrm>
          <a:prstGeom prst="rect">
            <a:avLst/>
          </a:prstGeom>
        </p:spPr>
      </p:pic>
      <p:sp>
        <p:nvSpPr>
          <p:cNvPr id="4" name="Text 1"/>
          <p:cNvSpPr/>
          <p:nvPr/>
        </p:nvSpPr>
        <p:spPr>
          <a:xfrm>
            <a:off x="1371600" y="457200"/>
            <a:ext cx="8229600" cy="274320"/>
          </a:xfrm>
          <a:prstGeom prst="rect">
            <a:avLst/>
          </a:prstGeom>
          <a:noFill/>
          <a:ln/>
        </p:spPr>
        <p:txBody>
          <a:bodyPr wrap="square" lIns="0" tIns="0" rIns="0" bIns="0" rtlCol="0" anchor="ctr"/>
          <a:lstStyle/>
          <a:p>
            <a:pPr marL="0" indent="0">
              <a:buNone/>
            </a:pPr>
            <a:r>
              <a:rPr lang="en-US" sz="1200" b="1" kern="0" spc="200" dirty="0">
                <a:solidFill>
                  <a:srgbClr val="00C2A8"/>
                </a:solidFill>
                <a:latin typeface="Calibri" pitchFamily="34" charset="0"/>
                <a:ea typeface="Calibri" pitchFamily="34" charset="-122"/>
                <a:cs typeface="Calibri" pitchFamily="34" charset="-120"/>
              </a:rPr>
              <a:t>WRAP-UP</a:t>
            </a:r>
            <a:endParaRPr lang="en-US" sz="1200" dirty="0"/>
          </a:p>
        </p:txBody>
      </p:sp>
      <p:sp>
        <p:nvSpPr>
          <p:cNvPr id="5" name="Text 2"/>
          <p:cNvSpPr/>
          <p:nvPr/>
        </p:nvSpPr>
        <p:spPr>
          <a:xfrm>
            <a:off x="1371600" y="713232"/>
            <a:ext cx="10058400" cy="64008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Key Takeaways from Session 1</a:t>
            </a:r>
            <a:endParaRPr lang="en-US" sz="3000" dirty="0"/>
          </a:p>
        </p:txBody>
      </p:sp>
      <p:sp>
        <p:nvSpPr>
          <p:cNvPr id="6" name="Shape 3"/>
          <p:cNvSpPr/>
          <p:nvPr/>
        </p:nvSpPr>
        <p:spPr>
          <a:xfrm>
            <a:off x="548640" y="1691640"/>
            <a:ext cx="11109960" cy="4023360"/>
          </a:xfrm>
          <a:prstGeom prst="roundRect">
            <a:avLst>
              <a:gd name="adj" fmla="val 2273"/>
            </a:avLst>
          </a:prstGeom>
          <a:solidFill>
            <a:srgbClr val="2B2F55"/>
          </a:solidFill>
          <a:ln/>
        </p:spPr>
        <p:txBody>
          <a:bodyPr/>
          <a:lstStyle/>
          <a:p>
            <a:endParaRPr lang="en-US"/>
          </a:p>
        </p:txBody>
      </p:sp>
      <p:sp>
        <p:nvSpPr>
          <p:cNvPr id="7" name="Text 4"/>
          <p:cNvSpPr/>
          <p:nvPr/>
        </p:nvSpPr>
        <p:spPr>
          <a:xfrm>
            <a:off x="914400" y="1965960"/>
            <a:ext cx="10424160" cy="3566160"/>
          </a:xfrm>
          <a:prstGeom prst="rect">
            <a:avLst/>
          </a:prstGeom>
          <a:noFill/>
          <a:ln/>
        </p:spPr>
        <p:txBody>
          <a:bodyPr wrap="square" rtlCol="0" anchor="t"/>
          <a:lstStyle/>
          <a:p>
            <a:pPr marL="342900" indent="-342900">
              <a:spcAft>
                <a:spcPts val="1400"/>
              </a:spcAft>
              <a:buSzPct val="100000"/>
              <a:buChar char="–"/>
            </a:pPr>
            <a:r>
              <a:rPr lang="en-US" sz="1500" dirty="0">
                <a:solidFill>
                  <a:srgbClr val="E4E3F7"/>
                </a:solidFill>
                <a:latin typeface="Calibri" pitchFamily="34" charset="0"/>
                <a:ea typeface="Calibri" pitchFamily="34" charset="-122"/>
                <a:cs typeface="Calibri" pitchFamily="34" charset="-120"/>
              </a:rPr>
              <a:t>AI has evolved in stages: Traditional AI → ML → Deep Learning → Generative AI → Agentic AI — each stage adds a capability, none replace the last.</a:t>
            </a:r>
            <a:endParaRPr lang="en-US" sz="1500" dirty="0"/>
          </a:p>
          <a:p>
            <a:pPr marL="342900" indent="-342900">
              <a:spcAft>
                <a:spcPts val="1400"/>
              </a:spcAft>
              <a:buSzPct val="100000"/>
              <a:buChar char="–"/>
            </a:pPr>
            <a:r>
              <a:rPr lang="en-US" sz="1500" dirty="0">
                <a:solidFill>
                  <a:srgbClr val="E4E3F7"/>
                </a:solidFill>
                <a:latin typeface="Calibri" pitchFamily="34" charset="0"/>
                <a:ea typeface="Calibri" pitchFamily="34" charset="-122"/>
                <a:cs typeface="Calibri" pitchFamily="34" charset="-120"/>
              </a:rPr>
              <a:t>Predictive AI forecasts, Generative AI creates, Agentic AI acts — three distinct but overlapping categories.</a:t>
            </a:r>
            <a:endParaRPr lang="en-US" sz="1500" dirty="0"/>
          </a:p>
          <a:p>
            <a:pPr marL="342900" indent="-342900">
              <a:spcAft>
                <a:spcPts val="1400"/>
              </a:spcAft>
              <a:buSzPct val="100000"/>
              <a:buChar char="–"/>
            </a:pPr>
            <a:r>
              <a:rPr lang="en-US" sz="1500" dirty="0">
                <a:solidFill>
                  <a:srgbClr val="E4E3F7"/>
                </a:solidFill>
                <a:latin typeface="Calibri" pitchFamily="34" charset="0"/>
                <a:ea typeface="Calibri" pitchFamily="34" charset="-122"/>
                <a:cs typeface="Calibri" pitchFamily="34" charset="-120"/>
              </a:rPr>
              <a:t>"Agentic" means planning, reasoning, memory, and tool use in pursuit of a goal — not just answering a single prompt.</a:t>
            </a:r>
            <a:endParaRPr lang="en-US" sz="1500" dirty="0"/>
          </a:p>
          <a:p>
            <a:pPr marL="342900" indent="-342900">
              <a:spcAft>
                <a:spcPts val="1400"/>
              </a:spcAft>
              <a:buSzPct val="100000"/>
              <a:buChar char="–"/>
            </a:pPr>
            <a:r>
              <a:rPr lang="en-US" sz="1500" dirty="0">
                <a:solidFill>
                  <a:srgbClr val="E4E3F7"/>
                </a:solidFill>
                <a:latin typeface="Calibri" pitchFamily="34" charset="0"/>
                <a:ea typeface="Calibri" pitchFamily="34" charset="-122"/>
                <a:cs typeface="Calibri" pitchFamily="34" charset="-120"/>
              </a:rPr>
              <a:t>Chatbot, Copilot, Assistant, and Agent sit on a spectrum of increasing autonomy, not four unrelated buzzwords.</a:t>
            </a:r>
            <a:endParaRPr lang="en-US" sz="1500" dirty="0"/>
          </a:p>
          <a:p>
            <a:pPr marL="342900" indent="-342900">
              <a:spcAft>
                <a:spcPts val="1400"/>
              </a:spcAft>
              <a:buSzPct val="100000"/>
              <a:buChar char="–"/>
            </a:pPr>
            <a:r>
              <a:rPr lang="en-US" sz="1500" dirty="0">
                <a:solidFill>
                  <a:srgbClr val="E4E3F7"/>
                </a:solidFill>
                <a:latin typeface="Calibri" pitchFamily="34" charset="0"/>
                <a:ea typeface="Calibri" pitchFamily="34" charset="-122"/>
                <a:cs typeface="Calibri" pitchFamily="34" charset="-120"/>
              </a:rPr>
              <a:t>You've already generated your first piece of GenAI content today — and you'll build on it all course long.</a:t>
            </a:r>
            <a:endParaRPr lang="en-US" sz="1500" dirty="0"/>
          </a:p>
        </p:txBody>
      </p:sp>
      <p:sp>
        <p:nvSpPr>
          <p:cNvPr id="9" name="Text 5"/>
          <p:cNvSpPr/>
          <p:nvPr/>
        </p:nvSpPr>
        <p:spPr>
          <a:xfrm>
            <a:off x="457200" y="6446520"/>
            <a:ext cx="7315200" cy="274320"/>
          </a:xfrm>
          <a:prstGeom prst="rect">
            <a:avLst/>
          </a:prstGeom>
          <a:noFill/>
          <a:ln/>
        </p:spPr>
        <p:txBody>
          <a:bodyPr wrap="square" lIns="0" tIns="0" rIns="0" bIns="0" rtlCol="0" anchor="ctr"/>
          <a:lstStyle/>
          <a:p>
            <a:pPr marL="0" indent="0" algn="l">
              <a:buNone/>
            </a:pPr>
            <a:r>
              <a:rPr lang="en-US" sz="900" dirty="0">
                <a:solidFill>
                  <a:srgbClr val="9AA0C3"/>
                </a:solidFill>
                <a:latin typeface="Calibri" pitchFamily="34" charset="0"/>
                <a:ea typeface="Calibri" pitchFamily="34" charset="-122"/>
                <a:cs typeface="Calibri" pitchFamily="34" charset="-120"/>
              </a:rPr>
              <a:t>SYMBIOSIS  |  Autonomous AI Systems &amp; Agent-Based Computing</a:t>
            </a:r>
            <a:endParaRPr lang="en-US" sz="900" dirty="0"/>
          </a:p>
        </p:txBody>
      </p:sp>
      <p:sp>
        <p:nvSpPr>
          <p:cNvPr id="10" name="Text 6"/>
          <p:cNvSpPr/>
          <p:nvPr/>
        </p:nvSpPr>
        <p:spPr>
          <a:xfrm>
            <a:off x="10085832" y="6446520"/>
            <a:ext cx="1645920" cy="274320"/>
          </a:xfrm>
          <a:prstGeom prst="rect">
            <a:avLst/>
          </a:prstGeom>
          <a:noFill/>
          <a:ln/>
        </p:spPr>
        <p:txBody>
          <a:bodyPr wrap="square" lIns="0" tIns="0" rIns="0" bIns="0" rtlCol="0" anchor="ctr"/>
          <a:lstStyle/>
          <a:p>
            <a:pPr marL="0" indent="0" algn="r">
              <a:buNone/>
            </a:pPr>
            <a:r>
              <a:rPr lang="en-US" sz="900" dirty="0">
                <a:solidFill>
                  <a:srgbClr val="9AA0C3"/>
                </a:solidFill>
                <a:latin typeface="Calibri" pitchFamily="34" charset="0"/>
                <a:ea typeface="Calibri" pitchFamily="34" charset="-122"/>
                <a:cs typeface="Calibri" pitchFamily="34" charset="-120"/>
              </a:rPr>
              <a:t>Session 1  ·  11/12</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329645-6AD5-0C96-1EBB-CABCB648D64E}"/>
            </a:ext>
          </a:extLst>
        </p:cNvPr>
        <p:cNvGrpSpPr/>
        <p:nvPr/>
      </p:nvGrpSpPr>
      <p:grpSpPr>
        <a:xfrm>
          <a:off x="0" y="0"/>
          <a:ext cx="0" cy="0"/>
          <a:chOff x="0" y="0"/>
          <a:chExt cx="0" cy="0"/>
        </a:xfrm>
      </p:grpSpPr>
      <p:sp>
        <p:nvSpPr>
          <p:cNvPr id="40" name="Text 36">
            <a:extLst>
              <a:ext uri="{FF2B5EF4-FFF2-40B4-BE49-F238E27FC236}">
                <a16:creationId xmlns:a16="http://schemas.microsoft.com/office/drawing/2014/main" id="{52E63871-51B0-7EBB-93A6-B002FBFB54A6}"/>
              </a:ext>
            </a:extLst>
          </p:cNvPr>
          <p:cNvSpPr/>
          <p:nvPr/>
        </p:nvSpPr>
        <p:spPr>
          <a:xfrm>
            <a:off x="457200" y="6446520"/>
            <a:ext cx="7315200" cy="274320"/>
          </a:xfrm>
          <a:prstGeom prst="rect">
            <a:avLst/>
          </a:prstGeom>
          <a:noFill/>
          <a:ln/>
        </p:spPr>
        <p:txBody>
          <a:bodyPr wrap="square" lIns="0" tIns="0" rIns="0" bIns="0"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SYMBIOSIS  |  Autonomous AI Systems &amp; Agent-Based Computing</a:t>
            </a:r>
            <a:endParaRPr lang="en-US" sz="900" dirty="0"/>
          </a:p>
        </p:txBody>
      </p:sp>
      <p:pic>
        <p:nvPicPr>
          <p:cNvPr id="2" name="Picture 1">
            <a:extLst>
              <a:ext uri="{FF2B5EF4-FFF2-40B4-BE49-F238E27FC236}">
                <a16:creationId xmlns:a16="http://schemas.microsoft.com/office/drawing/2014/main" id="{56034EB8-C557-31B7-7726-44887B58472A}"/>
              </a:ext>
            </a:extLst>
          </p:cNvPr>
          <p:cNvPicPr>
            <a:picLocks noChangeAspect="1"/>
          </p:cNvPicPr>
          <p:nvPr/>
        </p:nvPicPr>
        <p:blipFill>
          <a:blip r:embed="rId3"/>
          <a:stretch>
            <a:fillRect/>
          </a:stretch>
        </p:blipFill>
        <p:spPr>
          <a:xfrm>
            <a:off x="0" y="0"/>
            <a:ext cx="12192000" cy="6966856"/>
          </a:xfrm>
          <a:prstGeom prst="rect">
            <a:avLst/>
          </a:prstGeom>
        </p:spPr>
      </p:pic>
    </p:spTree>
    <p:extLst>
      <p:ext uri="{BB962C8B-B14F-4D97-AF65-F5344CB8AC3E}">
        <p14:creationId xmlns:p14="http://schemas.microsoft.com/office/powerpoint/2010/main" val="9689533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2">
    <p:bg>
      <p:bgPr>
        <a:solidFill>
          <a:srgbClr val="1B1F3B"/>
        </a:solidFill>
        <a:effectLst/>
      </p:bgPr>
    </p:bg>
    <p:spTree>
      <p:nvGrpSpPr>
        <p:cNvPr id="1" name=""/>
        <p:cNvGrpSpPr/>
        <p:nvPr/>
      </p:nvGrpSpPr>
      <p:grpSpPr>
        <a:xfrm>
          <a:off x="0" y="0"/>
          <a:ext cx="0" cy="0"/>
          <a:chOff x="0" y="0"/>
          <a:chExt cx="0" cy="0"/>
        </a:xfrm>
      </p:grpSpPr>
      <p:sp>
        <p:nvSpPr>
          <p:cNvPr id="2" name="Shape 0"/>
          <p:cNvSpPr/>
          <p:nvPr/>
        </p:nvSpPr>
        <p:spPr>
          <a:xfrm>
            <a:off x="9692640" y="-1463040"/>
            <a:ext cx="5029200" cy="5029200"/>
          </a:xfrm>
          <a:prstGeom prst="ellipse">
            <a:avLst/>
          </a:prstGeom>
          <a:solidFill>
            <a:srgbClr val="2B2F55"/>
          </a:solidFill>
          <a:ln/>
        </p:spPr>
        <p:txBody>
          <a:bodyPr/>
          <a:lstStyle/>
          <a:p>
            <a:endParaRPr lang="en-US"/>
          </a:p>
        </p:txBody>
      </p:sp>
      <p:sp>
        <p:nvSpPr>
          <p:cNvPr id="3" name="Shape 1"/>
          <p:cNvSpPr/>
          <p:nvPr/>
        </p:nvSpPr>
        <p:spPr>
          <a:xfrm>
            <a:off x="640080" y="640080"/>
            <a:ext cx="731520" cy="731520"/>
          </a:xfrm>
          <a:prstGeom prst="ellipse">
            <a:avLst/>
          </a:prstGeom>
          <a:solidFill>
            <a:srgbClr val="6C63FF"/>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830275" y="830275"/>
            <a:ext cx="351130" cy="351130"/>
          </a:xfrm>
          <a:prstGeom prst="rect">
            <a:avLst/>
          </a:prstGeom>
        </p:spPr>
      </p:pic>
      <p:sp>
        <p:nvSpPr>
          <p:cNvPr id="5" name="Text 2"/>
          <p:cNvSpPr/>
          <p:nvPr/>
        </p:nvSpPr>
        <p:spPr>
          <a:xfrm>
            <a:off x="594360" y="1600200"/>
            <a:ext cx="7315200" cy="320040"/>
          </a:xfrm>
          <a:prstGeom prst="rect">
            <a:avLst/>
          </a:prstGeom>
          <a:noFill/>
          <a:ln/>
        </p:spPr>
        <p:txBody>
          <a:bodyPr wrap="square" lIns="0" tIns="0" rIns="0" bIns="0" rtlCol="0" anchor="ctr"/>
          <a:lstStyle/>
          <a:p>
            <a:pPr marL="0" indent="0">
              <a:buNone/>
            </a:pPr>
            <a:r>
              <a:rPr lang="en-US" sz="1300" b="1" kern="0" spc="200" dirty="0">
                <a:solidFill>
                  <a:srgbClr val="00C2A8"/>
                </a:solidFill>
                <a:latin typeface="Calibri" pitchFamily="34" charset="0"/>
                <a:ea typeface="Calibri" pitchFamily="34" charset="-122"/>
                <a:cs typeface="Calibri" pitchFamily="34" charset="-120"/>
              </a:rPr>
              <a:t>COMING UP NEXT</a:t>
            </a:r>
            <a:endParaRPr lang="en-US" sz="1300" dirty="0"/>
          </a:p>
        </p:txBody>
      </p:sp>
      <p:sp>
        <p:nvSpPr>
          <p:cNvPr id="6" name="Text 3"/>
          <p:cNvSpPr/>
          <p:nvPr/>
        </p:nvSpPr>
        <p:spPr>
          <a:xfrm>
            <a:off x="548640" y="1965960"/>
            <a:ext cx="8686800" cy="1463040"/>
          </a:xfrm>
          <a:prstGeom prst="rect">
            <a:avLst/>
          </a:prstGeom>
          <a:noFill/>
          <a:ln/>
        </p:spPr>
        <p:txBody>
          <a:bodyPr wrap="square" lIns="0" tIns="0" rIns="0" bIns="0" rtlCol="0" anchor="ctr"/>
          <a:lstStyle/>
          <a:p>
            <a:pPr marL="0" indent="0">
              <a:lnSpc>
                <a:spcPts val="4000"/>
              </a:lnSpc>
              <a:buNone/>
            </a:pPr>
            <a:r>
              <a:rPr lang="en-US" sz="3400" b="1" dirty="0">
                <a:solidFill>
                  <a:srgbClr val="FFFFFF"/>
                </a:solidFill>
                <a:latin typeface="Cambria" pitchFamily="34" charset="0"/>
                <a:ea typeface="Cambria" pitchFamily="34" charset="-122"/>
                <a:cs typeface="Cambria" pitchFamily="34" charset="-120"/>
              </a:rPr>
              <a:t>Session 2: LLM Fundamentals</a:t>
            </a:r>
            <a:endParaRPr lang="en-US" sz="3400" dirty="0"/>
          </a:p>
          <a:p>
            <a:pPr marL="0" indent="0">
              <a:lnSpc>
                <a:spcPts val="4000"/>
              </a:lnSpc>
              <a:buNone/>
            </a:pPr>
            <a:r>
              <a:rPr lang="en-US" sz="3400" b="1" dirty="0">
                <a:solidFill>
                  <a:srgbClr val="FFFFFF"/>
                </a:solidFill>
                <a:latin typeface="Cambria" pitchFamily="34" charset="0"/>
                <a:ea typeface="Cambria" pitchFamily="34" charset="-122"/>
                <a:cs typeface="Cambria" pitchFamily="34" charset="-120"/>
              </a:rPr>
              <a:t>and Output Behavior</a:t>
            </a:r>
            <a:endParaRPr lang="en-US" sz="3400" dirty="0"/>
          </a:p>
        </p:txBody>
      </p:sp>
      <p:sp>
        <p:nvSpPr>
          <p:cNvPr id="7" name="Text 4"/>
          <p:cNvSpPr/>
          <p:nvPr/>
        </p:nvSpPr>
        <p:spPr>
          <a:xfrm>
            <a:off x="594360" y="3703320"/>
            <a:ext cx="7772400" cy="2377440"/>
          </a:xfrm>
          <a:prstGeom prst="rect">
            <a:avLst/>
          </a:prstGeom>
          <a:noFill/>
          <a:ln/>
        </p:spPr>
        <p:txBody>
          <a:bodyPr wrap="square" rtlCol="0" anchor="t"/>
          <a:lstStyle/>
          <a:p>
            <a:pPr marL="342900" indent="-342900">
              <a:spcAft>
                <a:spcPts val="1000"/>
              </a:spcAft>
              <a:buSzPct val="100000"/>
              <a:buChar char="–"/>
            </a:pPr>
            <a:r>
              <a:rPr lang="en-US" sz="1400" dirty="0">
                <a:solidFill>
                  <a:srgbClr val="E4E3F7"/>
                </a:solidFill>
                <a:latin typeface="Calibri" pitchFamily="34" charset="0"/>
                <a:ea typeface="Calibri" pitchFamily="34" charset="-122"/>
                <a:cs typeface="Calibri" pitchFamily="34" charset="-120"/>
              </a:rPr>
              <a:t>Tokens &amp; tokenization — why LLMs read text the way they do</a:t>
            </a:r>
            <a:endParaRPr lang="en-US" sz="1400" dirty="0"/>
          </a:p>
          <a:p>
            <a:pPr marL="342900" indent="-342900">
              <a:spcAft>
                <a:spcPts val="1000"/>
              </a:spcAft>
              <a:buSzPct val="100000"/>
              <a:buChar char="–"/>
            </a:pPr>
            <a:r>
              <a:rPr lang="en-US" sz="1400" dirty="0">
                <a:solidFill>
                  <a:srgbClr val="E4E3F7"/>
                </a:solidFill>
                <a:latin typeface="Calibri" pitchFamily="34" charset="0"/>
                <a:ea typeface="Calibri" pitchFamily="34" charset="-122"/>
                <a:cs typeface="Calibri" pitchFamily="34" charset="-120"/>
              </a:rPr>
              <a:t>Transformers, explained without the math</a:t>
            </a:r>
            <a:endParaRPr lang="en-US" sz="1400" dirty="0"/>
          </a:p>
          <a:p>
            <a:pPr marL="342900" indent="-342900">
              <a:spcAft>
                <a:spcPts val="1000"/>
              </a:spcAft>
              <a:buSzPct val="100000"/>
              <a:buChar char="–"/>
            </a:pPr>
            <a:r>
              <a:rPr lang="en-US" sz="1400" dirty="0">
                <a:solidFill>
                  <a:srgbClr val="E4E3F7"/>
                </a:solidFill>
                <a:latin typeface="Calibri" pitchFamily="34" charset="0"/>
                <a:ea typeface="Calibri" pitchFamily="34" charset="-122"/>
                <a:cs typeface="Calibri" pitchFamily="34" charset="-120"/>
              </a:rPr>
              <a:t>Pretraining vs fine-tuning</a:t>
            </a:r>
            <a:endParaRPr lang="en-US" sz="1400" dirty="0"/>
          </a:p>
          <a:p>
            <a:pPr marL="342900" indent="-342900">
              <a:spcAft>
                <a:spcPts val="1000"/>
              </a:spcAft>
              <a:buSzPct val="100000"/>
              <a:buChar char="–"/>
            </a:pPr>
            <a:r>
              <a:rPr lang="en-US" sz="1400" dirty="0">
                <a:solidFill>
                  <a:srgbClr val="E4E3F7"/>
                </a:solidFill>
                <a:latin typeface="Calibri" pitchFamily="34" charset="0"/>
                <a:ea typeface="Calibri" pitchFamily="34" charset="-122"/>
                <a:cs typeface="Calibri" pitchFamily="34" charset="-120"/>
              </a:rPr>
              <a:t>Context windows and parameter settings</a:t>
            </a:r>
            <a:endParaRPr lang="en-US" sz="1400" dirty="0"/>
          </a:p>
          <a:p>
            <a:pPr marL="342900" indent="-342900">
              <a:spcAft>
                <a:spcPts val="1000"/>
              </a:spcAft>
              <a:buSzPct val="100000"/>
              <a:buChar char="–"/>
            </a:pPr>
            <a:r>
              <a:rPr lang="en-US" sz="1400" dirty="0">
                <a:solidFill>
                  <a:srgbClr val="E4E3F7"/>
                </a:solidFill>
                <a:latin typeface="Calibri" pitchFamily="34" charset="0"/>
                <a:ea typeface="Calibri" pitchFamily="34" charset="-122"/>
                <a:cs typeface="Calibri" pitchFamily="34" charset="-120"/>
              </a:rPr>
              <a:t>Lab: re-run your resume prompt with variations and compare output quality</a:t>
            </a:r>
            <a:endParaRPr lang="en-US" sz="1400" dirty="0"/>
          </a:p>
        </p:txBody>
      </p:sp>
      <p:sp>
        <p:nvSpPr>
          <p:cNvPr id="8" name="Text 5"/>
          <p:cNvSpPr/>
          <p:nvPr/>
        </p:nvSpPr>
        <p:spPr>
          <a:xfrm>
            <a:off x="9052560" y="5806440"/>
            <a:ext cx="2560320" cy="457200"/>
          </a:xfrm>
          <a:prstGeom prst="rect">
            <a:avLst/>
          </a:prstGeom>
          <a:noFill/>
          <a:ln/>
        </p:spPr>
        <p:txBody>
          <a:bodyPr wrap="square" lIns="0" tIns="0" rIns="0" bIns="0" rtlCol="0" anchor="ctr"/>
          <a:lstStyle/>
          <a:p>
            <a:pPr marL="0" indent="0" algn="r">
              <a:buNone/>
            </a:pPr>
            <a:r>
              <a:rPr lang="en-US" sz="1600" i="1" dirty="0">
                <a:solidFill>
                  <a:srgbClr val="9AA0C3"/>
                </a:solidFill>
                <a:latin typeface="Calibri" pitchFamily="34" charset="0"/>
                <a:ea typeface="Calibri" pitchFamily="34" charset="-122"/>
                <a:cs typeface="Calibri" pitchFamily="34" charset="-120"/>
              </a:rPr>
              <a:t>Thank you!</a:t>
            </a:r>
            <a:endParaRPr lang="en-US" sz="1600" dirty="0"/>
          </a:p>
        </p:txBody>
      </p:sp>
      <p:sp>
        <p:nvSpPr>
          <p:cNvPr id="10" name="Text 6"/>
          <p:cNvSpPr/>
          <p:nvPr/>
        </p:nvSpPr>
        <p:spPr>
          <a:xfrm>
            <a:off x="457200" y="6446520"/>
            <a:ext cx="7315200" cy="274320"/>
          </a:xfrm>
          <a:prstGeom prst="rect">
            <a:avLst/>
          </a:prstGeom>
          <a:noFill/>
          <a:ln/>
        </p:spPr>
        <p:txBody>
          <a:bodyPr wrap="square" lIns="0" tIns="0" rIns="0" bIns="0" rtlCol="0" anchor="ctr"/>
          <a:lstStyle/>
          <a:p>
            <a:pPr marL="0" indent="0" algn="l">
              <a:buNone/>
            </a:pPr>
            <a:r>
              <a:rPr lang="en-US" sz="900" dirty="0">
                <a:solidFill>
                  <a:srgbClr val="9AA0C3"/>
                </a:solidFill>
                <a:latin typeface="Calibri" pitchFamily="34" charset="0"/>
                <a:ea typeface="Calibri" pitchFamily="34" charset="-122"/>
                <a:cs typeface="Calibri" pitchFamily="34" charset="-120"/>
              </a:rPr>
              <a:t>SYMBIOSIS  |  Autonomous AI Systems &amp; Agent-Based Computing</a:t>
            </a:r>
            <a:endParaRPr lang="en-US" sz="900" dirty="0"/>
          </a:p>
        </p:txBody>
      </p:sp>
      <p:sp>
        <p:nvSpPr>
          <p:cNvPr id="11" name="Text 7"/>
          <p:cNvSpPr/>
          <p:nvPr/>
        </p:nvSpPr>
        <p:spPr>
          <a:xfrm>
            <a:off x="10085832" y="6446520"/>
            <a:ext cx="1645920" cy="274320"/>
          </a:xfrm>
          <a:prstGeom prst="rect">
            <a:avLst/>
          </a:prstGeom>
          <a:noFill/>
          <a:ln/>
        </p:spPr>
        <p:txBody>
          <a:bodyPr wrap="square" lIns="0" tIns="0" rIns="0" bIns="0" rtlCol="0" anchor="ctr"/>
          <a:lstStyle/>
          <a:p>
            <a:pPr marL="0" indent="0" algn="r">
              <a:buNone/>
            </a:pPr>
            <a:r>
              <a:rPr lang="en-US" sz="900" dirty="0">
                <a:solidFill>
                  <a:srgbClr val="9AA0C3"/>
                </a:solidFill>
                <a:latin typeface="Calibri" pitchFamily="34" charset="0"/>
                <a:ea typeface="Calibri" pitchFamily="34" charset="-122"/>
                <a:cs typeface="Calibri" pitchFamily="34" charset="-120"/>
              </a:rPr>
              <a:t>Session 1  ·  12/12</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TotalTime>
  <Words>3986</Words>
  <Application>Microsoft Macintosh PowerPoint</Application>
  <PresentationFormat>Widescreen</PresentationFormat>
  <Paragraphs>231</Paragraphs>
  <Slides>16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Session 1 - Introduction to AI, Generative AI, and Agentic AI</dc:title>
  <dc:subject>PptxGenJS Presentation</dc:subject>
  <dc:creator>Dinesh Wadhwani</dc:creator>
  <cp:lastModifiedBy>Dinesh Wadhwani</cp:lastModifiedBy>
  <cp:revision>5</cp:revision>
  <dcterms:created xsi:type="dcterms:W3CDTF">2026-07-05T05:25:26Z</dcterms:created>
  <dcterms:modified xsi:type="dcterms:W3CDTF">2026-07-05T08:27:55Z</dcterms:modified>
</cp:coreProperties>
</file>