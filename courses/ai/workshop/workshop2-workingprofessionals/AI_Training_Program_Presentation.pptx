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Introduce yourself briefly. Explain that this is a 2-day, 4-session program, and that all material is also provided as a printed book they can keep and refer to later. Mention that English will be kept simple on purpose, and that questions are welcome at any time, in any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sessions at a high level. Emphasise that each session builds on the previous one, but someone can still follow even if they missed a session. Mention that a full course book has been provided with every example, diagram, and tool list used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foundation session — everything in Sessions 2, 3 and 4 builds on the prompting skills taught here. Take your time on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'think of one task last week that took longer than it should have.' Let 2-3 people answer briefly. Then show the weak vs strong example and ask them to notice the difference is entirely in the instruction, not the AI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simple and conceptual — no maths needed. The key message: it's predicting likely words, not 'thinking' or 'knowing' the way a person does. This explains both its power (fluent, fast) and its failure mode (confident-sounding mistakes). Stress: always double-check names, numbers, and dates before using AI output for anything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letter slowly: Role (who should the AI act as), Context (what background does it need - the most commonly skipped part), Task (what exact job, using an action verb), Format (how should the answer look - length, tone, structure). Then read the worked example at the bottom aloud, pointing at each line as you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can be covered quickly since the diagram already introduced the concept — use it to reinforce with the one-line explanation per letter, then move to the tip about not always needing the full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technique briefly. Spend the most time on few-shot (show the customer-reply example from the book, Section 1.4) and chain-of-thought, since these are the two most transformative for daily tasks. Mention that iterative refinement is covered in detail on the next slide with a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nobody writes the perfect prompt on the first try, including experienced users. The loop is normal and expected. Walk around the circle: draft, read the output critically, identify what's missing or wrong, refine with a short follow-up phrase, and repeat until it's good enough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publicly documented examples — not hypothetical. The eBay statistic (95% of sellers kept the AI-written description) is a strong, concrete number to repeat. Connect this back to Exercise 1 coming up: the same writing task, done with and without a good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add a third global brand to the Amazon/eBay examples. If anyone in the room works in retail, e-commerce, or customer service, this is a good moment to invite a comment or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15 minutes. Circulate the room. If using Version A, help anyone whose AI tool gives an unexpected result — usually it means context was still too thin. Facilitator answer key is in Appendix C of the course book. After the exercise, ask 1-2 volunteers to read their improved prompt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the full course book (Appendix A) has an even larger directory, including everyday-life tools beyond work. Encourage participants to try at least one free tool from this list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one participant to summarise, in their own words, the single most useful idea from this session, before moving to the break and Session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Session 1: now that participants know how to write a good prompt, this session shows exactly where to use that skill in their daily office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statistics are the single strongest hook for this session — they are large, public, board-level numbers, not small pilots. Pause on the Sumitomo figure (roughly $8 million annually) and let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left to right: you type a request, the assistant (Copilot/Gemini/Notion AI) reads it, calls the underlying cloud model, and produces a result inside the app you're already using (Word, Excel, PowerPoint, Outlook). Point out the company files box at the bottom — this is what makes it more useful than a plain chat tool for office work, because it can ground answers in your real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point deserves emphasis — it is almost always the first question from a security-conscious audience, and a clear, confident answer here builds trust for the rest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laptops are available, consider live-demonstrating one of these three prompts in real time — this is often the single most convincing moment of the whole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most meeting AI tools now support transcription and summarisation in many languages, and some can translate a summary from one language to another — very useful for multilingual meetings with overseas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Sumitomo is a particularly strong example because it is a large, traditional trading and investment group — not a technology start-up — showing that this is not only for ‘tech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the room to consider: does your organisation already have a channel for sharing good prompts? If not, suggest starting one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20 minutes. This is a very realistic, high-value office task — most participants will recognise this exact situation from their own meetings. Model answer is in Appendix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participants to pick just one tool from this list to try in the next week — not all of them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Day 1. Remind participants that Day 2 shifts to a more technical topic — AI for software development — but reassure non-engineers that it remains accessible, with no coding required to follow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for Day 2. Reassure non-engineers in the room: you do not need to know how to code to follow this session — the goal is to understand the big picture well enough to manage, evaluate, or discuss AI coding tools with a technical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show that AI-assisted coding has moved from experimental to mainstream in only a few years. Mention that Session 4 will go much deeper into GitHub Copilot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 common misconception here: AI coding is not just autocomplete while typing. Walk left to right across all 7 stages, then point out the dashed feedback loop at the bottom — production feedback (bugs, performance) flows back into planning the next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Amazon Q Developer statistic is one of the most impressive in the entire course — 4,500 developer-years saved is a genuinely enormous number. Give the room a moment to absorb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6 steps. The most important message on this slide: a human reviews the output at every single stage. AI assists, it does not replace, the developer's judgement. This is worth repeating clearly and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you do not need to be a programmer to understand this example — it is simply a clear, specific instruction, exactly like the R-C-T-F prompts from Session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pattern: the same company that uses AI to help its customers (eBay's Magical Listing from Session 1) also uses AI to help its own engineers move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Mercari is likely one of the most relatable examples in this session — many participants may recognise the app. Pause here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20 minutes, pairs recommended. The goal is not correct code — it's clarity of instruction. Model answer is in Appendix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GitHub Copilot gets its own full session next — this table is a broader map of the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Session 4: 'Now that we understand the big picture of AI-assisted coding, let's go deep on the single most widely used tool in this space — GitHub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session of the program. Keep energy high — this is the most concrete, practical session, ending with a hands-on rollout-planning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this tool is the industry standard reference point, which is why it gets an entire dedicated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4 steps: editor captures context, extension sends a secure request, service applies safety filters and routes to a model, model generates a suggestion that streams back in under a second. Then point at the 4 feature boxes at the bottom (Chat, PRs, Workspace, Code Review) as a preview of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compliance callout is extremely important — flag it clearly as 'the sentence to remember if you take only one fact from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laptops are available, this is the ideal moment for a live, guided walkthrough — have everyone (or a volunteer) follow these 7 steps together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Individuals typically start Free then move to Pro ($10/month). Organisations almost always choose Business ($19/user/month) or Enterprise ($39/user/month) for centralised billing, policy control, audit logs, and the data-protection guarantee from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strongest adoption statistics in the whole course — it is precise, transparent, and recently reported (a November 2025 GitHub Japan briefing). Repeat the 25% figure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case-studies section by drawing this pattern together explicitly: measurement discipline is the common thread across Docomo, Fujitsu, Sony and ZOZO.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15 minutes for group work, then 5 minutes for 1-2 groups to present. Model answer is in Appendix C: Business plan for 50 people, track weekly active users + acceptance rate (NTT Docomo's approach), ask about the no-training-on-your-code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the technical content of the course. Move to the final wrap-up slide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Open the floor for final questions across all four sessions. Remind them the course book (PDF) contains every example, diagram, exercise answer key, and the larger master tool directory in Appendix A, for their continued reference after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24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D"/>
          </a:solidFill>
          <a:ln/>
        </p:spPr>
      </p:sp>
      <p:sp>
        <p:nvSpPr>
          <p:cNvPr id="3" name="Shape 1"/>
          <p:cNvSpPr/>
          <p:nvPr/>
        </p:nvSpPr>
        <p:spPr>
          <a:xfrm>
            <a:off x="0" y="6656832"/>
            <a:ext cx="12191695" cy="201168"/>
          </a:xfrm>
          <a:prstGeom prst="rect">
            <a:avLst/>
          </a:prstGeom>
          <a:solidFill>
            <a:srgbClr val="1C7293"/>
          </a:solidFill>
          <a:ln/>
        </p:spPr>
      </p:sp>
      <p:sp>
        <p:nvSpPr>
          <p:cNvPr id="4" name="Text 2"/>
          <p:cNvSpPr txBox="1"/>
          <p:nvPr/>
        </p:nvSpPr>
        <p:spPr>
          <a:xfrm>
            <a:off x="731520" y="640080"/>
            <a:ext cx="10058400" cy="457200"/>
          </a:xfrm>
          <a:prstGeom prst="rect">
            <a:avLst/>
          </a:prstGeom>
          <a:noFill/>
          <a:ln/>
        </p:spPr>
        <p:txBody>
          <a:bodyPr wrap="square" rtlCol="0" anchor="ctr"/>
          <a:lstStyle/>
          <a:p>
            <a:pPr indent="0" marL="0">
              <a:buNone/>
            </a:pPr>
            <a:r>
              <a:rPr lang="en-US" sz="1400" b="1" spc="200" kern="0" dirty="0">
                <a:solidFill>
                  <a:srgbClr val="8FD0E3"/>
                </a:solidFill>
                <a:latin typeface="Arial" pitchFamily="34" charset="0"/>
                <a:ea typeface="Arial" pitchFamily="34" charset="-122"/>
                <a:cs typeface="Arial" pitchFamily="34" charset="-120"/>
              </a:rPr>
              <a:t>COMPREHENSIVE COURSE MATERIAL &amp; FACILITATOR GUIDE</a:t>
            </a:r>
            <a:endParaRPr lang="en-US" sz="1400" dirty="0"/>
          </a:p>
        </p:txBody>
      </p:sp>
      <p:sp>
        <p:nvSpPr>
          <p:cNvPr id="5" name="Text 3"/>
          <p:cNvSpPr txBox="1"/>
          <p:nvPr/>
        </p:nvSpPr>
        <p:spPr>
          <a:xfrm>
            <a:off x="731520" y="1188720"/>
            <a:ext cx="10515600" cy="192024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AI Training Program for</a:t>
            </a:r>
            <a:endParaRPr lang="en-US" sz="4000" dirty="0"/>
          </a:p>
          <a:p>
            <a:pPr indent="0" marL="0">
              <a:buNone/>
            </a:pPr>
            <a:r>
              <a:rPr lang="en-US" sz="4000" b="1" dirty="0">
                <a:solidFill>
                  <a:srgbClr val="FFFFFF"/>
                </a:solidFill>
                <a:latin typeface="Arial" pitchFamily="34" charset="0"/>
                <a:ea typeface="Arial" pitchFamily="34" charset="-122"/>
                <a:cs typeface="Arial" pitchFamily="34" charset="-120"/>
              </a:rPr>
              <a:t>Working Professionals</a:t>
            </a:r>
            <a:endParaRPr lang="en-US" sz="4000" dirty="0"/>
          </a:p>
        </p:txBody>
      </p:sp>
      <p:sp>
        <p:nvSpPr>
          <p:cNvPr id="6" name="Text 4"/>
          <p:cNvSpPr txBox="1"/>
          <p:nvPr/>
        </p:nvSpPr>
        <p:spPr>
          <a:xfrm>
            <a:off x="731520" y="3063240"/>
            <a:ext cx="9601200" cy="822960"/>
          </a:xfrm>
          <a:prstGeom prst="rect">
            <a:avLst/>
          </a:prstGeom>
          <a:noFill/>
          <a:ln/>
        </p:spPr>
        <p:txBody>
          <a:bodyPr wrap="square" rtlCol="0" anchor="ctr"/>
          <a:lstStyle/>
          <a:p>
            <a:pPr indent="0" marL="0">
              <a:buNone/>
            </a:pPr>
            <a:r>
              <a:rPr lang="en-US" sz="1800" dirty="0">
                <a:solidFill>
                  <a:srgbClr val="D8E6EC"/>
                </a:solidFill>
                <a:latin typeface="Arial" pitchFamily="34" charset="0"/>
                <a:ea typeface="Arial" pitchFamily="34" charset="-122"/>
                <a:cs typeface="Arial" pitchFamily="34" charset="-120"/>
              </a:rPr>
              <a:t>Prompt Engineering · AI Office Productivity · AI-Assisted Coding · GitHub Copilot</a:t>
            </a:r>
            <a:endParaRPr lang="en-US" sz="1800" dirty="0"/>
          </a:p>
        </p:txBody>
      </p:sp>
      <p:sp>
        <p:nvSpPr>
          <p:cNvPr id="7" name="Shape 5"/>
          <p:cNvSpPr/>
          <p:nvPr/>
        </p:nvSpPr>
        <p:spPr>
          <a:xfrm>
            <a:off x="731520" y="4114800"/>
            <a:ext cx="8961120" cy="27432"/>
          </a:xfrm>
          <a:prstGeom prst="rect">
            <a:avLst/>
          </a:prstGeom>
          <a:solidFill>
            <a:srgbClr val="2E4F6B"/>
          </a:solidFill>
          <a:ln/>
        </p:spPr>
      </p:sp>
      <p:sp>
        <p:nvSpPr>
          <p:cNvPr id="8" name="Text 6"/>
          <p:cNvSpPr txBox="1"/>
          <p:nvPr/>
        </p:nvSpPr>
        <p:spPr>
          <a:xfrm>
            <a:off x="731520" y="4343400"/>
            <a:ext cx="2377440" cy="365760"/>
          </a:xfrm>
          <a:prstGeom prst="rect">
            <a:avLst/>
          </a:prstGeom>
          <a:noFill/>
          <a:ln/>
        </p:spPr>
        <p:txBody>
          <a:bodyPr wrap="square" rtlCol="0" anchor="ctr"/>
          <a:lstStyle/>
          <a:p>
            <a:pPr indent="0" marL="0">
              <a:buNone/>
            </a:pPr>
            <a:r>
              <a:rPr lang="en-US" sz="1250" b="1" dirty="0">
                <a:solidFill>
                  <a:srgbClr val="8FD0E3"/>
                </a:solidFill>
                <a:latin typeface="Arial" pitchFamily="34" charset="0"/>
                <a:ea typeface="Arial" pitchFamily="34" charset="-122"/>
                <a:cs typeface="Arial" pitchFamily="34" charset="-120"/>
              </a:rPr>
              <a:t>Author</a:t>
            </a:r>
            <a:endParaRPr lang="en-US" sz="1250" dirty="0"/>
          </a:p>
        </p:txBody>
      </p:sp>
      <p:sp>
        <p:nvSpPr>
          <p:cNvPr id="9" name="Text 7"/>
          <p:cNvSpPr txBox="1"/>
          <p:nvPr/>
        </p:nvSpPr>
        <p:spPr>
          <a:xfrm>
            <a:off x="3200400" y="4343400"/>
            <a:ext cx="6583680" cy="365760"/>
          </a:xfrm>
          <a:prstGeom prst="rect">
            <a:avLst/>
          </a:prstGeom>
          <a:noFill/>
          <a:ln/>
        </p:spPr>
        <p:txBody>
          <a:bodyPr wrap="square" rtlCol="0" anchor="ctr"/>
          <a:lstStyle/>
          <a:p>
            <a:pPr indent="0" marL="0">
              <a:buNone/>
            </a:pPr>
            <a:r>
              <a:rPr lang="en-US" sz="1250" dirty="0">
                <a:solidFill>
                  <a:srgbClr val="FFFFFF"/>
                </a:solidFill>
                <a:latin typeface="Arial" pitchFamily="34" charset="0"/>
                <a:ea typeface="Arial" pitchFamily="34" charset="-122"/>
                <a:cs typeface="Arial" pitchFamily="34" charset="-120"/>
              </a:rPr>
              <a:t>Dinesh Wadhwani</a:t>
            </a:r>
            <a:endParaRPr lang="en-US" sz="1250" dirty="0"/>
          </a:p>
        </p:txBody>
      </p:sp>
      <p:sp>
        <p:nvSpPr>
          <p:cNvPr id="10" name="Text 8"/>
          <p:cNvSpPr txBox="1"/>
          <p:nvPr/>
        </p:nvSpPr>
        <p:spPr>
          <a:xfrm>
            <a:off x="731520" y="4727448"/>
            <a:ext cx="2377440" cy="365760"/>
          </a:xfrm>
          <a:prstGeom prst="rect">
            <a:avLst/>
          </a:prstGeom>
          <a:noFill/>
          <a:ln/>
        </p:spPr>
        <p:txBody>
          <a:bodyPr wrap="square" rtlCol="0" anchor="ctr"/>
          <a:lstStyle/>
          <a:p>
            <a:pPr indent="0" marL="0">
              <a:buNone/>
            </a:pPr>
            <a:r>
              <a:rPr lang="en-US" sz="1250" b="1" dirty="0">
                <a:solidFill>
                  <a:srgbClr val="8FD0E3"/>
                </a:solidFill>
                <a:latin typeface="Arial" pitchFamily="34" charset="0"/>
                <a:ea typeface="Arial" pitchFamily="34" charset="-122"/>
                <a:cs typeface="Arial" pitchFamily="34" charset="-120"/>
              </a:rPr>
              <a:t>Day 1</a:t>
            </a:r>
            <a:endParaRPr lang="en-US" sz="1250" dirty="0"/>
          </a:p>
        </p:txBody>
      </p:sp>
      <p:sp>
        <p:nvSpPr>
          <p:cNvPr id="11" name="Text 9"/>
          <p:cNvSpPr txBox="1"/>
          <p:nvPr/>
        </p:nvSpPr>
        <p:spPr>
          <a:xfrm>
            <a:off x="3200400" y="4727448"/>
            <a:ext cx="6583680" cy="365760"/>
          </a:xfrm>
          <a:prstGeom prst="rect">
            <a:avLst/>
          </a:prstGeom>
          <a:noFill/>
          <a:ln/>
        </p:spPr>
        <p:txBody>
          <a:bodyPr wrap="square" rtlCol="0" anchor="ctr"/>
          <a:lstStyle/>
          <a:p>
            <a:pPr indent="0" marL="0">
              <a:buNone/>
            </a:pPr>
            <a:r>
              <a:rPr lang="en-US" sz="1250" dirty="0">
                <a:solidFill>
                  <a:srgbClr val="FFFFFF"/>
                </a:solidFill>
                <a:latin typeface="Arial" pitchFamily="34" charset="0"/>
                <a:ea typeface="Arial" pitchFamily="34" charset="-122"/>
                <a:cs typeface="Arial" pitchFamily="34" charset="-120"/>
              </a:rPr>
              <a:t>Prompt Engineering  ·  AI for Office Productivity</a:t>
            </a:r>
            <a:endParaRPr lang="en-US" sz="1250" dirty="0"/>
          </a:p>
        </p:txBody>
      </p:sp>
      <p:sp>
        <p:nvSpPr>
          <p:cNvPr id="12" name="Text 10"/>
          <p:cNvSpPr txBox="1"/>
          <p:nvPr/>
        </p:nvSpPr>
        <p:spPr>
          <a:xfrm>
            <a:off x="731520" y="5111496"/>
            <a:ext cx="2377440" cy="365760"/>
          </a:xfrm>
          <a:prstGeom prst="rect">
            <a:avLst/>
          </a:prstGeom>
          <a:noFill/>
          <a:ln/>
        </p:spPr>
        <p:txBody>
          <a:bodyPr wrap="square" rtlCol="0" anchor="ctr"/>
          <a:lstStyle/>
          <a:p>
            <a:pPr indent="0" marL="0">
              <a:buNone/>
            </a:pPr>
            <a:r>
              <a:rPr lang="en-US" sz="1250" b="1" dirty="0">
                <a:solidFill>
                  <a:srgbClr val="8FD0E3"/>
                </a:solidFill>
                <a:latin typeface="Arial" pitchFamily="34" charset="0"/>
                <a:ea typeface="Arial" pitchFamily="34" charset="-122"/>
                <a:cs typeface="Arial" pitchFamily="34" charset="-120"/>
              </a:rPr>
              <a:t>Day 2</a:t>
            </a:r>
            <a:endParaRPr lang="en-US" sz="1250" dirty="0"/>
          </a:p>
        </p:txBody>
      </p:sp>
      <p:sp>
        <p:nvSpPr>
          <p:cNvPr id="13" name="Text 11"/>
          <p:cNvSpPr txBox="1"/>
          <p:nvPr/>
        </p:nvSpPr>
        <p:spPr>
          <a:xfrm>
            <a:off x="3200400" y="5111496"/>
            <a:ext cx="6583680" cy="365760"/>
          </a:xfrm>
          <a:prstGeom prst="rect">
            <a:avLst/>
          </a:prstGeom>
          <a:noFill/>
          <a:ln/>
        </p:spPr>
        <p:txBody>
          <a:bodyPr wrap="square" rtlCol="0" anchor="ctr"/>
          <a:lstStyle/>
          <a:p>
            <a:pPr indent="0" marL="0">
              <a:buNone/>
            </a:pPr>
            <a:r>
              <a:rPr lang="en-US" sz="1250" dirty="0">
                <a:solidFill>
                  <a:srgbClr val="FFFFFF"/>
                </a:solidFill>
                <a:latin typeface="Arial" pitchFamily="34" charset="0"/>
                <a:ea typeface="Arial" pitchFamily="34" charset="-122"/>
                <a:cs typeface="Arial" pitchFamily="34" charset="-120"/>
              </a:rPr>
              <a:t>AI-Assisted Software Development  ·  GitHub Copilot</a:t>
            </a:r>
            <a:endParaRPr lang="en-US" sz="1250" dirty="0"/>
          </a:p>
        </p:txBody>
      </p:sp>
      <p:sp>
        <p:nvSpPr>
          <p:cNvPr id="14" name="Text 12"/>
          <p:cNvSpPr txBox="1"/>
          <p:nvPr/>
        </p:nvSpPr>
        <p:spPr>
          <a:xfrm>
            <a:off x="731520" y="5495544"/>
            <a:ext cx="2377440" cy="365760"/>
          </a:xfrm>
          <a:prstGeom prst="rect">
            <a:avLst/>
          </a:prstGeom>
          <a:noFill/>
          <a:ln/>
        </p:spPr>
        <p:txBody>
          <a:bodyPr wrap="square" rtlCol="0" anchor="ctr"/>
          <a:lstStyle/>
          <a:p>
            <a:pPr indent="0" marL="0">
              <a:buNone/>
            </a:pPr>
            <a:r>
              <a:rPr lang="en-US" sz="1250" b="1" dirty="0">
                <a:solidFill>
                  <a:srgbClr val="8FD0E3"/>
                </a:solidFill>
                <a:latin typeface="Arial" pitchFamily="34" charset="0"/>
                <a:ea typeface="Arial" pitchFamily="34" charset="-122"/>
                <a:cs typeface="Arial" pitchFamily="34" charset="-120"/>
              </a:rPr>
              <a:t>Format</a:t>
            </a:r>
            <a:endParaRPr lang="en-US" sz="1250" dirty="0"/>
          </a:p>
        </p:txBody>
      </p:sp>
      <p:sp>
        <p:nvSpPr>
          <p:cNvPr id="15" name="Text 13"/>
          <p:cNvSpPr txBox="1"/>
          <p:nvPr/>
        </p:nvSpPr>
        <p:spPr>
          <a:xfrm>
            <a:off x="3200400" y="5495544"/>
            <a:ext cx="6583680" cy="365760"/>
          </a:xfrm>
          <a:prstGeom prst="rect">
            <a:avLst/>
          </a:prstGeom>
          <a:noFill/>
          <a:ln/>
        </p:spPr>
        <p:txBody>
          <a:bodyPr wrap="square" rtlCol="0" anchor="ctr"/>
          <a:lstStyle/>
          <a:p>
            <a:pPr indent="0" marL="0">
              <a:buNone/>
            </a:pPr>
            <a:r>
              <a:rPr lang="en-US" sz="1250" dirty="0">
                <a:solidFill>
                  <a:srgbClr val="FFFFFF"/>
                </a:solidFill>
                <a:latin typeface="Arial" pitchFamily="34" charset="0"/>
                <a:ea typeface="Arial" pitchFamily="34" charset="-122"/>
                <a:cs typeface="Arial" pitchFamily="34" charset="-120"/>
              </a:rPr>
              <a:t>4 sessions, approx. 90 minutes each — 6 hours total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COURSE OVERVIEW</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What We Will Cover Today and Tomorrow</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Session 1 — Prompt Engineering</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How to write clear instructions that get useful answers from any AI tool</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Session 2 — AI for Office Productivity</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Using AI inside Word, Excel, PowerPoint, email and meetings</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Session 3 — AI for Software Development &amp; AI-Assisted Coding</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How AI assists developers across the whole development lifecycle</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Session 4 — GitHub Copilot</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A deep dive into the world's most widely used AI coding assistant</a:t>
            </a:r>
            <a:endParaRPr lang="en-US" sz="1650" dirty="0"/>
          </a:p>
        </p:txBody>
      </p:sp>
      <p:sp>
        <p:nvSpPr>
          <p:cNvPr id="7" name="Shape 5"/>
          <p:cNvSpPr/>
          <p:nvPr/>
        </p:nvSpPr>
        <p:spPr>
          <a:xfrm>
            <a:off x="7452360" y="1645920"/>
            <a:ext cx="4251960" cy="2926080"/>
          </a:xfrm>
          <a:prstGeom prst="roundRect">
            <a:avLst>
              <a:gd name="adj" fmla="val 3125"/>
            </a:avLst>
          </a:prstGeom>
          <a:solidFill>
            <a:srgbClr val="E8912D">
              <a:alpha val="8000"/>
            </a:srgbClr>
          </a:solidFill>
          <a:ln w="19050">
            <a:solidFill>
              <a:srgbClr val="E8912D"/>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E8912D"/>
                </a:solidFill>
                <a:latin typeface="Arial" pitchFamily="34" charset="0"/>
                <a:ea typeface="Arial" pitchFamily="34" charset="-122"/>
                <a:cs typeface="Arial" pitchFamily="34" charset="-120"/>
              </a:rPr>
              <a:t>WHO THIS IS FOR</a:t>
            </a:r>
            <a:endParaRPr lang="en-US" sz="1300" dirty="0"/>
          </a:p>
        </p:txBody>
      </p:sp>
      <p:sp>
        <p:nvSpPr>
          <p:cNvPr id="9" name="Text 7"/>
          <p:cNvSpPr txBox="1"/>
          <p:nvPr/>
        </p:nvSpPr>
        <p:spPr>
          <a:xfrm>
            <a:off x="7726680" y="2212848"/>
            <a:ext cx="3703320" cy="228600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Working professionals with some basic AI experience (e.g. ChatGPT). No programming background needed for Sessions 1–2. Sessions 3–4 introduce coding gently, with diagrams, not deep technical detail.</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D"/>
          </a:solidFill>
          <a:ln/>
        </p:spPr>
      </p:sp>
      <p:sp>
        <p:nvSpPr>
          <p:cNvPr id="3" name="Text 1"/>
          <p:cNvSpPr txBox="1"/>
          <p:nvPr/>
        </p:nvSpPr>
        <p:spPr>
          <a:xfrm>
            <a:off x="9692640" y="365760"/>
            <a:ext cx="2103120" cy="1463040"/>
          </a:xfrm>
          <a:prstGeom prst="rect">
            <a:avLst/>
          </a:prstGeom>
          <a:noFill/>
          <a:ln/>
        </p:spPr>
        <p:txBody>
          <a:bodyPr wrap="square" rtlCol="0" anchor="ctr"/>
          <a:lstStyle/>
          <a:p>
            <a:pPr algn="r" indent="0" marL="0">
              <a:buNone/>
            </a:pPr>
            <a:r>
              <a:rPr lang="en-US" sz="9000" b="1" dirty="0">
                <a:solidFill>
                  <a:srgbClr val="1C7293">
                    <a:alpha val="65000"/>
                  </a:srgbClr>
                </a:solidFill>
                <a:latin typeface="Arial" pitchFamily="34" charset="0"/>
                <a:ea typeface="Arial" pitchFamily="34" charset="-122"/>
                <a:cs typeface="Arial" pitchFamily="34" charset="-120"/>
              </a:rPr>
              <a:t>01</a:t>
            </a:r>
            <a:endParaRPr lang="en-US" sz="9000" dirty="0"/>
          </a:p>
        </p:txBody>
      </p:sp>
      <p:sp>
        <p:nvSpPr>
          <p:cNvPr id="4" name="Text 2"/>
          <p:cNvSpPr txBox="1"/>
          <p:nvPr/>
        </p:nvSpPr>
        <p:spPr>
          <a:xfrm>
            <a:off x="731520" y="2286000"/>
            <a:ext cx="10058400" cy="457200"/>
          </a:xfrm>
          <a:prstGeom prst="rect">
            <a:avLst/>
          </a:prstGeom>
          <a:noFill/>
          <a:ln/>
        </p:spPr>
        <p:txBody>
          <a:bodyPr wrap="square" rtlCol="0" anchor="ctr"/>
          <a:lstStyle/>
          <a:p>
            <a:pPr indent="0" marL="0">
              <a:buNone/>
            </a:pPr>
            <a:r>
              <a:rPr lang="en-US" sz="1500" b="1" spc="200" kern="0" dirty="0">
                <a:solidFill>
                  <a:srgbClr val="8FD0E3"/>
                </a:solidFill>
                <a:latin typeface="Arial" pitchFamily="34" charset="0"/>
                <a:ea typeface="Arial" pitchFamily="34" charset="-122"/>
                <a:cs typeface="Arial" pitchFamily="34" charset="-120"/>
              </a:rPr>
              <a:t>SESSION 1 · DAY 1, 08:45–10:30</a:t>
            </a:r>
            <a:endParaRPr lang="en-US" sz="1500" dirty="0"/>
          </a:p>
        </p:txBody>
      </p:sp>
      <p:sp>
        <p:nvSpPr>
          <p:cNvPr id="5" name="Text 3"/>
          <p:cNvSpPr txBox="1"/>
          <p:nvPr/>
        </p:nvSpPr>
        <p:spPr>
          <a:xfrm>
            <a:off x="731520" y="2743200"/>
            <a:ext cx="10515600" cy="11887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Prompt Engineering</a:t>
            </a:r>
            <a:endParaRPr lang="en-US" sz="3600" dirty="0"/>
          </a:p>
        </p:txBody>
      </p:sp>
      <p:sp>
        <p:nvSpPr>
          <p:cNvPr id="6" name="Text 4"/>
          <p:cNvSpPr txBox="1"/>
          <p:nvPr/>
        </p:nvSpPr>
        <p:spPr>
          <a:xfrm>
            <a:off x="731520" y="3794760"/>
            <a:ext cx="9875520" cy="548640"/>
          </a:xfrm>
          <a:prstGeom prst="rect">
            <a:avLst/>
          </a:prstGeom>
          <a:noFill/>
          <a:ln/>
        </p:spPr>
        <p:txBody>
          <a:bodyPr wrap="square" rtlCol="0" anchor="ctr"/>
          <a:lstStyle/>
          <a:p>
            <a:pPr indent="0" marL="0">
              <a:buNone/>
            </a:pPr>
            <a:r>
              <a:rPr lang="en-US" sz="1600" dirty="0">
                <a:solidFill>
                  <a:srgbClr val="D8E6EC"/>
                </a:solidFill>
                <a:latin typeface="Arial" pitchFamily="34" charset="0"/>
                <a:ea typeface="Arial" pitchFamily="34" charset="-122"/>
                <a:cs typeface="Arial" pitchFamily="34" charset="-120"/>
              </a:rPr>
              <a:t>How to talk to an AI model so it gives you exactly what you need</a:t>
            </a:r>
            <a:endParaRPr lang="en-US" sz="1600" dirty="0"/>
          </a:p>
        </p:txBody>
      </p:sp>
      <p:sp>
        <p:nvSpPr>
          <p:cNvPr id="7" name="Shape 5"/>
          <p:cNvSpPr/>
          <p:nvPr/>
        </p:nvSpPr>
        <p:spPr>
          <a:xfrm>
            <a:off x="731520" y="4572000"/>
            <a:ext cx="10241280" cy="27432"/>
          </a:xfrm>
          <a:prstGeom prst="rect">
            <a:avLst/>
          </a:prstGeom>
          <a:solidFill>
            <a:srgbClr val="E8912D"/>
          </a:solidFill>
          <a:ln/>
        </p:spPr>
      </p:sp>
      <p:sp>
        <p:nvSpPr>
          <p:cNvPr id="8" name="Text 6"/>
          <p:cNvSpPr txBox="1"/>
          <p:nvPr/>
        </p:nvSpPr>
        <p:spPr>
          <a:xfrm>
            <a:off x="731520" y="4709160"/>
            <a:ext cx="10058400" cy="320040"/>
          </a:xfrm>
          <a:prstGeom prst="rect">
            <a:avLst/>
          </a:prstGeom>
          <a:noFill/>
          <a:ln/>
        </p:spPr>
        <p:txBody>
          <a:bodyPr wrap="square" rtlCol="0" anchor="ctr"/>
          <a:lstStyle/>
          <a:p>
            <a:pPr indent="0" marL="0">
              <a:buNone/>
            </a:pPr>
            <a:r>
              <a:rPr lang="en-US" sz="1200" b="1" spc="100" kern="0" dirty="0">
                <a:solidFill>
                  <a:srgbClr val="E8912D"/>
                </a:solidFill>
                <a:latin typeface="Arial" pitchFamily="34" charset="0"/>
                <a:ea typeface="Arial" pitchFamily="34" charset="-122"/>
                <a:cs typeface="Arial" pitchFamily="34" charset="-120"/>
              </a:rPr>
              <a:t>BY THE END OF THIS SESSION, YOU WILL BE ABLE TO</a:t>
            </a:r>
            <a:endParaRPr lang="en-US" sz="1200" dirty="0"/>
          </a:p>
        </p:txBody>
      </p:sp>
      <p:sp>
        <p:nvSpPr>
          <p:cNvPr id="9" name="Text 7"/>
          <p:cNvSpPr txBox="1"/>
          <p:nvPr/>
        </p:nvSpPr>
        <p:spPr>
          <a:xfrm>
            <a:off x="731520" y="5074920"/>
            <a:ext cx="10241280" cy="1554480"/>
          </a:xfrm>
          <a:prstGeom prst="rect">
            <a:avLst/>
          </a:prstGeom>
          <a:noFill/>
          <a:ln/>
        </p:spPr>
        <p:txBody>
          <a:bodyPr wrap="square" rtlCol="0" anchor="ctr"/>
          <a:lstStyle/>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Explain how a large language model turns your words into an answer</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Build a prompt using the R-C-T-F framework</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Apply five core prompting techniques</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Rewrite a weak prompt into a strong one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1.1 WHY IT MATTERS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Two People, Same AI, Different Results</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Every AI tool is only as useful as the instruction you give it.</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Think of AI as a brilliant new employee on day one: smart, fast, but knows nothing about your company or preferences unless you tell it.</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A vague instruction produces a vague result. A clear instruction produces a useful result.</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Good news: strong prompting does not need perfect grammar — it needs clear structure. That works in any language.</a:t>
            </a:r>
            <a:endParaRPr lang="en-US" sz="1650" dirty="0"/>
          </a:p>
        </p:txBody>
      </p:sp>
      <p:sp>
        <p:nvSpPr>
          <p:cNvPr id="7" name="Shape 5"/>
          <p:cNvSpPr/>
          <p:nvPr/>
        </p:nvSpPr>
        <p:spPr>
          <a:xfrm>
            <a:off x="7452360" y="1645920"/>
            <a:ext cx="4251960" cy="3931920"/>
          </a:xfrm>
          <a:prstGeom prst="roundRect">
            <a:avLst>
              <a:gd name="adj" fmla="val 2326"/>
            </a:avLst>
          </a:prstGeom>
          <a:solidFill>
            <a:srgbClr val="1C7293">
              <a:alpha val="8000"/>
            </a:srgbClr>
          </a:solidFill>
          <a:ln w="19050">
            <a:solidFill>
              <a:srgbClr val="1C7293"/>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1C7293"/>
                </a:solidFill>
                <a:latin typeface="Arial" pitchFamily="34" charset="0"/>
                <a:ea typeface="Arial" pitchFamily="34" charset="-122"/>
                <a:cs typeface="Arial" pitchFamily="34" charset="-120"/>
              </a:rPr>
              <a:t>WEAK VS STRONG</a:t>
            </a:r>
            <a:endParaRPr lang="en-US" sz="1300" dirty="0"/>
          </a:p>
        </p:txBody>
      </p:sp>
      <p:sp>
        <p:nvSpPr>
          <p:cNvPr id="9" name="Text 7"/>
          <p:cNvSpPr txBox="1"/>
          <p:nvPr/>
        </p:nvSpPr>
        <p:spPr>
          <a:xfrm>
            <a:off x="7726680" y="2212848"/>
            <a:ext cx="3703320" cy="329184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Weak: “Write about our new product.”</a:t>
            </a:r>
            <a:endParaRPr lang="en-US" sz="1300" dirty="0"/>
          </a:p>
          <a:p>
            <a:pPr indent="0" marL="0">
              <a:buNone/>
            </a:pPr>
            <a:endParaRPr lang="en-US" sz="1300" dirty="0"/>
          </a:p>
          <a:p>
            <a:pPr indent="0" marL="0">
              <a:buNone/>
            </a:pPr>
            <a:r>
              <a:rPr lang="en-US" sz="1300" dirty="0">
                <a:solidFill>
                  <a:srgbClr val="1A1A2E"/>
                </a:solidFill>
                <a:latin typeface="Arial" pitchFamily="34" charset="0"/>
                <a:ea typeface="Arial" pitchFamily="34" charset="-122"/>
                <a:cs typeface="Arial" pitchFamily="34" charset="-120"/>
              </a:rPr>
              <a:t>Strong: “You are a product marketing writer. Write a 100-word announcement for our new wireless earphones, for 25–35 year olds, upbeat but professional tone, highlighting battery life and price.”</a:t>
            </a:r>
            <a:endParaRPr lang="en-US" sz="1300" dirty="0"/>
          </a:p>
          <a:p>
            <a:pPr indent="0" marL="0">
              <a:buNone/>
            </a:pPr>
            <a:endParaRPr lang="en-US" sz="1300" dirty="0"/>
          </a:p>
          <a:p>
            <a:pPr indent="0" marL="0">
              <a:buNone/>
            </a:pPr>
            <a:r>
              <a:rPr lang="en-US" sz="1300" dirty="0">
                <a:solidFill>
                  <a:srgbClr val="1A1A2E"/>
                </a:solidFill>
                <a:latin typeface="Arial" pitchFamily="34" charset="0"/>
                <a:ea typeface="Arial" pitchFamily="34" charset="-122"/>
                <a:cs typeface="Arial" pitchFamily="34" charset="-120"/>
              </a:rPr>
              <a:t>15 extra seconds typing saves 10 minutes of re-writing.</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1.2 HOW IT WORKS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How a Language Model Actually Works</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Trained on an enormous amount of text: books, websites, articles, code.</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It learns patterns: given the words so far, what word is likely to come next?</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Your prompt becomes 'the words so far' — the model predicts a likely, fluent continuation.</a:t>
            </a:r>
            <a:endParaRPr lang="en-US" sz="1650" dirty="0"/>
          </a:p>
        </p:txBody>
      </p:sp>
      <p:sp>
        <p:nvSpPr>
          <p:cNvPr id="7" name="Shape 5"/>
          <p:cNvSpPr/>
          <p:nvPr/>
        </p:nvSpPr>
        <p:spPr>
          <a:xfrm>
            <a:off x="7452360" y="1645920"/>
            <a:ext cx="4251960" cy="3840480"/>
          </a:xfrm>
          <a:prstGeom prst="roundRect">
            <a:avLst>
              <a:gd name="adj" fmla="val 2381"/>
            </a:avLst>
          </a:prstGeom>
          <a:solidFill>
            <a:srgbClr val="B3412D">
              <a:alpha val="8000"/>
            </a:srgbClr>
          </a:solidFill>
          <a:ln w="19050">
            <a:solidFill>
              <a:srgbClr val="B3412D"/>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B3412D"/>
                </a:solidFill>
                <a:latin typeface="Arial" pitchFamily="34" charset="0"/>
                <a:ea typeface="Arial" pitchFamily="34" charset="-122"/>
                <a:cs typeface="Arial" pitchFamily="34" charset="-120"/>
              </a:rPr>
              <a:t>THREE PRACTICAL CONSEQUENCES</a:t>
            </a:r>
            <a:endParaRPr lang="en-US" sz="1300" dirty="0"/>
          </a:p>
        </p:txBody>
      </p:sp>
      <p:sp>
        <p:nvSpPr>
          <p:cNvPr id="9" name="Text 7"/>
          <p:cNvSpPr txBox="1"/>
          <p:nvPr/>
        </p:nvSpPr>
        <p:spPr>
          <a:xfrm>
            <a:off x="7726680" y="2212848"/>
            <a:ext cx="3703320" cy="320040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1. No memory beyond what you tell it — always give context.</a:t>
            </a:r>
            <a:endParaRPr lang="en-US" sz="1300" dirty="0"/>
          </a:p>
          <a:p>
            <a:pPr indent="0" marL="0">
              <a:buNone/>
            </a:pPr>
            <a:endParaRPr lang="en-US" sz="1300" dirty="0"/>
          </a:p>
          <a:p>
            <a:pPr indent="0" marL="0">
              <a:buNone/>
            </a:pPr>
            <a:r>
              <a:rPr lang="en-US" sz="1300" dirty="0">
                <a:solidFill>
                  <a:srgbClr val="1A1A2E"/>
                </a:solidFill>
                <a:latin typeface="Arial" pitchFamily="34" charset="0"/>
                <a:ea typeface="Arial" pitchFamily="34" charset="-122"/>
                <a:cs typeface="Arial" pitchFamily="34" charset="-120"/>
              </a:rPr>
              <a:t>2. It can sound confident while being wrong (a 'hallucination'). Always check facts and numbers.</a:t>
            </a:r>
            <a:endParaRPr lang="en-US" sz="1300" dirty="0"/>
          </a:p>
          <a:p>
            <a:pPr indent="0" marL="0">
              <a:buNone/>
            </a:pPr>
            <a:endParaRPr lang="en-US" sz="1300" dirty="0"/>
          </a:p>
          <a:p>
            <a:pPr indent="0" marL="0">
              <a:buNone/>
            </a:pPr>
            <a:r>
              <a:rPr lang="en-US" sz="1300" dirty="0">
                <a:solidFill>
                  <a:srgbClr val="1A1A2E"/>
                </a:solidFill>
                <a:latin typeface="Arial" pitchFamily="34" charset="0"/>
                <a:ea typeface="Arial" pitchFamily="34" charset="-122"/>
                <a:cs typeface="Arial" pitchFamily="34" charset="-120"/>
              </a:rPr>
              <a:t>3. Limited 'context window' — very long documents may need to be split into parts.</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1.3 THE FRAMEWORK</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The R-C-T-F Framework</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pic>
        <p:nvPicPr>
          <p:cNvPr id="6" name="Image 0" descr="/home/claude/course/diagrams/d1_rctf_framework.png">    </p:cNvPr>
          <p:cNvPicPr>
            <a:picLocks noChangeAspect="1"/>
          </p:cNvPicPr>
          <p:nvPr/>
        </p:nvPicPr>
        <p:blipFill>
          <a:blip r:embed="rId1"/>
          <a:stretch>
            <a:fillRect/>
          </a:stretch>
        </p:blipFill>
        <p:spPr>
          <a:xfrm>
            <a:off x="792328" y="1508760"/>
            <a:ext cx="10607040" cy="4663440"/>
          </a:xfrm>
          <a:prstGeom prst="rect">
            <a:avLst/>
          </a:prstGeom>
        </p:spPr>
      </p:pic>
      <p:sp>
        <p:nvSpPr>
          <p:cNvPr id="7" name="Text 4"/>
          <p:cNvSpPr txBox="1"/>
          <p:nvPr/>
        </p:nvSpPr>
        <p:spPr>
          <a:xfrm>
            <a:off x="502920" y="6245352"/>
            <a:ext cx="11155680" cy="320040"/>
          </a:xfrm>
          <a:prstGeom prst="rect">
            <a:avLst/>
          </a:prstGeom>
          <a:noFill/>
          <a:ln/>
        </p:spPr>
        <p:txBody>
          <a:bodyPr wrap="square" rtlCol="0" anchor="ctr"/>
          <a:lstStyle/>
          <a:p>
            <a:pPr algn="ctr" indent="0" marL="0">
              <a:buNone/>
            </a:pPr>
            <a:r>
              <a:rPr lang="en-US" sz="1150" i="1" dirty="0">
                <a:solidFill>
                  <a:srgbClr val="6B7785"/>
                </a:solidFill>
                <a:latin typeface="Arial" pitchFamily="34" charset="0"/>
                <a:ea typeface="Arial" pitchFamily="34" charset="-122"/>
                <a:cs typeface="Arial" pitchFamily="34" charset="-120"/>
              </a:rPr>
              <a:t>Figure 1.1 — Role, Context, Task, Format: four questions to answer before you write a prompt.</a:t>
            </a:r>
            <a:endParaRPr lang="en-US" sz="1150" dirty="0"/>
          </a:p>
        </p:txBody>
      </p:sp>
      <p:sp>
        <p:nvSpPr>
          <p:cNvPr id="8" name="Text 5"/>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1.3 THE FRAMEWORK</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R-C-T-F in Practice</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Role — who should the AI act as?</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Focuses the AI's ‘voice’ and knowledge, e.g. “You are a senior HR manager.”</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Context — what background does it need?</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The most frequently skipped, most important ingredient: audience, constraints, source text.</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Task — what exact job should it do?</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Use an action verb: summarise, translate, compare, draft, find errors in…</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Format — how should the answer look?</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Length, structure, tone, language — removes guesswork from the model.</a:t>
            </a:r>
            <a:endParaRPr lang="en-US" sz="1650" dirty="0"/>
          </a:p>
        </p:txBody>
      </p:sp>
      <p:sp>
        <p:nvSpPr>
          <p:cNvPr id="7" name="Shape 5"/>
          <p:cNvSpPr/>
          <p:nvPr/>
        </p:nvSpPr>
        <p:spPr>
          <a:xfrm>
            <a:off x="7452360" y="1645920"/>
            <a:ext cx="4251960" cy="2377440"/>
          </a:xfrm>
          <a:prstGeom prst="roundRect">
            <a:avLst>
              <a:gd name="adj" fmla="val 3846"/>
            </a:avLst>
          </a:prstGeom>
          <a:solidFill>
            <a:srgbClr val="2E8B57">
              <a:alpha val="8000"/>
            </a:srgbClr>
          </a:solidFill>
          <a:ln w="19050">
            <a:solidFill>
              <a:srgbClr val="2E8B57"/>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2E8B57"/>
                </a:solidFill>
                <a:latin typeface="Arial" pitchFamily="34" charset="0"/>
                <a:ea typeface="Arial" pitchFamily="34" charset="-122"/>
                <a:cs typeface="Arial" pitchFamily="34" charset="-120"/>
              </a:rPr>
              <a:t>TIP</a:t>
            </a:r>
            <a:endParaRPr lang="en-US" sz="1300" dirty="0"/>
          </a:p>
        </p:txBody>
      </p:sp>
      <p:sp>
        <p:nvSpPr>
          <p:cNvPr id="9" name="Text 7"/>
          <p:cNvSpPr txBox="1"/>
          <p:nvPr/>
        </p:nvSpPr>
        <p:spPr>
          <a:xfrm>
            <a:off x="7726680" y="2212848"/>
            <a:ext cx="3703320" cy="173736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You do not always need all four. For a quick, simple question, skip the framework. It earns its value as the task becomes more important or specific — a client email, a report, a policy document.</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1.4 TECHNIQUES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Five Core Prompting Techniques</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1. Zero-shot — ask directly, no examples. Fast, good for common tasks.</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2. Few-shot — give 1–2 examples of the style you want before asking.</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3. Chain-of-thought — ask the AI to “think step by step.” Reduces careless mistakes.</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4. Role (persona) prompting — covered above; one of the highest-impact additions.</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5. Iterative refinement — treat prompting as a short conversation, not one command.</a:t>
            </a:r>
            <a:endParaRPr lang="en-US" sz="1650" dirty="0"/>
          </a:p>
        </p:txBody>
      </p:sp>
      <p:sp>
        <p:nvSpPr>
          <p:cNvPr id="7" name="Shape 5"/>
          <p:cNvSpPr/>
          <p:nvPr/>
        </p:nvSpPr>
        <p:spPr>
          <a:xfrm>
            <a:off x="7452360" y="1645920"/>
            <a:ext cx="4251960" cy="3657600"/>
          </a:xfrm>
          <a:prstGeom prst="roundRect">
            <a:avLst>
              <a:gd name="adj" fmla="val 2500"/>
            </a:avLst>
          </a:prstGeom>
          <a:solidFill>
            <a:srgbClr val="E8912D">
              <a:alpha val="8000"/>
            </a:srgbClr>
          </a:solidFill>
          <a:ln w="19050">
            <a:solidFill>
              <a:srgbClr val="E8912D"/>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E8912D"/>
                </a:solidFill>
                <a:latin typeface="Arial" pitchFamily="34" charset="0"/>
                <a:ea typeface="Arial" pitchFamily="34" charset="-122"/>
                <a:cs typeface="Arial" pitchFamily="34" charset="-120"/>
              </a:rPr>
              <a:t>FAST REFINEMENT PHRASES</a:t>
            </a:r>
            <a:endParaRPr lang="en-US" sz="1300" dirty="0"/>
          </a:p>
        </p:txBody>
      </p:sp>
      <p:sp>
        <p:nvSpPr>
          <p:cNvPr id="9" name="Text 7"/>
          <p:cNvSpPr txBox="1"/>
          <p:nvPr/>
        </p:nvSpPr>
        <p:spPr>
          <a:xfrm>
            <a:off x="7726680" y="2212848"/>
            <a:ext cx="3703320" cy="301752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Instead of rewriting the whole prompt, try:</a:t>
            </a:r>
            <a:endParaRPr lang="en-US" sz="1300" dirty="0"/>
          </a:p>
          <a:p>
            <a:pPr indent="0" marL="0">
              <a:buNone/>
            </a:pPr>
            <a:endParaRPr lang="en-US" sz="1300" dirty="0"/>
          </a:p>
          <a:p>
            <a:pPr indent="0" marL="0">
              <a:buNone/>
            </a:pPr>
            <a:r>
              <a:rPr lang="en-US" sz="1300" dirty="0">
                <a:solidFill>
                  <a:srgbClr val="1A1A2E"/>
                </a:solidFill>
                <a:latin typeface="Arial" pitchFamily="34" charset="0"/>
                <a:ea typeface="Arial" pitchFamily="34" charset="-122"/>
                <a:cs typeface="Arial" pitchFamily="34" charset="-120"/>
              </a:rPr>
              <a:t>• “Make it shorter”</a:t>
            </a:r>
            <a:endParaRPr lang="en-US" sz="1300" dirty="0"/>
          </a:p>
          <a:p>
            <a:pPr indent="0" marL="0">
              <a:buNone/>
            </a:pPr>
            <a:r>
              <a:rPr lang="en-US" sz="1300" dirty="0">
                <a:solidFill>
                  <a:srgbClr val="1A1A2E"/>
                </a:solidFill>
                <a:latin typeface="Arial" pitchFamily="34" charset="0"/>
                <a:ea typeface="Arial" pitchFamily="34" charset="-122"/>
                <a:cs typeface="Arial" pitchFamily="34" charset="-120"/>
              </a:rPr>
              <a:t>• “Make it more formal”</a:t>
            </a:r>
            <a:endParaRPr lang="en-US" sz="1300" dirty="0"/>
          </a:p>
          <a:p>
            <a:pPr indent="0" marL="0">
              <a:buNone/>
            </a:pPr>
            <a:r>
              <a:rPr lang="en-US" sz="1300" dirty="0">
                <a:solidFill>
                  <a:srgbClr val="1A1A2E"/>
                </a:solidFill>
                <a:latin typeface="Arial" pitchFamily="34" charset="0"/>
                <a:ea typeface="Arial" pitchFamily="34" charset="-122"/>
                <a:cs typeface="Arial" pitchFamily="34" charset="-120"/>
              </a:rPr>
              <a:t>• “Add one example”</a:t>
            </a:r>
            <a:endParaRPr lang="en-US" sz="1300" dirty="0"/>
          </a:p>
          <a:p>
            <a:pPr indent="0" marL="0">
              <a:buNone/>
            </a:pPr>
            <a:r>
              <a:rPr lang="en-US" sz="1300" dirty="0">
                <a:solidFill>
                  <a:srgbClr val="1A1A2E"/>
                </a:solidFill>
                <a:latin typeface="Arial" pitchFamily="34" charset="0"/>
                <a:ea typeface="Arial" pitchFamily="34" charset="-122"/>
                <a:cs typeface="Arial" pitchFamily="34" charset="-120"/>
              </a:rPr>
              <a:t>• “Explain like I am new to this topic”</a:t>
            </a:r>
            <a:endParaRPr lang="en-US" sz="1300" dirty="0"/>
          </a:p>
          <a:p>
            <a:pPr indent="0" marL="0">
              <a:buNone/>
            </a:pPr>
            <a:r>
              <a:rPr lang="en-US" sz="1300" dirty="0">
                <a:solidFill>
                  <a:srgbClr val="1A1A2E"/>
                </a:solidFill>
                <a:latin typeface="Arial" pitchFamily="34" charset="0"/>
                <a:ea typeface="Arial" pitchFamily="34" charset="-122"/>
                <a:cs typeface="Arial" pitchFamily="34" charset="-120"/>
              </a:rPr>
              <a:t>• “Give me three alternative versions”</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1.4 TECHNIQUES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Prompting Is a Loop, Not a Command</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pic>
        <p:nvPicPr>
          <p:cNvPr id="6" name="Image 0" descr="/home/claude/course/diagrams/d2_iteration_loop.png">    </p:cNvPr>
          <p:cNvPicPr>
            <a:picLocks noChangeAspect="1"/>
          </p:cNvPicPr>
          <p:nvPr/>
        </p:nvPicPr>
        <p:blipFill>
          <a:blip r:embed="rId1"/>
          <a:stretch>
            <a:fillRect/>
          </a:stretch>
        </p:blipFill>
        <p:spPr>
          <a:xfrm>
            <a:off x="792328" y="1508760"/>
            <a:ext cx="10607040" cy="4663440"/>
          </a:xfrm>
          <a:prstGeom prst="rect">
            <a:avLst/>
          </a:prstGeom>
        </p:spPr>
      </p:pic>
      <p:sp>
        <p:nvSpPr>
          <p:cNvPr id="7" name="Text 4"/>
          <p:cNvSpPr txBox="1"/>
          <p:nvPr/>
        </p:nvSpPr>
        <p:spPr>
          <a:xfrm>
            <a:off x="502920" y="6245352"/>
            <a:ext cx="11155680" cy="320040"/>
          </a:xfrm>
          <a:prstGeom prst="rect">
            <a:avLst/>
          </a:prstGeom>
          <a:noFill/>
          <a:ln/>
        </p:spPr>
        <p:txBody>
          <a:bodyPr wrap="square" rtlCol="0" anchor="ctr"/>
          <a:lstStyle/>
          <a:p>
            <a:pPr algn="ctr" indent="0" marL="0">
              <a:buNone/>
            </a:pPr>
            <a:r>
              <a:rPr lang="en-US" sz="1150" i="1" dirty="0">
                <a:solidFill>
                  <a:srgbClr val="6B7785"/>
                </a:solidFill>
                <a:latin typeface="Arial" pitchFamily="34" charset="0"/>
                <a:ea typeface="Arial" pitchFamily="34" charset="-122"/>
                <a:cs typeface="Arial" pitchFamily="34" charset="-120"/>
              </a:rPr>
              <a:t>Figure 1.2 — The prompt iteration loop: draft, read, spot the gap, refine, repeat.</a:t>
            </a:r>
            <a:endParaRPr lang="en-US" sz="1150" dirty="0"/>
          </a:p>
        </p:txBody>
      </p:sp>
      <p:sp>
        <p:nvSpPr>
          <p:cNvPr id="8" name="Text 5"/>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1.5 CASE STUDIES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Real-World Examples — Amazon &amp; eBay</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11155680" cy="4572000"/>
          </a:xfrm>
          <a:prstGeom prst="rect">
            <a:avLst/>
          </a:prstGeom>
          <a:noFill/>
          <a:ln/>
        </p:spPr>
        <p:txBody>
          <a:bodyPr wrap="square" rtlCol="0" anchor="t"/>
          <a:lstStyle/>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Amazon — Rufus shopping assistant</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Answers customer product questions by combining product data, reviews and general knowledge — context-rich prompting at scale.</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Amazon's ‘working backwards’ culture</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Employees draft a structured press-release-style document before building anything — the same discipline as R-C-T-F.</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eBay — ‘Magical Listing’ tool</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Writes a listing from a seller's photo. Over 95% of sellers who tried the AI description kept it.</a:t>
            </a:r>
            <a:endParaRPr lang="en-US" sz="1650" dirty="0"/>
          </a:p>
        </p:txBody>
      </p:sp>
      <p:sp>
        <p:nvSpPr>
          <p:cNvPr id="7" name="Text 5"/>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1.5 CASE STUDIES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A Closer Look — Rakuten</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Rakuten, a global e-commerce and internet-services group, has invested heavily in generative AI across customer support and product recommendations within its Rakuten Ichiba marketplace.</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The same R-C-T-F discipline used to write an eBay listing in English works identically for a marketplace listing in any other language.</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Mercari and Rakuten, like eBay, face the same ‘cold start’ listing problem that AI has helped solve.</a:t>
            </a:r>
            <a:endParaRPr lang="en-US" sz="1650" dirty="0"/>
          </a:p>
        </p:txBody>
      </p:sp>
      <p:sp>
        <p:nvSpPr>
          <p:cNvPr id="7" name="Shape 5"/>
          <p:cNvSpPr/>
          <p:nvPr/>
        </p:nvSpPr>
        <p:spPr>
          <a:xfrm>
            <a:off x="7452360" y="1645920"/>
            <a:ext cx="4251960" cy="2377440"/>
          </a:xfrm>
          <a:prstGeom prst="roundRect">
            <a:avLst>
              <a:gd name="adj" fmla="val 3846"/>
            </a:avLst>
          </a:prstGeom>
          <a:solidFill>
            <a:srgbClr val="E8912D">
              <a:alpha val="8000"/>
            </a:srgbClr>
          </a:solidFill>
          <a:ln w="19050">
            <a:solidFill>
              <a:srgbClr val="E8912D"/>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E8912D"/>
                </a:solidFill>
                <a:latin typeface="Arial" pitchFamily="34" charset="0"/>
                <a:ea typeface="Arial" pitchFamily="34" charset="-122"/>
                <a:cs typeface="Arial" pitchFamily="34" charset="-120"/>
              </a:rPr>
              <a:t>WHY THIS MATTERS FOR YOU</a:t>
            </a:r>
            <a:endParaRPr lang="en-US" sz="1300" dirty="0"/>
          </a:p>
        </p:txBody>
      </p:sp>
      <p:sp>
        <p:nvSpPr>
          <p:cNvPr id="9" name="Text 7"/>
          <p:cNvSpPr txBox="1"/>
          <p:nvPr/>
        </p:nvSpPr>
        <p:spPr>
          <a:xfrm>
            <a:off x="7726680" y="2212848"/>
            <a:ext cx="3703320" cy="173736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If your organisation sells or lists products online, the same prompt structure used for a product description works equally well for an internal report, a customer email, or a meeting summary.</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274320" y="274320"/>
            <a:ext cx="11643055" cy="6309360"/>
          </a:xfrm>
          <a:prstGeom prst="rect">
            <a:avLst>
              <a:gd name="adj" fmla="val 1739"/>
            </a:avLst>
          </a:prstGeom>
          <a:solidFill>
            <a:srgbClr val="FFFFFF"/>
          </a:solidFill>
          <a:ln w="25400">
            <a:solidFill>
              <a:srgbClr val="15324D"/>
            </a:solidFill>
            <a:prstDash val="dash"/>
          </a:ln>
        </p:spPr>
      </p:sp>
      <p:sp>
        <p:nvSpPr>
          <p:cNvPr id="3" name="Shape 1"/>
          <p:cNvSpPr/>
          <p:nvPr/>
        </p:nvSpPr>
        <p:spPr>
          <a:xfrm>
            <a:off x="594360" y="548640"/>
            <a:ext cx="1737360" cy="365760"/>
          </a:xfrm>
          <a:prstGeom prst="roundRect">
            <a:avLst>
              <a:gd name="adj" fmla="val 15000"/>
            </a:avLst>
          </a:prstGeom>
          <a:solidFill>
            <a:srgbClr val="15324D"/>
          </a:solidFill>
          <a:ln/>
        </p:spPr>
      </p:sp>
      <p:sp>
        <p:nvSpPr>
          <p:cNvPr id="4" name="Text 2"/>
          <p:cNvSpPr txBox="1"/>
          <p:nvPr/>
        </p:nvSpPr>
        <p:spPr>
          <a:xfrm>
            <a:off x="594360" y="548640"/>
            <a:ext cx="17373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EXERCISE 1</a:t>
            </a:r>
            <a:endParaRPr lang="en-US" sz="1200" dirty="0"/>
          </a:p>
        </p:txBody>
      </p:sp>
      <p:sp>
        <p:nvSpPr>
          <p:cNvPr id="5" name="Text 3"/>
          <p:cNvSpPr txBox="1"/>
          <p:nvPr/>
        </p:nvSpPr>
        <p:spPr>
          <a:xfrm>
            <a:off x="2514600" y="502920"/>
            <a:ext cx="8686800" cy="457200"/>
          </a:xfrm>
          <a:prstGeom prst="rect">
            <a:avLst/>
          </a:prstGeom>
          <a:noFill/>
          <a:ln/>
        </p:spPr>
        <p:txBody>
          <a:bodyPr wrap="square" rtlCol="0" anchor="ctr"/>
          <a:lstStyle/>
          <a:p>
            <a:pPr indent="0" marL="0">
              <a:buNone/>
            </a:pPr>
            <a:r>
              <a:rPr lang="en-US" sz="2000" b="1" dirty="0">
                <a:solidFill>
                  <a:srgbClr val="15324D"/>
                </a:solidFill>
                <a:latin typeface="Arial" pitchFamily="34" charset="0"/>
                <a:ea typeface="Arial" pitchFamily="34" charset="-122"/>
                <a:cs typeface="Arial" pitchFamily="34" charset="-120"/>
              </a:rPr>
              <a:t>Fix the Weak Prompt</a:t>
            </a:r>
            <a:endParaRPr lang="en-US" sz="2000" dirty="0"/>
          </a:p>
        </p:txBody>
      </p:sp>
      <p:sp>
        <p:nvSpPr>
          <p:cNvPr id="6" name="Text 4"/>
          <p:cNvSpPr txBox="1"/>
          <p:nvPr/>
        </p:nvSpPr>
        <p:spPr>
          <a:xfrm>
            <a:off x="685800" y="1097280"/>
            <a:ext cx="10789920" cy="914400"/>
          </a:xfrm>
          <a:prstGeom prst="rect">
            <a:avLst/>
          </a:prstGeom>
          <a:noFill/>
          <a:ln/>
        </p:spPr>
        <p:txBody>
          <a:bodyPr wrap="square" rtlCol="0" anchor="t"/>
          <a:lstStyle/>
          <a:p>
            <a:pPr indent="0" marL="0">
              <a:buNone/>
            </a:pPr>
            <a:r>
              <a:rPr lang="en-US" sz="1350" dirty="0">
                <a:solidFill>
                  <a:srgbClr val="1A1A2E"/>
                </a:solidFill>
                <a:latin typeface="Arial" pitchFamily="34" charset="0"/>
                <a:ea typeface="Arial" pitchFamily="34" charset="-122"/>
                <a:cs typeface="Arial" pitchFamily="34" charset="-120"/>
              </a:rPr>
              <a:t>Scenario: Your manager asks you to “use AI to write something for our clients about our new service.” A colleague tries this prompt: “Write something about our new service for clients.”</a:t>
            </a:r>
            <a:endParaRPr lang="en-US" sz="1350" dirty="0"/>
          </a:p>
        </p:txBody>
      </p:sp>
      <p:sp>
        <p:nvSpPr>
          <p:cNvPr id="7" name="Text 5"/>
          <p:cNvSpPr txBox="1"/>
          <p:nvPr/>
        </p:nvSpPr>
        <p:spPr>
          <a:xfrm>
            <a:off x="685800" y="1965960"/>
            <a:ext cx="10789920" cy="685800"/>
          </a:xfrm>
          <a:prstGeom prst="rect">
            <a:avLst/>
          </a:prstGeom>
          <a:noFill/>
          <a:ln/>
        </p:spPr>
        <p:txBody>
          <a:bodyPr wrap="square" rtlCol="0" anchor="t"/>
          <a:lstStyle/>
          <a:p>
            <a:pPr indent="0" marL="0">
              <a:buNone/>
            </a:pPr>
            <a:r>
              <a:rPr lang="en-US" sz="1350" b="1" dirty="0">
                <a:solidFill>
                  <a:srgbClr val="15324D"/>
                </a:solidFill>
                <a:latin typeface="Arial" pitchFamily="34" charset="0"/>
                <a:ea typeface="Arial" pitchFamily="34" charset="-122"/>
                <a:cs typeface="Arial" pitchFamily="34" charset="-120"/>
              </a:rPr>
              <a:t>Your task: Rewrite this into a strong prompt using R-C-T-F. Decide: who is the audience? What is the service? What tone and length?</a:t>
            </a:r>
            <a:endParaRPr lang="en-US" sz="1350" dirty="0"/>
          </a:p>
        </p:txBody>
      </p:sp>
      <p:sp>
        <p:nvSpPr>
          <p:cNvPr id="8" name="Shape 6"/>
          <p:cNvSpPr/>
          <p:nvPr/>
        </p:nvSpPr>
        <p:spPr>
          <a:xfrm>
            <a:off x="685800" y="2788920"/>
            <a:ext cx="5120640" cy="3291840"/>
          </a:xfrm>
          <a:prstGeom prst="roundRect">
            <a:avLst>
              <a:gd name="adj" fmla="val 2222"/>
            </a:avLst>
          </a:prstGeom>
          <a:solidFill>
            <a:srgbClr val="1C7293">
              <a:alpha val="7000"/>
            </a:srgbClr>
          </a:solidFill>
          <a:ln w="15240">
            <a:solidFill>
              <a:srgbClr val="1C7293"/>
            </a:solidFill>
            <a:prstDash val="solid"/>
          </a:ln>
        </p:spPr>
      </p:sp>
      <p:sp>
        <p:nvSpPr>
          <p:cNvPr id="9" name="Text 7"/>
          <p:cNvSpPr txBox="1"/>
          <p:nvPr/>
        </p:nvSpPr>
        <p:spPr>
          <a:xfrm>
            <a:off x="868680" y="2926080"/>
            <a:ext cx="4754880" cy="365760"/>
          </a:xfrm>
          <a:prstGeom prst="rect">
            <a:avLst/>
          </a:prstGeom>
          <a:noFill/>
          <a:ln/>
        </p:spPr>
        <p:txBody>
          <a:bodyPr wrap="square" rtlCol="0" anchor="ctr"/>
          <a:lstStyle/>
          <a:p>
            <a:pPr indent="0" marL="0">
              <a:buNone/>
            </a:pPr>
            <a:r>
              <a:rPr lang="en-US" sz="1200" b="1" dirty="0">
                <a:solidFill>
                  <a:srgbClr val="1C7293"/>
                </a:solidFill>
                <a:latin typeface="Arial" pitchFamily="34" charset="0"/>
                <a:ea typeface="Arial" pitchFamily="34" charset="-122"/>
                <a:cs typeface="Arial" pitchFamily="34" charset="-120"/>
              </a:rPr>
              <a:t>VERSION A — WITH LAPTOP / INTERNET</a:t>
            </a:r>
            <a:endParaRPr lang="en-US" sz="1200" dirty="0"/>
          </a:p>
        </p:txBody>
      </p:sp>
      <p:sp>
        <p:nvSpPr>
          <p:cNvPr id="10" name="Text 8"/>
          <p:cNvSpPr txBox="1"/>
          <p:nvPr/>
        </p:nvSpPr>
        <p:spPr>
          <a:xfrm>
            <a:off x="868680" y="3337560"/>
            <a:ext cx="4754880" cy="2560320"/>
          </a:xfrm>
          <a:prstGeom prst="rect">
            <a:avLst/>
          </a:prstGeom>
          <a:noFill/>
          <a:ln/>
        </p:spPr>
        <p:txBody>
          <a:bodyPr wrap="square" rtlCol="0" anchor="t"/>
          <a:lstStyle/>
          <a:p>
            <a:pPr indent="0" marL="0">
              <a:buNone/>
            </a:pPr>
            <a:r>
              <a:rPr lang="en-US" sz="1250" dirty="0">
                <a:solidFill>
                  <a:srgbClr val="1A1A2E"/>
                </a:solidFill>
                <a:latin typeface="Arial" pitchFamily="34" charset="0"/>
                <a:ea typeface="Arial" pitchFamily="34" charset="-122"/>
                <a:cs typeface="Arial" pitchFamily="34" charset="-120"/>
              </a:rPr>
              <a:t>With laptop/internet:</a:t>
            </a:r>
            <a:endParaRPr lang="en-US" sz="1250" dirty="0"/>
          </a:p>
          <a:p>
            <a:pPr indent="0" marL="0">
              <a:buNone/>
            </a:pPr>
            <a:r>
              <a:rPr lang="en-US" sz="1250" dirty="0">
                <a:solidFill>
                  <a:srgbClr val="1A1A2E"/>
                </a:solidFill>
                <a:latin typeface="Arial" pitchFamily="34" charset="0"/>
                <a:ea typeface="Arial" pitchFamily="34" charset="-122"/>
                <a:cs typeface="Arial" pitchFamily="34" charset="-120"/>
              </a:rPr>
              <a:t>Type your improved prompt into any AI chat tool. Run it. Compare the output to what the weak prompt would have likely produced. Share your prompt and result with a neighbour.</a:t>
            </a:r>
            <a:endParaRPr lang="en-US" sz="1250" dirty="0"/>
          </a:p>
        </p:txBody>
      </p:sp>
      <p:sp>
        <p:nvSpPr>
          <p:cNvPr id="11" name="Shape 9"/>
          <p:cNvSpPr/>
          <p:nvPr/>
        </p:nvSpPr>
        <p:spPr>
          <a:xfrm>
            <a:off x="6080760" y="2788920"/>
            <a:ext cx="5120640" cy="3291840"/>
          </a:xfrm>
          <a:prstGeom prst="roundRect">
            <a:avLst>
              <a:gd name="adj" fmla="val 2222"/>
            </a:avLst>
          </a:prstGeom>
          <a:solidFill>
            <a:srgbClr val="E8912D">
              <a:alpha val="7000"/>
            </a:srgbClr>
          </a:solidFill>
          <a:ln w="15240">
            <a:solidFill>
              <a:srgbClr val="E8912D"/>
            </a:solidFill>
            <a:prstDash val="solid"/>
          </a:ln>
        </p:spPr>
      </p:sp>
      <p:sp>
        <p:nvSpPr>
          <p:cNvPr id="12" name="Text 10"/>
          <p:cNvSpPr txBox="1"/>
          <p:nvPr/>
        </p:nvSpPr>
        <p:spPr>
          <a:xfrm>
            <a:off x="6263640" y="2926080"/>
            <a:ext cx="4754880" cy="365760"/>
          </a:xfrm>
          <a:prstGeom prst="rect">
            <a:avLst/>
          </a:prstGeom>
          <a:noFill/>
          <a:ln/>
        </p:spPr>
        <p:txBody>
          <a:bodyPr wrap="square" rtlCol="0" anchor="ctr"/>
          <a:lstStyle/>
          <a:p>
            <a:pPr indent="0" marL="0">
              <a:buNone/>
            </a:pPr>
            <a:r>
              <a:rPr lang="en-US" sz="1200" b="1" dirty="0">
                <a:solidFill>
                  <a:srgbClr val="B5680F"/>
                </a:solidFill>
                <a:latin typeface="Arial" pitchFamily="34" charset="0"/>
                <a:ea typeface="Arial" pitchFamily="34" charset="-122"/>
                <a:cs typeface="Arial" pitchFamily="34" charset="-120"/>
              </a:rPr>
              <a:t>VERSION B — PAPER ONLY</a:t>
            </a:r>
            <a:endParaRPr lang="en-US" sz="1200" dirty="0"/>
          </a:p>
        </p:txBody>
      </p:sp>
      <p:sp>
        <p:nvSpPr>
          <p:cNvPr id="13" name="Text 11"/>
          <p:cNvSpPr txBox="1"/>
          <p:nvPr/>
        </p:nvSpPr>
        <p:spPr>
          <a:xfrm>
            <a:off x="6263640" y="3337560"/>
            <a:ext cx="4754880" cy="2560320"/>
          </a:xfrm>
          <a:prstGeom prst="rect">
            <a:avLst/>
          </a:prstGeom>
          <a:noFill/>
          <a:ln/>
        </p:spPr>
        <p:txBody>
          <a:bodyPr wrap="square" rtlCol="0" anchor="t"/>
          <a:lstStyle/>
          <a:p>
            <a:pPr indent="0" marL="0">
              <a:buNone/>
            </a:pPr>
            <a:r>
              <a:rPr lang="en-US" sz="1250" dirty="0">
                <a:solidFill>
                  <a:srgbClr val="1A1A2E"/>
                </a:solidFill>
                <a:latin typeface="Arial" pitchFamily="34" charset="0"/>
                <a:ea typeface="Arial" pitchFamily="34" charset="-122"/>
                <a:cs typeface="Arial" pitchFamily="34" charset="-120"/>
              </a:rPr>
              <a:t>Paper only:</a:t>
            </a:r>
            <a:endParaRPr lang="en-US" sz="1250" dirty="0"/>
          </a:p>
          <a:p>
            <a:pPr indent="0" marL="0">
              <a:buNone/>
            </a:pPr>
            <a:r>
              <a:rPr lang="en-US" sz="1250" dirty="0">
                <a:solidFill>
                  <a:srgbClr val="1A1A2E"/>
                </a:solidFill>
                <a:latin typeface="Arial" pitchFamily="34" charset="0"/>
                <a:ea typeface="Arial" pitchFamily="34" charset="-122"/>
                <a:cs typeface="Arial" pitchFamily="34" charset="-120"/>
              </a:rPr>
              <a:t>Write your improved prompt on paper, labelling each part: R / C / T / F. Exchange with a neighbour. Each person reads the other's prompt aloud and guesses what kind of answer it would produce.</a:t>
            </a:r>
            <a:endParaRPr lang="en-US" sz="1250" dirty="0"/>
          </a:p>
        </p:txBody>
      </p:sp>
      <p:sp>
        <p:nvSpPr>
          <p:cNvPr id="14" name="Text 12"/>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 · Facilitator answer key in Appendix C</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1.6 TOOL DIRECTORY</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Tools for Prompting — Free &amp; Paid</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55680" cy="914400"/>
        </p:xfrm>
        <a:graphic>
          <a:graphicData uri="http://schemas.openxmlformats.org/drawingml/2006/table">
            <a:tbl>
              <a:tblPr/>
              <a:tblGrid>
                <a:gridCol w="3291840"/>
                <a:gridCol w="2011680"/>
                <a:gridCol w="5852160"/>
              </a:tblGrid>
              <a:tr h="0">
                <a:tc>
                  <a:txBody>
                    <a:bodyPr/>
                    <a:lstStyle/>
                    <a:p>
                      <a:pPr algn="l" indent="0" marL="0">
                        <a:buNone/>
                      </a:pPr>
                      <a:r>
                        <a:rPr lang="en-US" sz="1250" b="1" dirty="0">
                          <a:solidFill>
                            <a:srgbClr val="FFFFFF"/>
                          </a:solidFill>
                        </a:rPr>
                        <a:t>Tool</a:t>
                      </a:r>
                      <a:endParaRPr lang="en-US" sz="12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15324D"/>
                    </a:solidFill>
                  </a:tcPr>
                </a:tc>
                <a:tc>
                  <a:txBody>
                    <a:bodyPr/>
                    <a:lstStyle/>
                    <a:p>
                      <a:pPr algn="l" indent="0" marL="0">
                        <a:buNone/>
                      </a:pPr>
                      <a:r>
                        <a:rPr lang="en-US" sz="1250" b="1" dirty="0">
                          <a:solidFill>
                            <a:srgbClr val="FFFFFF"/>
                          </a:solidFill>
                        </a:rPr>
                        <a:t>Type</a:t>
                      </a:r>
                      <a:endParaRPr lang="en-US" sz="12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15324D"/>
                    </a:solidFill>
                  </a:tcPr>
                </a:tc>
                <a:tc>
                  <a:txBody>
                    <a:bodyPr/>
                    <a:lstStyle/>
                    <a:p>
                      <a:pPr algn="l" indent="0" marL="0">
                        <a:buNone/>
                      </a:pPr>
                      <a:r>
                        <a:rPr lang="en-US" sz="1250" b="1" dirty="0">
                          <a:solidFill>
                            <a:srgbClr val="FFFFFF"/>
                          </a:solidFill>
                        </a:rPr>
                        <a:t>Best for</a:t>
                      </a:r>
                      <a:endParaRPr lang="en-US" sz="12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15324D"/>
                    </a:solidFill>
                  </a:tcPr>
                </a:tc>
              </a:tr>
              <a:tr h="0">
                <a:tc>
                  <a:txBody>
                    <a:bodyPr/>
                    <a:lstStyle/>
                    <a:p>
                      <a:pPr algn="l" indent="0" marL="0">
                        <a:buNone/>
                      </a:pPr>
                      <a:r>
                        <a:rPr lang="en-US" sz="1150" b="1" dirty="0">
                          <a:solidFill>
                            <a:srgbClr val="1A1A2E"/>
                          </a:solidFill>
                        </a:rPr>
                        <a:t>ChatGPT</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General-purpose chat, writing, brainstorming</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r>
              <a:tr h="0">
                <a:tc>
                  <a:txBody>
                    <a:bodyPr/>
                    <a:lstStyle/>
                    <a:p>
                      <a:pPr algn="l" indent="0" marL="0">
                        <a:buNone/>
                      </a:pPr>
                      <a:r>
                        <a:rPr lang="en-US" sz="1150" b="1" dirty="0">
                          <a:solidFill>
                            <a:srgbClr val="1A1A2E"/>
                          </a:solidFill>
                        </a:rPr>
                        <a:t>Claude</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Long documents, careful writing, coding help</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A1A2E"/>
                          </a:solidFill>
                        </a:rPr>
                        <a:t>Google Gemini</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Integrated with Gmail/Docs/Sheets</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r>
              <a:tr h="0">
                <a:tc>
                  <a:txBody>
                    <a:bodyPr/>
                    <a:lstStyle/>
                    <a:p>
                      <a:pPr algn="l" indent="0" marL="0">
                        <a:buNone/>
                      </a:pPr>
                      <a:r>
                        <a:rPr lang="en-US" sz="1150" b="1" dirty="0">
                          <a:solidFill>
                            <a:srgbClr val="1A1A2E"/>
                          </a:solidFill>
                        </a:rPr>
                        <a:t>Microsoft Copilot (Chat)</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Quick answers in Windows/Edge, M365 integration</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A1A2E"/>
                          </a:solidFill>
                        </a:rPr>
                        <a:t>Perplexity</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Research needing up-to-date, cited sources</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r>
              <a:tr h="0">
                <a:tc>
                  <a:txBody>
                    <a:bodyPr/>
                    <a:lstStyle/>
                    <a:p>
                      <a:pPr algn="l" indent="0" marL="0">
                        <a:buNone/>
                      </a:pPr>
                      <a:r>
                        <a:rPr lang="en-US" sz="1150" b="1" dirty="0">
                          <a:solidFill>
                            <a:srgbClr val="1A1A2E"/>
                          </a:solidFill>
                        </a:rPr>
                        <a:t>DeepSeek</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Free</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Strong reasoning at very low cost</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A1A2E"/>
                          </a:solidFill>
                        </a:rPr>
                        <a:t>Mistral Le Chat</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Leading European model, strong multilingual support</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r>
              <a:tr h="0">
                <a:tc>
                  <a:txBody>
                    <a:bodyPr/>
                    <a:lstStyle/>
                    <a:p>
                      <a:pPr algn="l" indent="0" marL="0">
                        <a:buNone/>
                      </a:pPr>
                      <a:r>
                        <a:rPr lang="en-US" sz="1150" b="1" dirty="0">
                          <a:solidFill>
                            <a:srgbClr val="1A1A2E"/>
                          </a:solidFill>
                        </a:rPr>
                        <a:t>Qwen (Alibaba)</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Free–Open</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Strong open-weight model, good at coding and reasoning</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r>
            </a:tbl>
          </a:graphicData>
        </a:graphic>
      </p:graphicFrame>
      <p:sp>
        <p:nvSpPr>
          <p:cNvPr id="7" name="Text 4"/>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324D"/>
        </a:solidFill>
      </p:bgPr>
    </p:bg>
    <p:spTree>
      <p:nvGrpSpPr>
        <p:cNvPr id="1" name=""/>
        <p:cNvGrpSpPr/>
        <p:nvPr/>
      </p:nvGrpSpPr>
      <p:grpSpPr>
        <a:xfrm>
          <a:off x="0" y="0"/>
          <a:ext cx="0" cy="0"/>
          <a:chOff x="0" y="0"/>
          <a:chExt cx="0" cy="0"/>
        </a:xfrm>
      </p:grpSpPr>
      <p:sp>
        <p:nvSpPr>
          <p:cNvPr id="2" name="Text 0"/>
          <p:cNvSpPr txBox="1"/>
          <p:nvPr/>
        </p:nvSpPr>
        <p:spPr>
          <a:xfrm>
            <a:off x="502920" y="548640"/>
            <a:ext cx="10058400" cy="365760"/>
          </a:xfrm>
          <a:prstGeom prst="rect">
            <a:avLst/>
          </a:prstGeom>
          <a:noFill/>
          <a:ln/>
        </p:spPr>
        <p:txBody>
          <a:bodyPr wrap="square" rtlCol="0" anchor="ctr"/>
          <a:lstStyle/>
          <a:p>
            <a:pPr indent="0" marL="0">
              <a:buNone/>
            </a:pPr>
            <a:r>
              <a:rPr lang="en-US" sz="1400" b="1" spc="100" kern="0" dirty="0">
                <a:solidFill>
                  <a:srgbClr val="8FD0E3"/>
                </a:solidFill>
                <a:latin typeface="Arial" pitchFamily="34" charset="0"/>
                <a:ea typeface="Arial" pitchFamily="34" charset="-122"/>
                <a:cs typeface="Arial" pitchFamily="34" charset="-120"/>
              </a:rPr>
              <a:t>KEY TAKEAWAYS</a:t>
            </a:r>
            <a:endParaRPr lang="en-US" sz="1400" dirty="0"/>
          </a:p>
        </p:txBody>
      </p:sp>
      <p:sp>
        <p:nvSpPr>
          <p:cNvPr id="3" name="Text 1"/>
          <p:cNvSpPr txBox="1"/>
          <p:nvPr/>
        </p:nvSpPr>
        <p:spPr>
          <a:xfrm>
            <a:off x="502920" y="960120"/>
            <a:ext cx="1097280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Key Takeaways — Session 1</a:t>
            </a:r>
            <a:endParaRPr lang="en-US" sz="2600" dirty="0"/>
          </a:p>
        </p:txBody>
      </p:sp>
      <p:sp>
        <p:nvSpPr>
          <p:cNvPr id="4" name="Text 2"/>
          <p:cNvSpPr txBox="1"/>
          <p:nvPr/>
        </p:nvSpPr>
        <p:spPr>
          <a:xfrm>
            <a:off x="502920" y="1828800"/>
            <a:ext cx="11064240" cy="4389120"/>
          </a:xfrm>
          <a:prstGeom prst="rect">
            <a:avLst/>
          </a:prstGeom>
          <a:noFill/>
          <a:ln/>
        </p:spPr>
        <p:txBody>
          <a:bodyPr wrap="square" rtlCol="0" anchor="t"/>
          <a:lstStyle/>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An AI model predicts likely words from learned patterns — it has no memory unless you give it context.</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R-C-T-F (Role, Context, Task, Format) is a simple, reliable structure for any important prompt.</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Five techniques improve results: zero-shot, few-shot, chain-of-thought, role prompting, iterative refinement.</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Prompting is a loop — expect to refine two or three times.</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Always review AI output for facts, numbers and tone before using it for real work.</a:t>
            </a:r>
            <a:endParaRPr lang="en-US" sz="1650" dirty="0"/>
          </a:p>
        </p:txBody>
      </p:sp>
      <p:sp>
        <p:nvSpPr>
          <p:cNvPr id="5" name="Text 3"/>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D"/>
          </a:solidFill>
          <a:ln/>
        </p:spPr>
      </p:sp>
      <p:sp>
        <p:nvSpPr>
          <p:cNvPr id="3" name="Text 1"/>
          <p:cNvSpPr txBox="1"/>
          <p:nvPr/>
        </p:nvSpPr>
        <p:spPr>
          <a:xfrm>
            <a:off x="9692640" y="365760"/>
            <a:ext cx="2103120" cy="1463040"/>
          </a:xfrm>
          <a:prstGeom prst="rect">
            <a:avLst/>
          </a:prstGeom>
          <a:noFill/>
          <a:ln/>
        </p:spPr>
        <p:txBody>
          <a:bodyPr wrap="square" rtlCol="0" anchor="ctr"/>
          <a:lstStyle/>
          <a:p>
            <a:pPr algn="r" indent="0" marL="0">
              <a:buNone/>
            </a:pPr>
            <a:r>
              <a:rPr lang="en-US" sz="9000" b="1" dirty="0">
                <a:solidFill>
                  <a:srgbClr val="1C7293">
                    <a:alpha val="65000"/>
                  </a:srgbClr>
                </a:solidFill>
                <a:latin typeface="Arial" pitchFamily="34" charset="0"/>
                <a:ea typeface="Arial" pitchFamily="34" charset="-122"/>
                <a:cs typeface="Arial" pitchFamily="34" charset="-120"/>
              </a:rPr>
              <a:t>02</a:t>
            </a:r>
            <a:endParaRPr lang="en-US" sz="9000" dirty="0"/>
          </a:p>
        </p:txBody>
      </p:sp>
      <p:sp>
        <p:nvSpPr>
          <p:cNvPr id="4" name="Text 2"/>
          <p:cNvSpPr txBox="1"/>
          <p:nvPr/>
        </p:nvSpPr>
        <p:spPr>
          <a:xfrm>
            <a:off x="731520" y="2286000"/>
            <a:ext cx="10058400" cy="457200"/>
          </a:xfrm>
          <a:prstGeom prst="rect">
            <a:avLst/>
          </a:prstGeom>
          <a:noFill/>
          <a:ln/>
        </p:spPr>
        <p:txBody>
          <a:bodyPr wrap="square" rtlCol="0" anchor="ctr"/>
          <a:lstStyle/>
          <a:p>
            <a:pPr indent="0" marL="0">
              <a:buNone/>
            </a:pPr>
            <a:r>
              <a:rPr lang="en-US" sz="1500" b="1" spc="200" kern="0" dirty="0">
                <a:solidFill>
                  <a:srgbClr val="8FD0E3"/>
                </a:solidFill>
                <a:latin typeface="Arial" pitchFamily="34" charset="0"/>
                <a:ea typeface="Arial" pitchFamily="34" charset="-122"/>
                <a:cs typeface="Arial" pitchFamily="34" charset="-120"/>
              </a:rPr>
              <a:t>SESSION 2 · DAY 1, 10:45–12:15</a:t>
            </a:r>
            <a:endParaRPr lang="en-US" sz="1500" dirty="0"/>
          </a:p>
        </p:txBody>
      </p:sp>
      <p:sp>
        <p:nvSpPr>
          <p:cNvPr id="5" name="Text 3"/>
          <p:cNvSpPr txBox="1"/>
          <p:nvPr/>
        </p:nvSpPr>
        <p:spPr>
          <a:xfrm>
            <a:off x="731520" y="2743200"/>
            <a:ext cx="10515600" cy="11887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AI for Office Productivity</a:t>
            </a:r>
            <a:endParaRPr lang="en-US" sz="3600" dirty="0"/>
          </a:p>
        </p:txBody>
      </p:sp>
      <p:sp>
        <p:nvSpPr>
          <p:cNvPr id="6" name="Text 4"/>
          <p:cNvSpPr txBox="1"/>
          <p:nvPr/>
        </p:nvSpPr>
        <p:spPr>
          <a:xfrm>
            <a:off x="731520" y="3794760"/>
            <a:ext cx="9875520" cy="548640"/>
          </a:xfrm>
          <a:prstGeom prst="rect">
            <a:avLst/>
          </a:prstGeom>
          <a:noFill/>
          <a:ln/>
        </p:spPr>
        <p:txBody>
          <a:bodyPr wrap="square" rtlCol="0" anchor="ctr"/>
          <a:lstStyle/>
          <a:p>
            <a:pPr indent="0" marL="0">
              <a:buNone/>
            </a:pPr>
            <a:r>
              <a:rPr lang="en-US" sz="1600" dirty="0">
                <a:solidFill>
                  <a:srgbClr val="D8E6EC"/>
                </a:solidFill>
                <a:latin typeface="Arial" pitchFamily="34" charset="0"/>
                <a:ea typeface="Arial" pitchFamily="34" charset="-122"/>
                <a:cs typeface="Arial" pitchFamily="34" charset="-120"/>
              </a:rPr>
              <a:t>Using AI inside the tools you already use every day</a:t>
            </a:r>
            <a:endParaRPr lang="en-US" sz="1600" dirty="0"/>
          </a:p>
        </p:txBody>
      </p:sp>
      <p:sp>
        <p:nvSpPr>
          <p:cNvPr id="7" name="Shape 5"/>
          <p:cNvSpPr/>
          <p:nvPr/>
        </p:nvSpPr>
        <p:spPr>
          <a:xfrm>
            <a:off x="731520" y="4572000"/>
            <a:ext cx="10241280" cy="27432"/>
          </a:xfrm>
          <a:prstGeom prst="rect">
            <a:avLst/>
          </a:prstGeom>
          <a:solidFill>
            <a:srgbClr val="E8912D"/>
          </a:solidFill>
          <a:ln/>
        </p:spPr>
      </p:sp>
      <p:sp>
        <p:nvSpPr>
          <p:cNvPr id="8" name="Text 6"/>
          <p:cNvSpPr txBox="1"/>
          <p:nvPr/>
        </p:nvSpPr>
        <p:spPr>
          <a:xfrm>
            <a:off x="731520" y="4709160"/>
            <a:ext cx="10058400" cy="320040"/>
          </a:xfrm>
          <a:prstGeom prst="rect">
            <a:avLst/>
          </a:prstGeom>
          <a:noFill/>
          <a:ln/>
        </p:spPr>
        <p:txBody>
          <a:bodyPr wrap="square" rtlCol="0" anchor="ctr"/>
          <a:lstStyle/>
          <a:p>
            <a:pPr indent="0" marL="0">
              <a:buNone/>
            </a:pPr>
            <a:r>
              <a:rPr lang="en-US" sz="1200" b="1" spc="100" kern="0" dirty="0">
                <a:solidFill>
                  <a:srgbClr val="E8912D"/>
                </a:solidFill>
                <a:latin typeface="Arial" pitchFamily="34" charset="0"/>
                <a:ea typeface="Arial" pitchFamily="34" charset="-122"/>
                <a:cs typeface="Arial" pitchFamily="34" charset="-120"/>
              </a:rPr>
              <a:t>BY THE END OF THIS SESSION, YOU WILL BE ABLE TO</a:t>
            </a:r>
            <a:endParaRPr lang="en-US" sz="1200" dirty="0"/>
          </a:p>
        </p:txBody>
      </p:sp>
      <p:sp>
        <p:nvSpPr>
          <p:cNvPr id="9" name="Text 7"/>
          <p:cNvSpPr txBox="1"/>
          <p:nvPr/>
        </p:nvSpPr>
        <p:spPr>
          <a:xfrm>
            <a:off x="731520" y="5074920"/>
            <a:ext cx="10241280" cy="1554480"/>
          </a:xfrm>
          <a:prstGeom prst="rect">
            <a:avLst/>
          </a:prstGeom>
          <a:noFill/>
          <a:ln/>
        </p:spPr>
        <p:txBody>
          <a:bodyPr wrap="square" rtlCol="0" anchor="ctr"/>
          <a:lstStyle/>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Describe how an AI office assistant fits into everyday apps</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Use AI to draft, summarise, and polish documents, spreadsheets, slides, and email</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Summarise a meeting and draft follow-up actions using AI</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Identify free/low-cost office productivity tools to try this month</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2.1 WHY IT MATTERS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The New Office Workday</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Microsoft's Work Trend Index research repeatedly finds knowledge workers spend a large share of the day on email, meetings, and searching for information.</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AI office assistants attack this directly: drafting a first version, summarising something long, or turning a rough idea into a polished slide — in seconds.</a:t>
            </a:r>
            <a:endParaRPr lang="en-US" sz="1650" dirty="0"/>
          </a:p>
        </p:txBody>
      </p:sp>
      <p:sp>
        <p:nvSpPr>
          <p:cNvPr id="7" name="Shape 5"/>
          <p:cNvSpPr/>
          <p:nvPr/>
        </p:nvSpPr>
        <p:spPr>
          <a:xfrm>
            <a:off x="7452360" y="1645920"/>
            <a:ext cx="4251960" cy="3657600"/>
          </a:xfrm>
          <a:prstGeom prst="roundRect">
            <a:avLst>
              <a:gd name="adj" fmla="val 2500"/>
            </a:avLst>
          </a:prstGeom>
          <a:solidFill>
            <a:srgbClr val="1C7293">
              <a:alpha val="8000"/>
            </a:srgbClr>
          </a:solidFill>
          <a:ln w="19050">
            <a:solidFill>
              <a:srgbClr val="1C7293"/>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1C7293"/>
                </a:solidFill>
                <a:latin typeface="Arial" pitchFamily="34" charset="0"/>
                <a:ea typeface="Arial" pitchFamily="34" charset="-122"/>
                <a:cs typeface="Arial" pitchFamily="34" charset="-120"/>
              </a:rPr>
              <a:t>ADOPTION, IN NUMBERS</a:t>
            </a:r>
            <a:endParaRPr lang="en-US" sz="1300" dirty="0"/>
          </a:p>
        </p:txBody>
      </p:sp>
      <p:sp>
        <p:nvSpPr>
          <p:cNvPr id="9" name="Text 7"/>
          <p:cNvSpPr txBox="1"/>
          <p:nvPr/>
        </p:nvSpPr>
        <p:spPr>
          <a:xfrm>
            <a:off x="7726680" y="2212848"/>
            <a:ext cx="3703320" cy="301752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 ~85% of Nikkei 225 companies (a major global stock index) use Microsoft 365 Copilot in some form</a:t>
            </a:r>
            <a:endParaRPr lang="en-US" sz="1300" dirty="0"/>
          </a:p>
          <a:p>
            <a:pPr indent="0" marL="0">
              <a:buNone/>
            </a:pPr>
            <a:endParaRPr lang="en-US" sz="1300" dirty="0"/>
          </a:p>
          <a:p>
            <a:pPr indent="0" marL="0">
              <a:buNone/>
            </a:pPr>
            <a:r>
              <a:rPr lang="en-US" sz="1300" dirty="0">
                <a:solidFill>
                  <a:srgbClr val="1A1A2E"/>
                </a:solidFill>
                <a:latin typeface="Arial" pitchFamily="34" charset="0"/>
                <a:ea typeface="Arial" pitchFamily="34" charset="-122"/>
                <a:cs typeface="Arial" pitchFamily="34" charset="-120"/>
              </a:rPr>
              <a:t>• Sumitomo Corporation: company-wide rollout, roughly $8 million in annual savings</a:t>
            </a:r>
            <a:endParaRPr lang="en-US" sz="1300" dirty="0"/>
          </a:p>
          <a:p>
            <a:pPr indent="0" marL="0">
              <a:buNone/>
            </a:pPr>
            <a:endParaRPr lang="en-US" sz="1300" dirty="0"/>
          </a:p>
          <a:p>
            <a:pPr indent="0" marL="0">
              <a:buNone/>
            </a:pPr>
            <a:r>
              <a:rPr lang="en-US" sz="1300" dirty="0">
                <a:solidFill>
                  <a:srgbClr val="1A1A2E"/>
                </a:solidFill>
                <a:latin typeface="Arial" pitchFamily="34" charset="0"/>
                <a:ea typeface="Arial" pitchFamily="34" charset="-122"/>
                <a:cs typeface="Arial" pitchFamily="34" charset="-120"/>
              </a:rPr>
              <a:t>• Dentsu: Copilot automation saves up to 60 minutes per employee, per day</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2.2 HOW IT WORKS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How an AI Office Assistant Works</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pic>
        <p:nvPicPr>
          <p:cNvPr id="6" name="Image 0" descr="/home/claude/course/diagrams/d3_office_architecture.png">    </p:cNvPr>
          <p:cNvPicPr>
            <a:picLocks noChangeAspect="1"/>
          </p:cNvPicPr>
          <p:nvPr/>
        </p:nvPicPr>
        <p:blipFill>
          <a:blip r:embed="rId1"/>
          <a:stretch>
            <a:fillRect/>
          </a:stretch>
        </p:blipFill>
        <p:spPr>
          <a:xfrm>
            <a:off x="792328" y="1508760"/>
            <a:ext cx="10607040" cy="4663440"/>
          </a:xfrm>
          <a:prstGeom prst="rect">
            <a:avLst/>
          </a:prstGeom>
        </p:spPr>
      </p:pic>
      <p:sp>
        <p:nvSpPr>
          <p:cNvPr id="7" name="Text 4"/>
          <p:cNvSpPr txBox="1"/>
          <p:nvPr/>
        </p:nvSpPr>
        <p:spPr>
          <a:xfrm>
            <a:off x="502920" y="6245352"/>
            <a:ext cx="11155680" cy="320040"/>
          </a:xfrm>
          <a:prstGeom prst="rect">
            <a:avLst/>
          </a:prstGeom>
          <a:noFill/>
          <a:ln/>
        </p:spPr>
        <p:txBody>
          <a:bodyPr wrap="square" rtlCol="0" anchor="ctr"/>
          <a:lstStyle/>
          <a:p>
            <a:pPr algn="ctr" indent="0" marL="0">
              <a:buNone/>
            </a:pPr>
            <a:r>
              <a:rPr lang="en-US" sz="1150" i="1" dirty="0">
                <a:solidFill>
                  <a:srgbClr val="6B7785"/>
                </a:solidFill>
                <a:latin typeface="Arial" pitchFamily="34" charset="0"/>
                <a:ea typeface="Arial" pitchFamily="34" charset="-122"/>
                <a:cs typeface="Arial" pitchFamily="34" charset="-120"/>
              </a:rPr>
              <a:t>Figure 2.1 — How an AI office assistant connects you, your documents, and the underlying AI model.</a:t>
            </a:r>
            <a:endParaRPr lang="en-US" sz="1150" dirty="0"/>
          </a:p>
        </p:txBody>
      </p:sp>
      <p:sp>
        <p:nvSpPr>
          <p:cNvPr id="8" name="Text 5"/>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2.2 HOW IT WORKS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Three Things That Make This Powerful</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It is grounded in your own files.</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Can answer “summarise last week's sales meeting notes” — not just general knowledge.</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It lives inside the app you are already using.</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No copying text to a separate chat window — click the Copilot/AI icon directly in the app.</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It respects your organisation's access permissions.</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Will never show you a file you do not already have permission to open.</a:t>
            </a:r>
            <a:endParaRPr lang="en-US" sz="1650" dirty="0"/>
          </a:p>
        </p:txBody>
      </p:sp>
      <p:sp>
        <p:nvSpPr>
          <p:cNvPr id="7" name="Shape 5"/>
          <p:cNvSpPr/>
          <p:nvPr/>
        </p:nvSpPr>
        <p:spPr>
          <a:xfrm>
            <a:off x="7452360" y="1645920"/>
            <a:ext cx="4251960" cy="2103120"/>
          </a:xfrm>
          <a:prstGeom prst="roundRect">
            <a:avLst>
              <a:gd name="adj" fmla="val 4348"/>
            </a:avLst>
          </a:prstGeom>
          <a:solidFill>
            <a:srgbClr val="2E8B57">
              <a:alpha val="8000"/>
            </a:srgbClr>
          </a:solidFill>
          <a:ln w="19050">
            <a:solidFill>
              <a:srgbClr val="2E8B57"/>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2E8B57"/>
                </a:solidFill>
                <a:latin typeface="Arial" pitchFamily="34" charset="0"/>
                <a:ea typeface="Arial" pitchFamily="34" charset="-122"/>
                <a:cs typeface="Arial" pitchFamily="34" charset="-120"/>
              </a:rPr>
              <a:t>FACILITATOR TIP</a:t>
            </a:r>
            <a:endParaRPr lang="en-US" sz="1300" dirty="0"/>
          </a:p>
        </p:txBody>
      </p:sp>
      <p:sp>
        <p:nvSpPr>
          <p:cNvPr id="9" name="Text 7"/>
          <p:cNvSpPr txBox="1"/>
          <p:nvPr/>
        </p:nvSpPr>
        <p:spPr>
          <a:xfrm>
            <a:off x="7726680" y="2212848"/>
            <a:ext cx="3703320" cy="146304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This last point is the most common security question from new users. Repeat it clearly: AI assistants only see what you can already see.</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2.3 IN YOUR APPS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AI Inside Word, Excel &amp; PowerPoint</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11155680" cy="4572000"/>
          </a:xfrm>
          <a:prstGeom prst="rect">
            <a:avLst/>
          </a:prstGeom>
          <a:noFill/>
          <a:ln/>
        </p:spPr>
        <p:txBody>
          <a:bodyPr wrap="square" rtlCol="0" anchor="t"/>
          <a:lstStyle/>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Word / Google Docs — drafting &amp; rewriting</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“Rewrite this paragraph for a senior executive. Under 80 words. No jargon.”</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Excel / Google Sheets — formulas &amp; summaries</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“Write a formula for % growth from the previous month, and explain it in one sentence.”</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PowerPoint / Google Slides — notes into slides</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“Turn these 5 bullets into a 6-slide outline: title, agenda, 3 content, summary.”</a:t>
            </a:r>
            <a:endParaRPr lang="en-US" sz="1650" dirty="0"/>
          </a:p>
        </p:txBody>
      </p:sp>
      <p:sp>
        <p:nvSpPr>
          <p:cNvPr id="7" name="Text 5"/>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2.4 EMAIL &amp; MEETINGS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AI for Email and Meetings</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Email (Outlook / Gmail)</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Draft replies to long threads; shorten long emails; adjust tone to be more polite for a global audience.</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Meetings (Teams / Zoom / Otter.ai)</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Live transcription + automatic summary with decisions and action items, even for absent participants.</a:t>
            </a:r>
            <a:endParaRPr lang="en-US" sz="1650" dirty="0"/>
          </a:p>
        </p:txBody>
      </p:sp>
      <p:sp>
        <p:nvSpPr>
          <p:cNvPr id="7" name="Shape 5"/>
          <p:cNvSpPr/>
          <p:nvPr/>
        </p:nvSpPr>
        <p:spPr>
          <a:xfrm>
            <a:off x="7452360" y="1645920"/>
            <a:ext cx="4251960" cy="2377440"/>
          </a:xfrm>
          <a:prstGeom prst="roundRect">
            <a:avLst>
              <a:gd name="adj" fmla="val 3846"/>
            </a:avLst>
          </a:prstGeom>
          <a:solidFill>
            <a:srgbClr val="E8912D">
              <a:alpha val="8000"/>
            </a:srgbClr>
          </a:solidFill>
          <a:ln w="19050">
            <a:solidFill>
              <a:srgbClr val="E8912D"/>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E8912D"/>
                </a:solidFill>
                <a:latin typeface="Arial" pitchFamily="34" charset="0"/>
                <a:ea typeface="Arial" pitchFamily="34" charset="-122"/>
                <a:cs typeface="Arial" pitchFamily="34" charset="-120"/>
              </a:rPr>
              <a:t>MICROSOFT'S OWN EXAMPLE</a:t>
            </a:r>
            <a:endParaRPr lang="en-US" sz="1300" dirty="0"/>
          </a:p>
        </p:txBody>
      </p:sp>
      <p:sp>
        <p:nvSpPr>
          <p:cNvPr id="9" name="Text 7"/>
          <p:cNvSpPr txBox="1"/>
          <p:nvPr/>
        </p:nvSpPr>
        <p:spPr>
          <a:xfrm>
            <a:off x="7726680" y="2212848"/>
            <a:ext cx="3703320" cy="173736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Internally, Copilot reduced the time to summarise a customer enquiry from 5–10 minutes down to about 5 seconds — cutting workload and human error at the same time.</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2.5 CASE STUDIES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Amazon &amp; Sumitomo Corporation</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11155680" cy="4572000"/>
          </a:xfrm>
          <a:prstGeom prst="rect">
            <a:avLst/>
          </a:prstGeom>
          <a:noFill/>
          <a:ln/>
        </p:spPr>
        <p:txBody>
          <a:bodyPr wrap="square" rtlCol="0" anchor="t"/>
          <a:lstStyle/>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Amazon</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Internal generative AI tools answer large numbers of employee/developer questions automatically, freeing staff for higher-value work.</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Sumitomo Corporation</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Rolled out Microsoft 365 Copilot company-wide, after an Early Access Program validation phase. Publicly reported annual savings of roughly $8 million.</a:t>
            </a:r>
            <a:endParaRPr lang="en-US" sz="1650" dirty="0"/>
          </a:p>
        </p:txBody>
      </p:sp>
      <p:sp>
        <p:nvSpPr>
          <p:cNvPr id="7" name="Text 5"/>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2.5 CASE STUDIES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JCB — Meeting People Where They Work</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JCB chose Microsoft 365 Copilot specifically because employees already used Word, Excel and PowerPoint daily.</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The AI icon simply appeared inside tools people already trusted — no need to learn a brand-new system.</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JCB built an internal ‘Generative AI Utilization Hub’ to share good prompts between teams.</a:t>
            </a:r>
            <a:endParaRPr lang="en-US" sz="1650" dirty="0"/>
          </a:p>
        </p:txBody>
      </p:sp>
      <p:sp>
        <p:nvSpPr>
          <p:cNvPr id="7" name="Shape 5"/>
          <p:cNvSpPr/>
          <p:nvPr/>
        </p:nvSpPr>
        <p:spPr>
          <a:xfrm>
            <a:off x="7452360" y="1645920"/>
            <a:ext cx="4251960" cy="2194560"/>
          </a:xfrm>
          <a:prstGeom prst="roundRect">
            <a:avLst>
              <a:gd name="adj" fmla="val 4167"/>
            </a:avLst>
          </a:prstGeom>
          <a:solidFill>
            <a:srgbClr val="1C7293">
              <a:alpha val="8000"/>
            </a:srgbClr>
          </a:solidFill>
          <a:ln w="19050">
            <a:solidFill>
              <a:srgbClr val="1C7293"/>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1C7293"/>
                </a:solidFill>
                <a:latin typeface="Arial" pitchFamily="34" charset="0"/>
                <a:ea typeface="Arial" pitchFamily="34" charset="-122"/>
                <a:cs typeface="Arial" pitchFamily="34" charset="-120"/>
              </a:rPr>
              <a:t>AN IDEA TO COPY</a:t>
            </a:r>
            <a:endParaRPr lang="en-US" sz="1300" dirty="0"/>
          </a:p>
        </p:txBody>
      </p:sp>
      <p:sp>
        <p:nvSpPr>
          <p:cNvPr id="9" name="Text 7"/>
          <p:cNvSpPr txBox="1"/>
          <p:nvPr/>
        </p:nvSpPr>
        <p:spPr>
          <a:xfrm>
            <a:off x="7726680" y="2212848"/>
            <a:ext cx="3703320" cy="155448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Any organisation in this room could start its own internal prompt-sharing channel or document, exactly like JCB's Hub — it costs nothing and accelerates adoption.</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274320" y="274320"/>
            <a:ext cx="11643055" cy="6309360"/>
          </a:xfrm>
          <a:prstGeom prst="rect">
            <a:avLst>
              <a:gd name="adj" fmla="val 1739"/>
            </a:avLst>
          </a:prstGeom>
          <a:solidFill>
            <a:srgbClr val="FFFFFF"/>
          </a:solidFill>
          <a:ln w="25400">
            <a:solidFill>
              <a:srgbClr val="15324D"/>
            </a:solidFill>
            <a:prstDash val="dash"/>
          </a:ln>
        </p:spPr>
      </p:sp>
      <p:sp>
        <p:nvSpPr>
          <p:cNvPr id="3" name="Shape 1"/>
          <p:cNvSpPr/>
          <p:nvPr/>
        </p:nvSpPr>
        <p:spPr>
          <a:xfrm>
            <a:off x="594360" y="548640"/>
            <a:ext cx="1737360" cy="365760"/>
          </a:xfrm>
          <a:prstGeom prst="roundRect">
            <a:avLst>
              <a:gd name="adj" fmla="val 15000"/>
            </a:avLst>
          </a:prstGeom>
          <a:solidFill>
            <a:srgbClr val="15324D"/>
          </a:solidFill>
          <a:ln/>
        </p:spPr>
      </p:sp>
      <p:sp>
        <p:nvSpPr>
          <p:cNvPr id="4" name="Text 2"/>
          <p:cNvSpPr txBox="1"/>
          <p:nvPr/>
        </p:nvSpPr>
        <p:spPr>
          <a:xfrm>
            <a:off x="594360" y="548640"/>
            <a:ext cx="17373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EXERCISE 2</a:t>
            </a:r>
            <a:endParaRPr lang="en-US" sz="1200" dirty="0"/>
          </a:p>
        </p:txBody>
      </p:sp>
      <p:sp>
        <p:nvSpPr>
          <p:cNvPr id="5" name="Text 3"/>
          <p:cNvSpPr txBox="1"/>
          <p:nvPr/>
        </p:nvSpPr>
        <p:spPr>
          <a:xfrm>
            <a:off x="2514600" y="502920"/>
            <a:ext cx="8686800" cy="457200"/>
          </a:xfrm>
          <a:prstGeom prst="rect">
            <a:avLst/>
          </a:prstGeom>
          <a:noFill/>
          <a:ln/>
        </p:spPr>
        <p:txBody>
          <a:bodyPr wrap="square" rtlCol="0" anchor="ctr"/>
          <a:lstStyle/>
          <a:p>
            <a:pPr indent="0" marL="0">
              <a:buNone/>
            </a:pPr>
            <a:r>
              <a:rPr lang="en-US" sz="2000" b="1" dirty="0">
                <a:solidFill>
                  <a:srgbClr val="15324D"/>
                </a:solidFill>
                <a:latin typeface="Arial" pitchFamily="34" charset="0"/>
                <a:ea typeface="Arial" pitchFamily="34" charset="-122"/>
                <a:cs typeface="Arial" pitchFamily="34" charset="-120"/>
              </a:rPr>
              <a:t>Turn Notes Into a Polished Output</a:t>
            </a:r>
            <a:endParaRPr lang="en-US" sz="2000" dirty="0"/>
          </a:p>
        </p:txBody>
      </p:sp>
      <p:sp>
        <p:nvSpPr>
          <p:cNvPr id="6" name="Text 4"/>
          <p:cNvSpPr txBox="1"/>
          <p:nvPr/>
        </p:nvSpPr>
        <p:spPr>
          <a:xfrm>
            <a:off x="685800" y="1097280"/>
            <a:ext cx="10789920" cy="914400"/>
          </a:xfrm>
          <a:prstGeom prst="rect">
            <a:avLst/>
          </a:prstGeom>
          <a:noFill/>
          <a:ln/>
        </p:spPr>
        <p:txBody>
          <a:bodyPr wrap="square" rtlCol="0" anchor="t"/>
          <a:lstStyle/>
          <a:p>
            <a:pPr indent="0" marL="0">
              <a:buNone/>
            </a:pPr>
            <a:r>
              <a:rPr lang="en-US" sz="1350" dirty="0">
                <a:solidFill>
                  <a:srgbClr val="1A1A2E"/>
                </a:solidFill>
                <a:latin typeface="Arial" pitchFamily="34" charset="0"/>
                <a:ea typeface="Arial" pitchFamily="34" charset="-122"/>
                <a:cs typeface="Arial" pitchFamily="34" charset="-120"/>
              </a:rPr>
              <a:t>Scenario: Rough meeting notes: “Discussed Q2 launch. Marketing wants more budget. Engineering says timeline is tight, maybe slip 2 weeks. Sales is confident about demand in the North and South regions. Need decision from Director by Friday. Action: Priya to prepare budget options, Sam to check engineering timeline.”</a:t>
            </a:r>
            <a:endParaRPr lang="en-US" sz="1350" dirty="0"/>
          </a:p>
        </p:txBody>
      </p:sp>
      <p:sp>
        <p:nvSpPr>
          <p:cNvPr id="7" name="Text 5"/>
          <p:cNvSpPr txBox="1"/>
          <p:nvPr/>
        </p:nvSpPr>
        <p:spPr>
          <a:xfrm>
            <a:off x="685800" y="1965960"/>
            <a:ext cx="10789920" cy="685800"/>
          </a:xfrm>
          <a:prstGeom prst="rect">
            <a:avLst/>
          </a:prstGeom>
          <a:noFill/>
          <a:ln/>
        </p:spPr>
        <p:txBody>
          <a:bodyPr wrap="square" rtlCol="0" anchor="t"/>
          <a:lstStyle/>
          <a:p>
            <a:pPr indent="0" marL="0">
              <a:buNone/>
            </a:pPr>
            <a:r>
              <a:rPr lang="en-US" sz="1350" b="1" dirty="0">
                <a:solidFill>
                  <a:srgbClr val="15324D"/>
                </a:solidFill>
                <a:latin typeface="Arial" pitchFamily="34" charset="0"/>
                <a:ea typeface="Arial" pitchFamily="34" charset="-122"/>
                <a:cs typeface="Arial" pitchFamily="34" charset="-120"/>
              </a:rPr>
              <a:t>Your task: Using R-C-T-F, turn these notes into (a) a 3-line executive summary and (b) a clear action-item table with owner and deadline.</a:t>
            </a:r>
            <a:endParaRPr lang="en-US" sz="1350" dirty="0"/>
          </a:p>
        </p:txBody>
      </p:sp>
      <p:sp>
        <p:nvSpPr>
          <p:cNvPr id="8" name="Shape 6"/>
          <p:cNvSpPr/>
          <p:nvPr/>
        </p:nvSpPr>
        <p:spPr>
          <a:xfrm>
            <a:off x="685800" y="2788920"/>
            <a:ext cx="5120640" cy="3291840"/>
          </a:xfrm>
          <a:prstGeom prst="roundRect">
            <a:avLst>
              <a:gd name="adj" fmla="val 2222"/>
            </a:avLst>
          </a:prstGeom>
          <a:solidFill>
            <a:srgbClr val="1C7293">
              <a:alpha val="7000"/>
            </a:srgbClr>
          </a:solidFill>
          <a:ln w="15240">
            <a:solidFill>
              <a:srgbClr val="1C7293"/>
            </a:solidFill>
            <a:prstDash val="solid"/>
          </a:ln>
        </p:spPr>
      </p:sp>
      <p:sp>
        <p:nvSpPr>
          <p:cNvPr id="9" name="Text 7"/>
          <p:cNvSpPr txBox="1"/>
          <p:nvPr/>
        </p:nvSpPr>
        <p:spPr>
          <a:xfrm>
            <a:off x="868680" y="2926080"/>
            <a:ext cx="4754880" cy="365760"/>
          </a:xfrm>
          <a:prstGeom prst="rect">
            <a:avLst/>
          </a:prstGeom>
          <a:noFill/>
          <a:ln/>
        </p:spPr>
        <p:txBody>
          <a:bodyPr wrap="square" rtlCol="0" anchor="ctr"/>
          <a:lstStyle/>
          <a:p>
            <a:pPr indent="0" marL="0">
              <a:buNone/>
            </a:pPr>
            <a:r>
              <a:rPr lang="en-US" sz="1200" b="1" dirty="0">
                <a:solidFill>
                  <a:srgbClr val="1C7293"/>
                </a:solidFill>
                <a:latin typeface="Arial" pitchFamily="34" charset="0"/>
                <a:ea typeface="Arial" pitchFamily="34" charset="-122"/>
                <a:cs typeface="Arial" pitchFamily="34" charset="-120"/>
              </a:rPr>
              <a:t>VERSION A — WITH LAPTOP / INTERNET</a:t>
            </a:r>
            <a:endParaRPr lang="en-US" sz="1200" dirty="0"/>
          </a:p>
        </p:txBody>
      </p:sp>
      <p:sp>
        <p:nvSpPr>
          <p:cNvPr id="10" name="Text 8"/>
          <p:cNvSpPr txBox="1"/>
          <p:nvPr/>
        </p:nvSpPr>
        <p:spPr>
          <a:xfrm>
            <a:off x="868680" y="3337560"/>
            <a:ext cx="4754880" cy="2560320"/>
          </a:xfrm>
          <a:prstGeom prst="rect">
            <a:avLst/>
          </a:prstGeom>
          <a:noFill/>
          <a:ln/>
        </p:spPr>
        <p:txBody>
          <a:bodyPr wrap="square" rtlCol="0" anchor="t"/>
          <a:lstStyle/>
          <a:p>
            <a:pPr indent="0" marL="0">
              <a:buNone/>
            </a:pPr>
            <a:r>
              <a:rPr lang="en-US" sz="1250" dirty="0">
                <a:solidFill>
                  <a:srgbClr val="1A1A2E"/>
                </a:solidFill>
                <a:latin typeface="Arial" pitchFamily="34" charset="0"/>
                <a:ea typeface="Arial" pitchFamily="34" charset="-122"/>
                <a:cs typeface="Arial" pitchFamily="34" charset="-120"/>
              </a:rPr>
              <a:t>With laptop/internet:</a:t>
            </a:r>
            <a:endParaRPr lang="en-US" sz="1250" dirty="0"/>
          </a:p>
          <a:p>
            <a:pPr indent="0" marL="0">
              <a:buNone/>
            </a:pPr>
            <a:r>
              <a:rPr lang="en-US" sz="1250" dirty="0">
                <a:solidFill>
                  <a:srgbClr val="1A1A2E"/>
                </a:solidFill>
                <a:latin typeface="Arial" pitchFamily="34" charset="0"/>
                <a:ea typeface="Arial" pitchFamily="34" charset="-122"/>
                <a:cs typeface="Arial" pitchFamily="34" charset="-120"/>
              </a:rPr>
              <a:t>Write your prompt, run it in any AI tool, and compare results with a neighbour.</a:t>
            </a:r>
            <a:endParaRPr lang="en-US" sz="1250" dirty="0"/>
          </a:p>
        </p:txBody>
      </p:sp>
      <p:sp>
        <p:nvSpPr>
          <p:cNvPr id="11" name="Shape 9"/>
          <p:cNvSpPr/>
          <p:nvPr/>
        </p:nvSpPr>
        <p:spPr>
          <a:xfrm>
            <a:off x="6080760" y="2788920"/>
            <a:ext cx="5120640" cy="3291840"/>
          </a:xfrm>
          <a:prstGeom prst="roundRect">
            <a:avLst>
              <a:gd name="adj" fmla="val 2222"/>
            </a:avLst>
          </a:prstGeom>
          <a:solidFill>
            <a:srgbClr val="E8912D">
              <a:alpha val="7000"/>
            </a:srgbClr>
          </a:solidFill>
          <a:ln w="15240">
            <a:solidFill>
              <a:srgbClr val="E8912D"/>
            </a:solidFill>
            <a:prstDash val="solid"/>
          </a:ln>
        </p:spPr>
      </p:sp>
      <p:sp>
        <p:nvSpPr>
          <p:cNvPr id="12" name="Text 10"/>
          <p:cNvSpPr txBox="1"/>
          <p:nvPr/>
        </p:nvSpPr>
        <p:spPr>
          <a:xfrm>
            <a:off x="6263640" y="2926080"/>
            <a:ext cx="4754880" cy="365760"/>
          </a:xfrm>
          <a:prstGeom prst="rect">
            <a:avLst/>
          </a:prstGeom>
          <a:noFill/>
          <a:ln/>
        </p:spPr>
        <p:txBody>
          <a:bodyPr wrap="square" rtlCol="0" anchor="ctr"/>
          <a:lstStyle/>
          <a:p>
            <a:pPr indent="0" marL="0">
              <a:buNone/>
            </a:pPr>
            <a:r>
              <a:rPr lang="en-US" sz="1200" b="1" dirty="0">
                <a:solidFill>
                  <a:srgbClr val="B5680F"/>
                </a:solidFill>
                <a:latin typeface="Arial" pitchFamily="34" charset="0"/>
                <a:ea typeface="Arial" pitchFamily="34" charset="-122"/>
                <a:cs typeface="Arial" pitchFamily="34" charset="-120"/>
              </a:rPr>
              <a:t>VERSION B — PAPER ONLY</a:t>
            </a:r>
            <a:endParaRPr lang="en-US" sz="1200" dirty="0"/>
          </a:p>
        </p:txBody>
      </p:sp>
      <p:sp>
        <p:nvSpPr>
          <p:cNvPr id="13" name="Text 11"/>
          <p:cNvSpPr txBox="1"/>
          <p:nvPr/>
        </p:nvSpPr>
        <p:spPr>
          <a:xfrm>
            <a:off x="6263640" y="3337560"/>
            <a:ext cx="4754880" cy="2560320"/>
          </a:xfrm>
          <a:prstGeom prst="rect">
            <a:avLst/>
          </a:prstGeom>
          <a:noFill/>
          <a:ln/>
        </p:spPr>
        <p:txBody>
          <a:bodyPr wrap="square" rtlCol="0" anchor="t"/>
          <a:lstStyle/>
          <a:p>
            <a:pPr indent="0" marL="0">
              <a:buNone/>
            </a:pPr>
            <a:r>
              <a:rPr lang="en-US" sz="1250" dirty="0">
                <a:solidFill>
                  <a:srgbClr val="1A1A2E"/>
                </a:solidFill>
                <a:latin typeface="Arial" pitchFamily="34" charset="0"/>
                <a:ea typeface="Arial" pitchFamily="34" charset="-122"/>
                <a:cs typeface="Arial" pitchFamily="34" charset="-120"/>
              </a:rPr>
              <a:t>Paper only:</a:t>
            </a:r>
            <a:endParaRPr lang="en-US" sz="1250" dirty="0"/>
          </a:p>
          <a:p>
            <a:pPr indent="0" marL="0">
              <a:buNone/>
            </a:pPr>
            <a:r>
              <a:rPr lang="en-US" sz="1250" dirty="0">
                <a:solidFill>
                  <a:srgbClr val="1A1A2E"/>
                </a:solidFill>
                <a:latin typeface="Arial" pitchFamily="34" charset="0"/>
                <a:ea typeface="Arial" pitchFamily="34" charset="-122"/>
                <a:cs typeface="Arial" pitchFamily="34" charset="-120"/>
              </a:rPr>
              <a:t>By hand, write the 3-line summary and action table. Then write the prompt you would have used, labelling R / C / T / F.</a:t>
            </a:r>
            <a:endParaRPr lang="en-US" sz="1250" dirty="0"/>
          </a:p>
        </p:txBody>
      </p:sp>
      <p:sp>
        <p:nvSpPr>
          <p:cNvPr id="14" name="Text 12"/>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 · Facilitator answer key in Appendix C</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2.6 TOOL DIRECTORY</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Tools for Office Productivity — Free &amp; Paid</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55680" cy="914400"/>
        </p:xfrm>
        <a:graphic>
          <a:graphicData uri="http://schemas.openxmlformats.org/drawingml/2006/table">
            <a:tbl>
              <a:tblPr/>
              <a:tblGrid>
                <a:gridCol w="3566160"/>
                <a:gridCol w="1828800"/>
                <a:gridCol w="5760720"/>
              </a:tblGrid>
              <a:tr h="0">
                <a:tc>
                  <a:txBody>
                    <a:bodyPr/>
                    <a:lstStyle/>
                    <a:p>
                      <a:pPr algn="l" indent="0" marL="0">
                        <a:buNone/>
                      </a:pPr>
                      <a:r>
                        <a:rPr lang="en-US" sz="1250" b="1" dirty="0">
                          <a:solidFill>
                            <a:srgbClr val="FFFFFF"/>
                          </a:solidFill>
                        </a:rPr>
                        <a:t>Tool</a:t>
                      </a:r>
                      <a:endParaRPr lang="en-US" sz="12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15324D"/>
                    </a:solidFill>
                  </a:tcPr>
                </a:tc>
                <a:tc>
                  <a:txBody>
                    <a:bodyPr/>
                    <a:lstStyle/>
                    <a:p>
                      <a:pPr algn="l" indent="0" marL="0">
                        <a:buNone/>
                      </a:pPr>
                      <a:r>
                        <a:rPr lang="en-US" sz="1250" b="1" dirty="0">
                          <a:solidFill>
                            <a:srgbClr val="FFFFFF"/>
                          </a:solidFill>
                        </a:rPr>
                        <a:t>Type</a:t>
                      </a:r>
                      <a:endParaRPr lang="en-US" sz="12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15324D"/>
                    </a:solidFill>
                  </a:tcPr>
                </a:tc>
                <a:tc>
                  <a:txBody>
                    <a:bodyPr/>
                    <a:lstStyle/>
                    <a:p>
                      <a:pPr algn="l" indent="0" marL="0">
                        <a:buNone/>
                      </a:pPr>
                      <a:r>
                        <a:rPr lang="en-US" sz="1250" b="1" dirty="0">
                          <a:solidFill>
                            <a:srgbClr val="FFFFFF"/>
                          </a:solidFill>
                        </a:rPr>
                        <a:t>Best for</a:t>
                      </a:r>
                      <a:endParaRPr lang="en-US" sz="12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15324D"/>
                    </a:solidFill>
                  </a:tcPr>
                </a:tc>
              </a:tr>
              <a:tr h="0">
                <a:tc>
                  <a:txBody>
                    <a:bodyPr/>
                    <a:lstStyle/>
                    <a:p>
                      <a:pPr algn="l" indent="0" marL="0">
                        <a:buNone/>
                      </a:pPr>
                      <a:r>
                        <a:rPr lang="en-US" sz="1150" b="1" dirty="0">
                          <a:solidFill>
                            <a:srgbClr val="1A1A2E"/>
                          </a:solidFill>
                        </a:rPr>
                        <a:t>Microsoft 365 Copilot</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Paid add-on</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Word, Excel, PowerPoint, Outlook, Teams</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r>
              <a:tr h="0">
                <a:tc>
                  <a:txBody>
                    <a:bodyPr/>
                    <a:lstStyle/>
                    <a:p>
                      <a:pPr algn="l" indent="0" marL="0">
                        <a:buNone/>
                      </a:pPr>
                      <a:r>
                        <a:rPr lang="en-US" sz="1150" b="1" dirty="0">
                          <a:solidFill>
                            <a:srgbClr val="1A1A2E"/>
                          </a:solidFill>
                        </a:rPr>
                        <a:t>Google Gemini for Workspace</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Paid add-on</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Docs, Sheets, Slides, Gmail, Meet</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A1A2E"/>
                          </a:solidFill>
                        </a:rPr>
                        <a:t>Notion AI</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Notes, wikis, project docs</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r>
              <a:tr h="0">
                <a:tc>
                  <a:txBody>
                    <a:bodyPr/>
                    <a:lstStyle/>
                    <a:p>
                      <a:pPr algn="l" indent="0" marL="0">
                        <a:buNone/>
                      </a:pPr>
                      <a:r>
                        <a:rPr lang="en-US" sz="1150" b="1" dirty="0">
                          <a:solidFill>
                            <a:srgbClr val="1A1A2E"/>
                          </a:solidFill>
                        </a:rPr>
                        <a:t>Grammarly</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Grammar, tone and clarity for English writing</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A1A2E"/>
                          </a:solidFill>
                        </a:rPr>
                        <a:t>Otter.ai / Zoom AI Companion</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Meeting transcription and summaries</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r>
              <a:tr h="0">
                <a:tc>
                  <a:txBody>
                    <a:bodyPr/>
                    <a:lstStyle/>
                    <a:p>
                      <a:pPr algn="l" indent="0" marL="0">
                        <a:buNone/>
                      </a:pPr>
                      <a:r>
                        <a:rPr lang="en-US" sz="1150" b="1" dirty="0">
                          <a:solidFill>
                            <a:srgbClr val="1A1A2E"/>
                          </a:solidFill>
                        </a:rPr>
                        <a:t>Canva (Magic Write/Design)</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Quick slides and graphics from a prompt</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A1A2E"/>
                          </a:solidFill>
                        </a:rPr>
                        <a:t>DeepL</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High-quality translation across many language pairs</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r>
              <a:tr h="0">
                <a:tc>
                  <a:txBody>
                    <a:bodyPr/>
                    <a:lstStyle/>
                    <a:p>
                      <a:pPr algn="l" indent="0" marL="0">
                        <a:buNone/>
                      </a:pPr>
                      <a:r>
                        <a:rPr lang="en-US" sz="1150" b="1" dirty="0">
                          <a:solidFill>
                            <a:srgbClr val="1A1A2E"/>
                          </a:solidFill>
                        </a:rPr>
                        <a:t>Slack AI / Rakuten AI for Business</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Paid</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Business messaging and retail/e-commerce AI tools</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r>
            </a:tbl>
          </a:graphicData>
        </a:graphic>
      </p:graphicFrame>
      <p:sp>
        <p:nvSpPr>
          <p:cNvPr id="7" name="Text 4"/>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5324D"/>
        </a:solidFill>
      </p:bgPr>
    </p:bg>
    <p:spTree>
      <p:nvGrpSpPr>
        <p:cNvPr id="1" name=""/>
        <p:cNvGrpSpPr/>
        <p:nvPr/>
      </p:nvGrpSpPr>
      <p:grpSpPr>
        <a:xfrm>
          <a:off x="0" y="0"/>
          <a:ext cx="0" cy="0"/>
          <a:chOff x="0" y="0"/>
          <a:chExt cx="0" cy="0"/>
        </a:xfrm>
      </p:grpSpPr>
      <p:sp>
        <p:nvSpPr>
          <p:cNvPr id="2" name="Text 0"/>
          <p:cNvSpPr txBox="1"/>
          <p:nvPr/>
        </p:nvSpPr>
        <p:spPr>
          <a:xfrm>
            <a:off x="502920" y="548640"/>
            <a:ext cx="10058400" cy="365760"/>
          </a:xfrm>
          <a:prstGeom prst="rect">
            <a:avLst/>
          </a:prstGeom>
          <a:noFill/>
          <a:ln/>
        </p:spPr>
        <p:txBody>
          <a:bodyPr wrap="square" rtlCol="0" anchor="ctr"/>
          <a:lstStyle/>
          <a:p>
            <a:pPr indent="0" marL="0">
              <a:buNone/>
            </a:pPr>
            <a:r>
              <a:rPr lang="en-US" sz="1400" b="1" spc="100" kern="0" dirty="0">
                <a:solidFill>
                  <a:srgbClr val="8FD0E3"/>
                </a:solidFill>
                <a:latin typeface="Arial" pitchFamily="34" charset="0"/>
                <a:ea typeface="Arial" pitchFamily="34" charset="-122"/>
                <a:cs typeface="Arial" pitchFamily="34" charset="-120"/>
              </a:rPr>
              <a:t>KEY TAKEAWAYS</a:t>
            </a:r>
            <a:endParaRPr lang="en-US" sz="1400" dirty="0"/>
          </a:p>
        </p:txBody>
      </p:sp>
      <p:sp>
        <p:nvSpPr>
          <p:cNvPr id="3" name="Text 1"/>
          <p:cNvSpPr txBox="1"/>
          <p:nvPr/>
        </p:nvSpPr>
        <p:spPr>
          <a:xfrm>
            <a:off x="502920" y="960120"/>
            <a:ext cx="1097280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Key Takeaways — Session 2</a:t>
            </a:r>
            <a:endParaRPr lang="en-US" sz="2600" dirty="0"/>
          </a:p>
        </p:txBody>
      </p:sp>
      <p:sp>
        <p:nvSpPr>
          <p:cNvPr id="4" name="Text 2"/>
          <p:cNvSpPr txBox="1"/>
          <p:nvPr/>
        </p:nvSpPr>
        <p:spPr>
          <a:xfrm>
            <a:off x="502920" y="1828800"/>
            <a:ext cx="11064240" cy="4389120"/>
          </a:xfrm>
          <a:prstGeom prst="rect">
            <a:avLst/>
          </a:prstGeom>
          <a:noFill/>
          <a:ln/>
        </p:spPr>
        <p:txBody>
          <a:bodyPr wrap="square" rtlCol="0" anchor="t"/>
          <a:lstStyle/>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AI office assistants sit inside the tools you already use — Word, Excel, PowerPoint, Outlook, Teams.</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They are grounded in your own permitted files, making them safer and more useful than a general chat tool.</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Real deployments (Sumitomo, JCB, Dentsu) show large-scale, measurable savings.</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Highest-value starting points: drafting/rewriting documents, Excel formulas, notes-to-slides, meeting summaries.</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Always review AI-drafted content for tone, accuracy and policy before sending it externally.</a:t>
            </a:r>
            <a:endParaRPr lang="en-US" sz="1650" dirty="0"/>
          </a:p>
        </p:txBody>
      </p:sp>
      <p:sp>
        <p:nvSpPr>
          <p:cNvPr id="5" name="Text 3"/>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D"/>
          </a:solidFill>
          <a:ln/>
        </p:spPr>
      </p:sp>
      <p:sp>
        <p:nvSpPr>
          <p:cNvPr id="3" name="Text 1"/>
          <p:cNvSpPr txBox="1"/>
          <p:nvPr/>
        </p:nvSpPr>
        <p:spPr>
          <a:xfrm>
            <a:off x="9692640" y="365760"/>
            <a:ext cx="2103120" cy="1463040"/>
          </a:xfrm>
          <a:prstGeom prst="rect">
            <a:avLst/>
          </a:prstGeom>
          <a:noFill/>
          <a:ln/>
        </p:spPr>
        <p:txBody>
          <a:bodyPr wrap="square" rtlCol="0" anchor="ctr"/>
          <a:lstStyle/>
          <a:p>
            <a:pPr algn="r" indent="0" marL="0">
              <a:buNone/>
            </a:pPr>
            <a:r>
              <a:rPr lang="en-US" sz="9000" b="1" dirty="0">
                <a:solidFill>
                  <a:srgbClr val="1C7293">
                    <a:alpha val="65000"/>
                  </a:srgbClr>
                </a:solidFill>
                <a:latin typeface="Arial" pitchFamily="34" charset="0"/>
                <a:ea typeface="Arial" pitchFamily="34" charset="-122"/>
                <a:cs typeface="Arial" pitchFamily="34" charset="-120"/>
              </a:rPr>
              <a:t>03</a:t>
            </a:r>
            <a:endParaRPr lang="en-US" sz="9000" dirty="0"/>
          </a:p>
        </p:txBody>
      </p:sp>
      <p:sp>
        <p:nvSpPr>
          <p:cNvPr id="4" name="Text 2"/>
          <p:cNvSpPr txBox="1"/>
          <p:nvPr/>
        </p:nvSpPr>
        <p:spPr>
          <a:xfrm>
            <a:off x="731520" y="2286000"/>
            <a:ext cx="10058400" cy="457200"/>
          </a:xfrm>
          <a:prstGeom prst="rect">
            <a:avLst/>
          </a:prstGeom>
          <a:noFill/>
          <a:ln/>
        </p:spPr>
        <p:txBody>
          <a:bodyPr wrap="square" rtlCol="0" anchor="ctr"/>
          <a:lstStyle/>
          <a:p>
            <a:pPr indent="0" marL="0">
              <a:buNone/>
            </a:pPr>
            <a:r>
              <a:rPr lang="en-US" sz="1500" b="1" spc="200" kern="0" dirty="0">
                <a:solidFill>
                  <a:srgbClr val="8FD0E3"/>
                </a:solidFill>
                <a:latin typeface="Arial" pitchFamily="34" charset="0"/>
                <a:ea typeface="Arial" pitchFamily="34" charset="-122"/>
                <a:cs typeface="Arial" pitchFamily="34" charset="-120"/>
              </a:rPr>
              <a:t>SESSION 3 · DAY 2, 08:45–10:30</a:t>
            </a:r>
            <a:endParaRPr lang="en-US" sz="1500" dirty="0"/>
          </a:p>
        </p:txBody>
      </p:sp>
      <p:sp>
        <p:nvSpPr>
          <p:cNvPr id="5" name="Text 3"/>
          <p:cNvSpPr txBox="1"/>
          <p:nvPr/>
        </p:nvSpPr>
        <p:spPr>
          <a:xfrm>
            <a:off x="731520" y="2743200"/>
            <a:ext cx="10515600" cy="11887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AI for Software Development</a:t>
            </a:r>
            <a:endParaRPr lang="en-US" sz="3600" dirty="0"/>
          </a:p>
          <a:p>
            <a:pPr indent="0" marL="0">
              <a:buNone/>
            </a:pPr>
            <a:r>
              <a:rPr lang="en-US" sz="3600" b="1" dirty="0">
                <a:solidFill>
                  <a:srgbClr val="FFFFFF"/>
                </a:solidFill>
                <a:latin typeface="Arial" pitchFamily="34" charset="0"/>
                <a:ea typeface="Arial" pitchFamily="34" charset="-122"/>
                <a:cs typeface="Arial" pitchFamily="34" charset="-120"/>
              </a:rPr>
              <a:t>&amp; AI-Assisted Coding</a:t>
            </a:r>
            <a:endParaRPr lang="en-US" sz="3600" dirty="0"/>
          </a:p>
        </p:txBody>
      </p:sp>
      <p:sp>
        <p:nvSpPr>
          <p:cNvPr id="6" name="Text 4"/>
          <p:cNvSpPr txBox="1"/>
          <p:nvPr/>
        </p:nvSpPr>
        <p:spPr>
          <a:xfrm>
            <a:off x="731520" y="3794760"/>
            <a:ext cx="9875520" cy="548640"/>
          </a:xfrm>
          <a:prstGeom prst="rect">
            <a:avLst/>
          </a:prstGeom>
          <a:noFill/>
          <a:ln/>
        </p:spPr>
        <p:txBody>
          <a:bodyPr wrap="square" rtlCol="0" anchor="ctr"/>
          <a:lstStyle/>
          <a:p>
            <a:pPr indent="0" marL="0">
              <a:buNone/>
            </a:pPr>
            <a:r>
              <a:rPr lang="en-US" sz="1600" dirty="0">
                <a:solidFill>
                  <a:srgbClr val="D8E6EC"/>
                </a:solidFill>
                <a:latin typeface="Arial" pitchFamily="34" charset="0"/>
                <a:ea typeface="Arial" pitchFamily="34" charset="-122"/>
                <a:cs typeface="Arial" pitchFamily="34" charset="-120"/>
              </a:rPr>
              <a:t>How AI changes the way software gets built, tested and shipped</a:t>
            </a:r>
            <a:endParaRPr lang="en-US" sz="1600" dirty="0"/>
          </a:p>
        </p:txBody>
      </p:sp>
      <p:sp>
        <p:nvSpPr>
          <p:cNvPr id="7" name="Shape 5"/>
          <p:cNvSpPr/>
          <p:nvPr/>
        </p:nvSpPr>
        <p:spPr>
          <a:xfrm>
            <a:off x="731520" y="4572000"/>
            <a:ext cx="10241280" cy="27432"/>
          </a:xfrm>
          <a:prstGeom prst="rect">
            <a:avLst/>
          </a:prstGeom>
          <a:solidFill>
            <a:srgbClr val="E8912D"/>
          </a:solidFill>
          <a:ln/>
        </p:spPr>
      </p:sp>
      <p:sp>
        <p:nvSpPr>
          <p:cNvPr id="8" name="Text 6"/>
          <p:cNvSpPr txBox="1"/>
          <p:nvPr/>
        </p:nvSpPr>
        <p:spPr>
          <a:xfrm>
            <a:off x="731520" y="4709160"/>
            <a:ext cx="10058400" cy="320040"/>
          </a:xfrm>
          <a:prstGeom prst="rect">
            <a:avLst/>
          </a:prstGeom>
          <a:noFill/>
          <a:ln/>
        </p:spPr>
        <p:txBody>
          <a:bodyPr wrap="square" rtlCol="0" anchor="ctr"/>
          <a:lstStyle/>
          <a:p>
            <a:pPr indent="0" marL="0">
              <a:buNone/>
            </a:pPr>
            <a:r>
              <a:rPr lang="en-US" sz="1200" b="1" spc="100" kern="0" dirty="0">
                <a:solidFill>
                  <a:srgbClr val="E8912D"/>
                </a:solidFill>
                <a:latin typeface="Arial" pitchFamily="34" charset="0"/>
                <a:ea typeface="Arial" pitchFamily="34" charset="-122"/>
                <a:cs typeface="Arial" pitchFamily="34" charset="-120"/>
              </a:rPr>
              <a:t>BY THE END OF THIS SESSION, YOU WILL BE ABLE TO</a:t>
            </a:r>
            <a:endParaRPr lang="en-US" sz="1200" dirty="0"/>
          </a:p>
        </p:txBody>
      </p:sp>
      <p:sp>
        <p:nvSpPr>
          <p:cNvPr id="9" name="Text 7"/>
          <p:cNvSpPr txBox="1"/>
          <p:nvPr/>
        </p:nvSpPr>
        <p:spPr>
          <a:xfrm>
            <a:off x="731520" y="5074920"/>
            <a:ext cx="10241280" cy="1554480"/>
          </a:xfrm>
          <a:prstGeom prst="rect">
            <a:avLst/>
          </a:prstGeom>
          <a:noFill/>
          <a:ln/>
        </p:spPr>
        <p:txBody>
          <a:bodyPr wrap="square" rtlCol="0" anchor="ctr"/>
          <a:lstStyle/>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Identify where AI assists each stage of the development lifecycle</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Explain the daily workflow of a developer using an AI pair-programming tool</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Describe real productivity results from Amazon, eBay and Mercari</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Recognise the main categories of AI coding tools, free and paid</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3.1 WHY IT'S CHANGING</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Why Coding Is Changing</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Writing software has traditionally been slow: a large share of time goes to repetitive, well-understood tasks — boilerplate code, tests, documentation search, small bug fixes.</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AI coding assistants directly target these repetitive tasks.</a:t>
            </a:r>
            <a:endParaRPr lang="en-US" sz="1650" dirty="0"/>
          </a:p>
        </p:txBody>
      </p:sp>
      <p:sp>
        <p:nvSpPr>
          <p:cNvPr id="7" name="Shape 5"/>
          <p:cNvSpPr/>
          <p:nvPr/>
        </p:nvSpPr>
        <p:spPr>
          <a:xfrm>
            <a:off x="7452360" y="1645920"/>
            <a:ext cx="4251960" cy="3657600"/>
          </a:xfrm>
          <a:prstGeom prst="roundRect">
            <a:avLst>
              <a:gd name="adj" fmla="val 2500"/>
            </a:avLst>
          </a:prstGeom>
          <a:solidFill>
            <a:srgbClr val="1C7293">
              <a:alpha val="8000"/>
            </a:srgbClr>
          </a:solidFill>
          <a:ln w="19050">
            <a:solidFill>
              <a:srgbClr val="1C7293"/>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1C7293"/>
                </a:solidFill>
                <a:latin typeface="Arial" pitchFamily="34" charset="0"/>
                <a:ea typeface="Arial" pitchFamily="34" charset="-122"/>
                <a:cs typeface="Arial" pitchFamily="34" charset="-120"/>
              </a:rPr>
              <a:t>ADOPTION IN NUMBERS</a:t>
            </a:r>
            <a:endParaRPr lang="en-US" sz="1300" dirty="0"/>
          </a:p>
        </p:txBody>
      </p:sp>
      <p:sp>
        <p:nvSpPr>
          <p:cNvPr id="9" name="Text 7"/>
          <p:cNvSpPr txBox="1"/>
          <p:nvPr/>
        </p:nvSpPr>
        <p:spPr>
          <a:xfrm>
            <a:off x="7726680" y="2212848"/>
            <a:ext cx="3703320" cy="301752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 82% of developers using AI tools use ChatGPT</a:t>
            </a:r>
            <a:endParaRPr lang="en-US" sz="1300" dirty="0"/>
          </a:p>
          <a:p>
            <a:pPr indent="0" marL="0">
              <a:buNone/>
            </a:pPr>
            <a:r>
              <a:rPr lang="en-US" sz="1300" dirty="0">
                <a:solidFill>
                  <a:srgbClr val="1A1A2E"/>
                </a:solidFill>
                <a:latin typeface="Arial" pitchFamily="34" charset="0"/>
                <a:ea typeface="Arial" pitchFamily="34" charset="-122"/>
                <a:cs typeface="Arial" pitchFamily="34" charset="-120"/>
              </a:rPr>
              <a:t>• 68% use GitHub Copilot</a:t>
            </a:r>
            <a:endParaRPr lang="en-US" sz="1300" dirty="0"/>
          </a:p>
          <a:p>
            <a:pPr indent="0" marL="0">
              <a:buNone/>
            </a:pPr>
            <a:r>
              <a:rPr lang="en-US" sz="1300" dirty="0">
                <a:solidFill>
                  <a:srgbClr val="1A1A2E"/>
                </a:solidFill>
                <a:latin typeface="Arial" pitchFamily="34" charset="0"/>
                <a:ea typeface="Arial" pitchFamily="34" charset="-122"/>
                <a:cs typeface="Arial" pitchFamily="34" charset="-120"/>
              </a:rPr>
              <a:t>(2025 Stack Overflow Developer Survey)</a:t>
            </a:r>
            <a:endParaRPr lang="en-US" sz="1300" dirty="0"/>
          </a:p>
          <a:p>
            <a:pPr indent="0" marL="0">
              <a:buNone/>
            </a:pPr>
            <a:endParaRPr lang="en-US" sz="1300" dirty="0"/>
          </a:p>
          <a:p>
            <a:pPr indent="0" marL="0">
              <a:buNone/>
            </a:pPr>
            <a:r>
              <a:rPr lang="en-US" sz="1300" dirty="0">
                <a:solidFill>
                  <a:srgbClr val="1A1A2E"/>
                </a:solidFill>
                <a:latin typeface="Arial" pitchFamily="34" charset="0"/>
                <a:ea typeface="Arial" pitchFamily="34" charset="-122"/>
                <a:cs typeface="Arial" pitchFamily="34" charset="-120"/>
              </a:rPr>
              <a:t>• GitHub Copilot: 26M+ users worldwide, across virtually every country with an active software industry</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3.2 ACROSS THE LIFECYCLE</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AI Across the Development Lifecycle</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pic>
        <p:nvPicPr>
          <p:cNvPr id="6" name="Image 0" descr="/home/claude/course/diagrams/d4_sdlc_ai.png">    </p:cNvPr>
          <p:cNvPicPr>
            <a:picLocks noChangeAspect="1"/>
          </p:cNvPicPr>
          <p:nvPr/>
        </p:nvPicPr>
        <p:blipFill>
          <a:blip r:embed="rId1"/>
          <a:stretch>
            <a:fillRect/>
          </a:stretch>
        </p:blipFill>
        <p:spPr>
          <a:xfrm>
            <a:off x="792328" y="1508760"/>
            <a:ext cx="10607040" cy="4663440"/>
          </a:xfrm>
          <a:prstGeom prst="rect">
            <a:avLst/>
          </a:prstGeom>
        </p:spPr>
      </p:pic>
      <p:sp>
        <p:nvSpPr>
          <p:cNvPr id="7" name="Text 4"/>
          <p:cNvSpPr txBox="1"/>
          <p:nvPr/>
        </p:nvSpPr>
        <p:spPr>
          <a:xfrm>
            <a:off x="502920" y="6245352"/>
            <a:ext cx="11155680" cy="320040"/>
          </a:xfrm>
          <a:prstGeom prst="rect">
            <a:avLst/>
          </a:prstGeom>
          <a:noFill/>
          <a:ln/>
        </p:spPr>
        <p:txBody>
          <a:bodyPr wrap="square" rtlCol="0" anchor="ctr"/>
          <a:lstStyle/>
          <a:p>
            <a:pPr algn="ctr" indent="0" marL="0">
              <a:buNone/>
            </a:pPr>
            <a:r>
              <a:rPr lang="en-US" sz="1150" i="1" dirty="0">
                <a:solidFill>
                  <a:srgbClr val="6B7785"/>
                </a:solidFill>
                <a:latin typeface="Arial" pitchFamily="34" charset="0"/>
                <a:ea typeface="Arial" pitchFamily="34" charset="-122"/>
                <a:cs typeface="Arial" pitchFamily="34" charset="-120"/>
              </a:rPr>
              <a:t>Figure 3.1 — Where AI fits into each stage of the software development lifecycle.</a:t>
            </a:r>
            <a:endParaRPr lang="en-US" sz="1150" dirty="0"/>
          </a:p>
        </p:txBody>
      </p:sp>
      <p:sp>
        <p:nvSpPr>
          <p:cNvPr id="8" name="Text 5"/>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3.2 ACROSS THE LIFECYCLE</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Plan, Design, Code, Test</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Plan &amp; Design</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AI drafts requirement documents from meeting notes; suggests a first-pass architecture from a plain description.</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Code</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The best-known use: AI suggests the next lines, or a whole function, as a developer types.</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Test</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AI generates unit tests automatically — traditionally one of the most skipped parts of development.</a:t>
            </a:r>
            <a:endParaRPr lang="en-US" sz="1650" dirty="0"/>
          </a:p>
        </p:txBody>
      </p:sp>
      <p:sp>
        <p:nvSpPr>
          <p:cNvPr id="7" name="Shape 5"/>
          <p:cNvSpPr/>
          <p:nvPr/>
        </p:nvSpPr>
        <p:spPr>
          <a:xfrm>
            <a:off x="7452360" y="1645920"/>
            <a:ext cx="4251960" cy="3017520"/>
          </a:xfrm>
          <a:prstGeom prst="roundRect">
            <a:avLst>
              <a:gd name="adj" fmla="val 3030"/>
            </a:avLst>
          </a:prstGeom>
          <a:solidFill>
            <a:srgbClr val="E8912D">
              <a:alpha val="8000"/>
            </a:srgbClr>
          </a:solidFill>
          <a:ln w="19050">
            <a:solidFill>
              <a:srgbClr val="E8912D"/>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E8912D"/>
                </a:solidFill>
                <a:latin typeface="Arial" pitchFamily="34" charset="0"/>
                <a:ea typeface="Arial" pitchFamily="34" charset="-122"/>
                <a:cs typeface="Arial" pitchFamily="34" charset="-120"/>
              </a:rPr>
              <a:t>AMAZON Q DEVELOPER</a:t>
            </a:r>
            <a:endParaRPr lang="en-US" sz="1300" dirty="0"/>
          </a:p>
        </p:txBody>
      </p:sp>
      <p:sp>
        <p:nvSpPr>
          <p:cNvPr id="9" name="Text 7"/>
          <p:cNvSpPr txBox="1"/>
          <p:nvPr/>
        </p:nvSpPr>
        <p:spPr>
          <a:xfrm>
            <a:off x="7726680" y="2212848"/>
            <a:ext cx="3703320" cy="237744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Helped migrate ~30,000 internal applications from an old Java version to a modern one, saving an estimated 4,500 developer-years and $260 million per year. Developers were 27% more likely to complete a task successfully.</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3.3 DAILY WORKFLOW</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The Daily AI-Assisted Coding Workflow</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pic>
        <p:nvPicPr>
          <p:cNvPr id="6" name="Image 0" descr="/home/claude/course/diagrams/d5_coding_workflow.png">    </p:cNvPr>
          <p:cNvPicPr>
            <a:picLocks noChangeAspect="1"/>
          </p:cNvPicPr>
          <p:nvPr/>
        </p:nvPicPr>
        <p:blipFill>
          <a:blip r:embed="rId1"/>
          <a:stretch>
            <a:fillRect/>
          </a:stretch>
        </p:blipFill>
        <p:spPr>
          <a:xfrm>
            <a:off x="792328" y="1508760"/>
            <a:ext cx="10607040" cy="4663440"/>
          </a:xfrm>
          <a:prstGeom prst="rect">
            <a:avLst/>
          </a:prstGeom>
        </p:spPr>
      </p:pic>
      <p:sp>
        <p:nvSpPr>
          <p:cNvPr id="7" name="Text 4"/>
          <p:cNvSpPr txBox="1"/>
          <p:nvPr/>
        </p:nvSpPr>
        <p:spPr>
          <a:xfrm>
            <a:off x="502920" y="6245352"/>
            <a:ext cx="11155680" cy="320040"/>
          </a:xfrm>
          <a:prstGeom prst="rect">
            <a:avLst/>
          </a:prstGeom>
          <a:noFill/>
          <a:ln/>
        </p:spPr>
        <p:txBody>
          <a:bodyPr wrap="square" rtlCol="0" anchor="ctr"/>
          <a:lstStyle/>
          <a:p>
            <a:pPr algn="ctr" indent="0" marL="0">
              <a:buNone/>
            </a:pPr>
            <a:r>
              <a:rPr lang="en-US" sz="1150" i="1" dirty="0">
                <a:solidFill>
                  <a:srgbClr val="6B7785"/>
                </a:solidFill>
                <a:latin typeface="Arial" pitchFamily="34" charset="0"/>
                <a:ea typeface="Arial" pitchFamily="34" charset="-122"/>
                <a:cs typeface="Arial" pitchFamily="34" charset="-120"/>
              </a:rPr>
              <a:t>Figure 3.2 — From developer intent to a reviewed pull request, with a human in charge at every step.</a:t>
            </a:r>
            <a:endParaRPr lang="en-US" sz="1150" dirty="0"/>
          </a:p>
        </p:txBody>
      </p:sp>
      <p:sp>
        <p:nvSpPr>
          <p:cNvPr id="8" name="Text 5"/>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3.3 DAILY WORKFLOW</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Describing a Task Clearly Enough for AI</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The same R-C-T-F thinking from Session 1 applies directly to coding — often as a single comment.</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Common everyday uses: autocomplete, ‘explain this code’, ‘find the bug’, ‘write the tests’, translating code between languages.</a:t>
            </a:r>
            <a:endParaRPr lang="en-US" sz="1650" dirty="0"/>
          </a:p>
        </p:txBody>
      </p:sp>
      <p:sp>
        <p:nvSpPr>
          <p:cNvPr id="7" name="Shape 5"/>
          <p:cNvSpPr/>
          <p:nvPr/>
        </p:nvSpPr>
        <p:spPr>
          <a:xfrm>
            <a:off x="7452360" y="1645920"/>
            <a:ext cx="4251960" cy="2743200"/>
          </a:xfrm>
          <a:prstGeom prst="roundRect">
            <a:avLst>
              <a:gd name="adj" fmla="val 3333"/>
            </a:avLst>
          </a:prstGeom>
          <a:solidFill>
            <a:srgbClr val="2E8B57">
              <a:alpha val="8000"/>
            </a:srgbClr>
          </a:solidFill>
          <a:ln w="19050">
            <a:solidFill>
              <a:srgbClr val="2E8B57"/>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2E8B57"/>
                </a:solidFill>
                <a:latin typeface="Arial" pitchFamily="34" charset="0"/>
                <a:ea typeface="Arial" pitchFamily="34" charset="-122"/>
                <a:cs typeface="Arial" pitchFamily="34" charset="-120"/>
              </a:rPr>
              <a:t>EXAMPLE: A ONE-LINE PROMPT</a:t>
            </a:r>
            <a:endParaRPr lang="en-US" sz="1300" dirty="0"/>
          </a:p>
        </p:txBody>
      </p:sp>
      <p:sp>
        <p:nvSpPr>
          <p:cNvPr id="9" name="Text 7"/>
          <p:cNvSpPr txBox="1"/>
          <p:nvPr/>
        </p:nvSpPr>
        <p:spPr>
          <a:xfrm>
            <a:off x="7726680" y="2212848"/>
            <a:ext cx="3703320" cy="210312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 Function to validate a postal code (format: 12345 or 12345-6789) and return true/false</a:t>
            </a:r>
            <a:endParaRPr lang="en-US" sz="1300" dirty="0"/>
          </a:p>
          <a:p>
            <a:pPr indent="0" marL="0">
              <a:buNone/>
            </a:pPr>
            <a:endParaRPr lang="en-US" sz="1300" dirty="0"/>
          </a:p>
          <a:p>
            <a:pPr indent="0" marL="0">
              <a:buNone/>
            </a:pPr>
            <a:r>
              <a:rPr lang="en-US" sz="1300" dirty="0">
                <a:solidFill>
                  <a:srgbClr val="1A1A2E"/>
                </a:solidFill>
                <a:latin typeface="Arial" pitchFamily="34" charset="0"/>
                <a:ea typeface="Arial" pitchFamily="34" charset="-122"/>
                <a:cs typeface="Arial" pitchFamily="34" charset="-120"/>
              </a:rPr>
              <a:t>The AI reads this comment as Context + Task, and suggests a working function immediately below it.</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3.4 CASE STUDIES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Amazon &amp; eBay — Engineering at Scale</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11155680" cy="4572000"/>
          </a:xfrm>
          <a:prstGeom prst="rect">
            <a:avLst/>
          </a:prstGeom>
          <a:noFill/>
          <a:ln/>
        </p:spPr>
        <p:txBody>
          <a:bodyPr wrap="square" rtlCol="0" anchor="t"/>
          <a:lstStyle/>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Amazon Q Developer</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One of the largest publicly disclosed AI-coding success stories in the industry (see Section 3.2 figures).</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eBay engineering</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Beyond the customer-facing ‘Magical Listing’ tool, eBay's own engineering organisation has long been an adopter of AI developer tools as part of its broader AI strategy.</a:t>
            </a:r>
            <a:endParaRPr lang="en-US" sz="1650" dirty="0"/>
          </a:p>
        </p:txBody>
      </p:sp>
      <p:sp>
        <p:nvSpPr>
          <p:cNvPr id="7" name="Text 5"/>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3.4 CASE STUDIES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Mercari — a Global Marketplace, AI-Native</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Mercari — a major consumer-to-consumer marketplace, often compared to eBay — has rolled out both GitHub Copilot and Cursor to its entire engineering organisation of roughly 2,000 people.</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Both tools are available for every engineer to use, not restricted to a pilot group.</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Mercari's engineering leadership speaks publicly about building an ‘AI-native’ engineering culture — understanding what AI can and cannot do, as a change in working habits, not just a new tool.</a:t>
            </a:r>
            <a:endParaRPr lang="en-US" sz="1650" dirty="0"/>
          </a:p>
        </p:txBody>
      </p:sp>
      <p:sp>
        <p:nvSpPr>
          <p:cNvPr id="7" name="Shape 5"/>
          <p:cNvSpPr/>
          <p:nvPr/>
        </p:nvSpPr>
        <p:spPr>
          <a:xfrm>
            <a:off x="7452360" y="1645920"/>
            <a:ext cx="4251960" cy="2194560"/>
          </a:xfrm>
          <a:prstGeom prst="roundRect">
            <a:avLst>
              <a:gd name="adj" fmla="val 4167"/>
            </a:avLst>
          </a:prstGeom>
          <a:solidFill>
            <a:srgbClr val="B3412D">
              <a:alpha val="8000"/>
            </a:srgbClr>
          </a:solidFill>
          <a:ln w="19050">
            <a:solidFill>
              <a:srgbClr val="B3412D"/>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B3412D"/>
                </a:solidFill>
                <a:latin typeface="Arial" pitchFamily="34" charset="0"/>
                <a:ea typeface="Arial" pitchFamily="34" charset="-122"/>
                <a:cs typeface="Arial" pitchFamily="34" charset="-120"/>
              </a:rPr>
              <a:t>WHY MERCARI IS A USEFUL REFERENCE</a:t>
            </a:r>
            <a:endParaRPr lang="en-US" sz="1300" dirty="0"/>
          </a:p>
        </p:txBody>
      </p:sp>
      <p:sp>
        <p:nvSpPr>
          <p:cNvPr id="9" name="Text 7"/>
          <p:cNvSpPr txBox="1"/>
          <p:nvPr/>
        </p:nvSpPr>
        <p:spPr>
          <a:xfrm>
            <a:off x="7726680" y="2212848"/>
            <a:ext cx="3703320" cy="155448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Mercari faces the same scale challenges as eBay: millions of listings, fraud detection, and search relevance, all at national scale.</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274320" y="274320"/>
            <a:ext cx="11643055" cy="6309360"/>
          </a:xfrm>
          <a:prstGeom prst="rect">
            <a:avLst>
              <a:gd name="adj" fmla="val 1739"/>
            </a:avLst>
          </a:prstGeom>
          <a:solidFill>
            <a:srgbClr val="FFFFFF"/>
          </a:solidFill>
          <a:ln w="25400">
            <a:solidFill>
              <a:srgbClr val="15324D"/>
            </a:solidFill>
            <a:prstDash val="dash"/>
          </a:ln>
        </p:spPr>
      </p:sp>
      <p:sp>
        <p:nvSpPr>
          <p:cNvPr id="3" name="Shape 1"/>
          <p:cNvSpPr/>
          <p:nvPr/>
        </p:nvSpPr>
        <p:spPr>
          <a:xfrm>
            <a:off x="594360" y="548640"/>
            <a:ext cx="1737360" cy="365760"/>
          </a:xfrm>
          <a:prstGeom prst="roundRect">
            <a:avLst>
              <a:gd name="adj" fmla="val 15000"/>
            </a:avLst>
          </a:prstGeom>
          <a:solidFill>
            <a:srgbClr val="15324D"/>
          </a:solidFill>
          <a:ln/>
        </p:spPr>
      </p:sp>
      <p:sp>
        <p:nvSpPr>
          <p:cNvPr id="4" name="Text 2"/>
          <p:cNvSpPr txBox="1"/>
          <p:nvPr/>
        </p:nvSpPr>
        <p:spPr>
          <a:xfrm>
            <a:off x="594360" y="548640"/>
            <a:ext cx="17373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EXERCISE 3</a:t>
            </a:r>
            <a:endParaRPr lang="en-US" sz="1200" dirty="0"/>
          </a:p>
        </p:txBody>
      </p:sp>
      <p:sp>
        <p:nvSpPr>
          <p:cNvPr id="5" name="Text 3"/>
          <p:cNvSpPr txBox="1"/>
          <p:nvPr/>
        </p:nvSpPr>
        <p:spPr>
          <a:xfrm>
            <a:off x="2514600" y="502920"/>
            <a:ext cx="8686800" cy="457200"/>
          </a:xfrm>
          <a:prstGeom prst="rect">
            <a:avLst/>
          </a:prstGeom>
          <a:noFill/>
          <a:ln/>
        </p:spPr>
        <p:txBody>
          <a:bodyPr wrap="square" rtlCol="0" anchor="ctr"/>
          <a:lstStyle/>
          <a:p>
            <a:pPr indent="0" marL="0">
              <a:buNone/>
            </a:pPr>
            <a:r>
              <a:rPr lang="en-US" sz="2000" b="1" dirty="0">
                <a:solidFill>
                  <a:srgbClr val="15324D"/>
                </a:solidFill>
                <a:latin typeface="Arial" pitchFamily="34" charset="0"/>
                <a:ea typeface="Arial" pitchFamily="34" charset="-122"/>
                <a:cs typeface="Arial" pitchFamily="34" charset="-120"/>
              </a:rPr>
              <a:t>Write the Comment, Predict the Code</a:t>
            </a:r>
            <a:endParaRPr lang="en-US" sz="2000" dirty="0"/>
          </a:p>
        </p:txBody>
      </p:sp>
      <p:sp>
        <p:nvSpPr>
          <p:cNvPr id="6" name="Text 4"/>
          <p:cNvSpPr txBox="1"/>
          <p:nvPr/>
        </p:nvSpPr>
        <p:spPr>
          <a:xfrm>
            <a:off x="685800" y="1097280"/>
            <a:ext cx="10789920" cy="914400"/>
          </a:xfrm>
          <a:prstGeom prst="rect">
            <a:avLst/>
          </a:prstGeom>
          <a:noFill/>
          <a:ln/>
        </p:spPr>
        <p:txBody>
          <a:bodyPr wrap="square" rtlCol="0" anchor="t"/>
          <a:lstStyle/>
          <a:p>
            <a:pPr indent="0" marL="0">
              <a:buNone/>
            </a:pPr>
            <a:r>
              <a:rPr lang="en-US" sz="1350" dirty="0">
                <a:solidFill>
                  <a:srgbClr val="1A1A2E"/>
                </a:solidFill>
                <a:latin typeface="Arial" pitchFamily="34" charset="0"/>
                <a:ea typeface="Arial" pitchFamily="34" charset="-122"/>
                <a:cs typeface="Arial" pitchFamily="34" charset="-120"/>
              </a:rPr>
              <a:t>Scenario: You do not need to know how to code — you are practising describing a task clearly, as you would to a junior colleague or an AI tool.</a:t>
            </a:r>
            <a:endParaRPr lang="en-US" sz="1350" dirty="0"/>
          </a:p>
        </p:txBody>
      </p:sp>
      <p:sp>
        <p:nvSpPr>
          <p:cNvPr id="7" name="Text 5"/>
          <p:cNvSpPr txBox="1"/>
          <p:nvPr/>
        </p:nvSpPr>
        <p:spPr>
          <a:xfrm>
            <a:off x="685800" y="1965960"/>
            <a:ext cx="10789920" cy="685800"/>
          </a:xfrm>
          <a:prstGeom prst="rect">
            <a:avLst/>
          </a:prstGeom>
          <a:noFill/>
          <a:ln/>
        </p:spPr>
        <p:txBody>
          <a:bodyPr wrap="square" rtlCol="0" anchor="t"/>
          <a:lstStyle/>
          <a:p>
            <a:pPr indent="0" marL="0">
              <a:buNone/>
            </a:pPr>
            <a:r>
              <a:rPr lang="en-US" sz="1350" b="1" dirty="0">
                <a:solidFill>
                  <a:srgbClr val="15324D"/>
                </a:solidFill>
                <a:latin typeface="Arial" pitchFamily="34" charset="0"/>
                <a:ea typeface="Arial" pitchFamily="34" charset="-122"/>
                <a:cs typeface="Arial" pitchFamily="34" charset="-120"/>
              </a:rPr>
              <a:t>Your task: Write a one-sentence instruction (as a code comment) for ONE of: (1) validate a phone number format, (2) calculate order total with 8% shipping + 10% tax, (3) sort customer names alphabetically, ignoring case.</a:t>
            </a:r>
            <a:endParaRPr lang="en-US" sz="1350" dirty="0"/>
          </a:p>
        </p:txBody>
      </p:sp>
      <p:sp>
        <p:nvSpPr>
          <p:cNvPr id="8" name="Shape 6"/>
          <p:cNvSpPr/>
          <p:nvPr/>
        </p:nvSpPr>
        <p:spPr>
          <a:xfrm>
            <a:off x="685800" y="2788920"/>
            <a:ext cx="5120640" cy="3291840"/>
          </a:xfrm>
          <a:prstGeom prst="roundRect">
            <a:avLst>
              <a:gd name="adj" fmla="val 2222"/>
            </a:avLst>
          </a:prstGeom>
          <a:solidFill>
            <a:srgbClr val="1C7293">
              <a:alpha val="7000"/>
            </a:srgbClr>
          </a:solidFill>
          <a:ln w="15240">
            <a:solidFill>
              <a:srgbClr val="1C7293"/>
            </a:solidFill>
            <a:prstDash val="solid"/>
          </a:ln>
        </p:spPr>
      </p:sp>
      <p:sp>
        <p:nvSpPr>
          <p:cNvPr id="9" name="Text 7"/>
          <p:cNvSpPr txBox="1"/>
          <p:nvPr/>
        </p:nvSpPr>
        <p:spPr>
          <a:xfrm>
            <a:off x="868680" y="2926080"/>
            <a:ext cx="4754880" cy="365760"/>
          </a:xfrm>
          <a:prstGeom prst="rect">
            <a:avLst/>
          </a:prstGeom>
          <a:noFill/>
          <a:ln/>
        </p:spPr>
        <p:txBody>
          <a:bodyPr wrap="square" rtlCol="0" anchor="ctr"/>
          <a:lstStyle/>
          <a:p>
            <a:pPr indent="0" marL="0">
              <a:buNone/>
            </a:pPr>
            <a:r>
              <a:rPr lang="en-US" sz="1200" b="1" dirty="0">
                <a:solidFill>
                  <a:srgbClr val="1C7293"/>
                </a:solidFill>
                <a:latin typeface="Arial" pitchFamily="34" charset="0"/>
                <a:ea typeface="Arial" pitchFamily="34" charset="-122"/>
                <a:cs typeface="Arial" pitchFamily="34" charset="-120"/>
              </a:rPr>
              <a:t>VERSION A — WITH LAPTOP / INTERNET</a:t>
            </a:r>
            <a:endParaRPr lang="en-US" sz="1200" dirty="0"/>
          </a:p>
        </p:txBody>
      </p:sp>
      <p:sp>
        <p:nvSpPr>
          <p:cNvPr id="10" name="Text 8"/>
          <p:cNvSpPr txBox="1"/>
          <p:nvPr/>
        </p:nvSpPr>
        <p:spPr>
          <a:xfrm>
            <a:off x="868680" y="3337560"/>
            <a:ext cx="4754880" cy="2560320"/>
          </a:xfrm>
          <a:prstGeom prst="rect">
            <a:avLst/>
          </a:prstGeom>
          <a:noFill/>
          <a:ln/>
        </p:spPr>
        <p:txBody>
          <a:bodyPr wrap="square" rtlCol="0" anchor="t"/>
          <a:lstStyle/>
          <a:p>
            <a:pPr indent="0" marL="0">
              <a:buNone/>
            </a:pPr>
            <a:r>
              <a:rPr lang="en-US" sz="1250" dirty="0">
                <a:solidFill>
                  <a:srgbClr val="1A1A2E"/>
                </a:solidFill>
                <a:latin typeface="Arial" pitchFamily="34" charset="0"/>
                <a:ea typeface="Arial" pitchFamily="34" charset="-122"/>
                <a:cs typeface="Arial" pitchFamily="34" charset="-120"/>
              </a:rPr>
              <a:t>With laptop/internet:</a:t>
            </a:r>
            <a:endParaRPr lang="en-US" sz="1250" dirty="0"/>
          </a:p>
          <a:p>
            <a:pPr indent="0" marL="0">
              <a:buNone/>
            </a:pPr>
            <a:r>
              <a:rPr lang="en-US" sz="1250" dirty="0">
                <a:solidFill>
                  <a:srgbClr val="1A1A2E"/>
                </a:solidFill>
                <a:latin typeface="Arial" pitchFamily="34" charset="0"/>
                <a:ea typeface="Arial" pitchFamily="34" charset="-122"/>
                <a:cs typeface="Arial" pitchFamily="34" charset="-120"/>
              </a:rPr>
              <a:t>Type your instruction into any AI tool (“Write a function that…”). Read the explanation — does it match what you asked for?</a:t>
            </a:r>
            <a:endParaRPr lang="en-US" sz="1250" dirty="0"/>
          </a:p>
        </p:txBody>
      </p:sp>
      <p:sp>
        <p:nvSpPr>
          <p:cNvPr id="11" name="Shape 9"/>
          <p:cNvSpPr/>
          <p:nvPr/>
        </p:nvSpPr>
        <p:spPr>
          <a:xfrm>
            <a:off x="6080760" y="2788920"/>
            <a:ext cx="5120640" cy="3291840"/>
          </a:xfrm>
          <a:prstGeom prst="roundRect">
            <a:avLst>
              <a:gd name="adj" fmla="val 2222"/>
            </a:avLst>
          </a:prstGeom>
          <a:solidFill>
            <a:srgbClr val="E8912D">
              <a:alpha val="7000"/>
            </a:srgbClr>
          </a:solidFill>
          <a:ln w="15240">
            <a:solidFill>
              <a:srgbClr val="E8912D"/>
            </a:solidFill>
            <a:prstDash val="solid"/>
          </a:ln>
        </p:spPr>
      </p:sp>
      <p:sp>
        <p:nvSpPr>
          <p:cNvPr id="12" name="Text 10"/>
          <p:cNvSpPr txBox="1"/>
          <p:nvPr/>
        </p:nvSpPr>
        <p:spPr>
          <a:xfrm>
            <a:off x="6263640" y="2926080"/>
            <a:ext cx="4754880" cy="365760"/>
          </a:xfrm>
          <a:prstGeom prst="rect">
            <a:avLst/>
          </a:prstGeom>
          <a:noFill/>
          <a:ln/>
        </p:spPr>
        <p:txBody>
          <a:bodyPr wrap="square" rtlCol="0" anchor="ctr"/>
          <a:lstStyle/>
          <a:p>
            <a:pPr indent="0" marL="0">
              <a:buNone/>
            </a:pPr>
            <a:r>
              <a:rPr lang="en-US" sz="1200" b="1" dirty="0">
                <a:solidFill>
                  <a:srgbClr val="B5680F"/>
                </a:solidFill>
                <a:latin typeface="Arial" pitchFamily="34" charset="0"/>
                <a:ea typeface="Arial" pitchFamily="34" charset="-122"/>
                <a:cs typeface="Arial" pitchFamily="34" charset="-120"/>
              </a:rPr>
              <a:t>VERSION B — PAPER ONLY</a:t>
            </a:r>
            <a:endParaRPr lang="en-US" sz="1200" dirty="0"/>
          </a:p>
        </p:txBody>
      </p:sp>
      <p:sp>
        <p:nvSpPr>
          <p:cNvPr id="13" name="Text 11"/>
          <p:cNvSpPr txBox="1"/>
          <p:nvPr/>
        </p:nvSpPr>
        <p:spPr>
          <a:xfrm>
            <a:off x="6263640" y="3337560"/>
            <a:ext cx="4754880" cy="2560320"/>
          </a:xfrm>
          <a:prstGeom prst="rect">
            <a:avLst/>
          </a:prstGeom>
          <a:noFill/>
          <a:ln/>
        </p:spPr>
        <p:txBody>
          <a:bodyPr wrap="square" rtlCol="0" anchor="t"/>
          <a:lstStyle/>
          <a:p>
            <a:pPr indent="0" marL="0">
              <a:buNone/>
            </a:pPr>
            <a:r>
              <a:rPr lang="en-US" sz="1250" dirty="0">
                <a:solidFill>
                  <a:srgbClr val="1A1A2E"/>
                </a:solidFill>
                <a:latin typeface="Arial" pitchFamily="34" charset="0"/>
                <a:ea typeface="Arial" pitchFamily="34" charset="-122"/>
                <a:cs typeface="Arial" pitchFamily="34" charset="-120"/>
              </a:rPr>
              <a:t>Paper only:</a:t>
            </a:r>
            <a:endParaRPr lang="en-US" sz="1250" dirty="0"/>
          </a:p>
          <a:p>
            <a:pPr indent="0" marL="0">
              <a:buNone/>
            </a:pPr>
            <a:r>
              <a:rPr lang="en-US" sz="1250" dirty="0">
                <a:solidFill>
                  <a:srgbClr val="1A1A2E"/>
                </a:solidFill>
                <a:latin typeface="Arial" pitchFamily="34" charset="0"/>
                <a:ea typeface="Arial" pitchFamily="34" charset="-122"/>
                <a:cs typeface="Arial" pitchFamily="34" charset="-120"/>
              </a:rPr>
              <a:t>Swap instructions with a neighbour. Each writes the step-by-step logic they'd expect, in plain English. Compare understanding.</a:t>
            </a:r>
            <a:endParaRPr lang="en-US" sz="1250" dirty="0"/>
          </a:p>
        </p:txBody>
      </p:sp>
      <p:sp>
        <p:nvSpPr>
          <p:cNvPr id="14" name="Text 12"/>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 · Facilitator answer key in Appendix C</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3.5 TOOL DIRECTORY</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Tools for AI-Assisted Coding — Free &amp; Paid</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55680" cy="914400"/>
        </p:xfrm>
        <a:graphic>
          <a:graphicData uri="http://schemas.openxmlformats.org/drawingml/2006/table">
            <a:tbl>
              <a:tblPr/>
              <a:tblGrid>
                <a:gridCol w="3291840"/>
                <a:gridCol w="2011680"/>
                <a:gridCol w="5852160"/>
              </a:tblGrid>
              <a:tr h="0">
                <a:tc>
                  <a:txBody>
                    <a:bodyPr/>
                    <a:lstStyle/>
                    <a:p>
                      <a:pPr algn="l" indent="0" marL="0">
                        <a:buNone/>
                      </a:pPr>
                      <a:r>
                        <a:rPr lang="en-US" sz="1250" b="1" dirty="0">
                          <a:solidFill>
                            <a:srgbClr val="FFFFFF"/>
                          </a:solidFill>
                        </a:rPr>
                        <a:t>Tool</a:t>
                      </a:r>
                      <a:endParaRPr lang="en-US" sz="12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15324D"/>
                    </a:solidFill>
                  </a:tcPr>
                </a:tc>
                <a:tc>
                  <a:txBody>
                    <a:bodyPr/>
                    <a:lstStyle/>
                    <a:p>
                      <a:pPr algn="l" indent="0" marL="0">
                        <a:buNone/>
                      </a:pPr>
                      <a:r>
                        <a:rPr lang="en-US" sz="1250" b="1" dirty="0">
                          <a:solidFill>
                            <a:srgbClr val="FFFFFF"/>
                          </a:solidFill>
                        </a:rPr>
                        <a:t>Type</a:t>
                      </a:r>
                      <a:endParaRPr lang="en-US" sz="12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15324D"/>
                    </a:solidFill>
                  </a:tcPr>
                </a:tc>
                <a:tc>
                  <a:txBody>
                    <a:bodyPr/>
                    <a:lstStyle/>
                    <a:p>
                      <a:pPr algn="l" indent="0" marL="0">
                        <a:buNone/>
                      </a:pPr>
                      <a:r>
                        <a:rPr lang="en-US" sz="1250" b="1" dirty="0">
                          <a:solidFill>
                            <a:srgbClr val="FFFFFF"/>
                          </a:solidFill>
                        </a:rPr>
                        <a:t>Best for</a:t>
                      </a:r>
                      <a:endParaRPr lang="en-US" sz="12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15324D"/>
                    </a:solidFill>
                  </a:tcPr>
                </a:tc>
              </a:tr>
              <a:tr h="0">
                <a:tc>
                  <a:txBody>
                    <a:bodyPr/>
                    <a:lstStyle/>
                    <a:p>
                      <a:pPr algn="l" indent="0" marL="0">
                        <a:buNone/>
                      </a:pPr>
                      <a:r>
                        <a:rPr lang="en-US" sz="1150" b="1" dirty="0">
                          <a:solidFill>
                            <a:srgbClr val="1A1A2E"/>
                          </a:solidFill>
                        </a:rPr>
                        <a:t>GitHub Copilot</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In-editor autocomplete + chat (full detail in Session 4)</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r>
              <a:tr h="0">
                <a:tc>
                  <a:txBody>
                    <a:bodyPr/>
                    <a:lstStyle/>
                    <a:p>
                      <a:pPr algn="l" indent="0" marL="0">
                        <a:buNone/>
                      </a:pPr>
                      <a:r>
                        <a:rPr lang="en-US" sz="1150" b="1" dirty="0">
                          <a:solidFill>
                            <a:srgbClr val="1A1A2E"/>
                          </a:solidFill>
                        </a:rPr>
                        <a:t>Amazon Q Developer</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AWS projects; strong at code migration</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A1A2E"/>
                          </a:solidFill>
                        </a:rPr>
                        <a:t>Cursor</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AI-first code editor; whole-codebase understanding</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r>
              <a:tr h="0">
                <a:tc>
                  <a:txBody>
                    <a:bodyPr/>
                    <a:lstStyle/>
                    <a:p>
                      <a:pPr algn="l" indent="0" marL="0">
                        <a:buNone/>
                      </a:pPr>
                      <a:r>
                        <a:rPr lang="en-US" sz="1150" b="1" dirty="0">
                          <a:solidFill>
                            <a:srgbClr val="1A1A2E"/>
                          </a:solidFill>
                        </a:rPr>
                        <a:t>Claude Code</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Paid</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Autonomous agent for larger, multi-step tasks</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A1A2E"/>
                          </a:solidFill>
                        </a:rPr>
                        <a:t>Codeium / Windsurf</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Free-friendly autocomplete and chat</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r>
              <a:tr h="0">
                <a:tc>
                  <a:txBody>
                    <a:bodyPr/>
                    <a:lstStyle/>
                    <a:p>
                      <a:pPr algn="l" indent="0" marL="0">
                        <a:buNone/>
                      </a:pPr>
                      <a:r>
                        <a:rPr lang="en-US" sz="1150" b="1" dirty="0">
                          <a:solidFill>
                            <a:srgbClr val="1A1A2E"/>
                          </a:solidFill>
                        </a:rPr>
                        <a:t>Tabnine</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Privacy-focused, can run on private infrastructure</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A1A2E"/>
                          </a:solidFill>
                        </a:rPr>
                        <a:t>Replit AI</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c>
                  <a:txBody>
                    <a:bodyPr/>
                    <a:lstStyle/>
                    <a:p>
                      <a:pPr algn="l" indent="0" marL="0">
                        <a:buNone/>
                      </a:pPr>
                      <a:r>
                        <a:rPr lang="en-US" sz="1150" dirty="0">
                          <a:solidFill>
                            <a:srgbClr val="1A1A2E"/>
                          </a:solidFill>
                        </a:rPr>
                        <a:t>Learn to code; build/deploy small apps in-browser</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6F9FB"/>
                    </a:solidFill>
                  </a:tcPr>
                </a:tc>
              </a:tr>
              <a:tr h="0">
                <a:tc>
                  <a:txBody>
                    <a:bodyPr/>
                    <a:lstStyle/>
                    <a:p>
                      <a:pPr algn="l" indent="0" marL="0">
                        <a:buNone/>
                      </a:pPr>
                      <a:r>
                        <a:rPr lang="en-US" sz="1150" b="1" dirty="0">
                          <a:solidFill>
                            <a:srgbClr val="1A1A2E"/>
                          </a:solidFill>
                        </a:rPr>
                        <a:t>JetBrains AI</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Freemium</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rPr>
                        <a:t>Built into IntelliJ, PyCharm and other JetBrains IDEs</a:t>
                      </a:r>
                      <a:endParaRPr lang="en-US" sz="1150" dirty="0"/>
                    </a:p>
                  </a:txBody>
                  <a:tcPr marL="45720" marR="45720" marT="45720" marB="45720"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r>
            </a:tbl>
          </a:graphicData>
        </a:graphic>
      </p:graphicFrame>
      <p:sp>
        <p:nvSpPr>
          <p:cNvPr id="7" name="Text 4"/>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5324D"/>
        </a:solidFill>
      </p:bgPr>
    </p:bg>
    <p:spTree>
      <p:nvGrpSpPr>
        <p:cNvPr id="1" name=""/>
        <p:cNvGrpSpPr/>
        <p:nvPr/>
      </p:nvGrpSpPr>
      <p:grpSpPr>
        <a:xfrm>
          <a:off x="0" y="0"/>
          <a:ext cx="0" cy="0"/>
          <a:chOff x="0" y="0"/>
          <a:chExt cx="0" cy="0"/>
        </a:xfrm>
      </p:grpSpPr>
      <p:sp>
        <p:nvSpPr>
          <p:cNvPr id="2" name="Text 0"/>
          <p:cNvSpPr txBox="1"/>
          <p:nvPr/>
        </p:nvSpPr>
        <p:spPr>
          <a:xfrm>
            <a:off x="502920" y="548640"/>
            <a:ext cx="10058400" cy="365760"/>
          </a:xfrm>
          <a:prstGeom prst="rect">
            <a:avLst/>
          </a:prstGeom>
          <a:noFill/>
          <a:ln/>
        </p:spPr>
        <p:txBody>
          <a:bodyPr wrap="square" rtlCol="0" anchor="ctr"/>
          <a:lstStyle/>
          <a:p>
            <a:pPr indent="0" marL="0">
              <a:buNone/>
            </a:pPr>
            <a:r>
              <a:rPr lang="en-US" sz="1400" b="1" spc="100" kern="0" dirty="0">
                <a:solidFill>
                  <a:srgbClr val="8FD0E3"/>
                </a:solidFill>
                <a:latin typeface="Arial" pitchFamily="34" charset="0"/>
                <a:ea typeface="Arial" pitchFamily="34" charset="-122"/>
                <a:cs typeface="Arial" pitchFamily="34" charset="-120"/>
              </a:rPr>
              <a:t>KEY TAKEAWAYS</a:t>
            </a:r>
            <a:endParaRPr lang="en-US" sz="1400" dirty="0"/>
          </a:p>
        </p:txBody>
      </p:sp>
      <p:sp>
        <p:nvSpPr>
          <p:cNvPr id="3" name="Text 1"/>
          <p:cNvSpPr txBox="1"/>
          <p:nvPr/>
        </p:nvSpPr>
        <p:spPr>
          <a:xfrm>
            <a:off x="502920" y="960120"/>
            <a:ext cx="1097280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Key Takeaways — Session 3</a:t>
            </a:r>
            <a:endParaRPr lang="en-US" sz="2600" dirty="0"/>
          </a:p>
        </p:txBody>
      </p:sp>
      <p:sp>
        <p:nvSpPr>
          <p:cNvPr id="4" name="Text 2"/>
          <p:cNvSpPr txBox="1"/>
          <p:nvPr/>
        </p:nvSpPr>
        <p:spPr>
          <a:xfrm>
            <a:off x="502920" y="1828800"/>
            <a:ext cx="11064240" cy="4389120"/>
          </a:xfrm>
          <a:prstGeom prst="rect">
            <a:avLst/>
          </a:prstGeom>
          <a:noFill/>
          <a:ln/>
        </p:spPr>
        <p:txBody>
          <a:bodyPr wrap="square" rtlCol="0" anchor="t"/>
          <a:lstStyle/>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AI now assists nearly every stage of development — planning, testing, review, deployment, maintenance.</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The daily workflow keeps a human in charge at every step: intent, suggestion, review, test, commit.</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Amazon saved thousands of developer-years and hundreds of millions of dollars using its own AI coding agent.</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Mercari, a major consumer-to-consumer marketplace, has deployed GitHub Copilot and Cursor to ~2,000 engineers.</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You do not need to code to describe a task clearly — the same structured-instruction skill from Session 1 applies.</a:t>
            </a:r>
            <a:endParaRPr lang="en-US" sz="1650" dirty="0"/>
          </a:p>
        </p:txBody>
      </p:sp>
      <p:sp>
        <p:nvSpPr>
          <p:cNvPr id="5" name="Text 3"/>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D"/>
          </a:solidFill>
          <a:ln/>
        </p:spPr>
      </p:sp>
      <p:sp>
        <p:nvSpPr>
          <p:cNvPr id="3" name="Text 1"/>
          <p:cNvSpPr txBox="1"/>
          <p:nvPr/>
        </p:nvSpPr>
        <p:spPr>
          <a:xfrm>
            <a:off x="9692640" y="365760"/>
            <a:ext cx="2103120" cy="1463040"/>
          </a:xfrm>
          <a:prstGeom prst="rect">
            <a:avLst/>
          </a:prstGeom>
          <a:noFill/>
          <a:ln/>
        </p:spPr>
        <p:txBody>
          <a:bodyPr wrap="square" rtlCol="0" anchor="ctr"/>
          <a:lstStyle/>
          <a:p>
            <a:pPr algn="r" indent="0" marL="0">
              <a:buNone/>
            </a:pPr>
            <a:r>
              <a:rPr lang="en-US" sz="9000" b="1" dirty="0">
                <a:solidFill>
                  <a:srgbClr val="1C7293">
                    <a:alpha val="65000"/>
                  </a:srgbClr>
                </a:solidFill>
                <a:latin typeface="Arial" pitchFamily="34" charset="0"/>
                <a:ea typeface="Arial" pitchFamily="34" charset="-122"/>
                <a:cs typeface="Arial" pitchFamily="34" charset="-120"/>
              </a:rPr>
              <a:t>04</a:t>
            </a:r>
            <a:endParaRPr lang="en-US" sz="9000" dirty="0"/>
          </a:p>
        </p:txBody>
      </p:sp>
      <p:sp>
        <p:nvSpPr>
          <p:cNvPr id="4" name="Text 2"/>
          <p:cNvSpPr txBox="1"/>
          <p:nvPr/>
        </p:nvSpPr>
        <p:spPr>
          <a:xfrm>
            <a:off x="731520" y="2286000"/>
            <a:ext cx="10058400" cy="457200"/>
          </a:xfrm>
          <a:prstGeom prst="rect">
            <a:avLst/>
          </a:prstGeom>
          <a:noFill/>
          <a:ln/>
        </p:spPr>
        <p:txBody>
          <a:bodyPr wrap="square" rtlCol="0" anchor="ctr"/>
          <a:lstStyle/>
          <a:p>
            <a:pPr indent="0" marL="0">
              <a:buNone/>
            </a:pPr>
            <a:r>
              <a:rPr lang="en-US" sz="1500" b="1" spc="200" kern="0" dirty="0">
                <a:solidFill>
                  <a:srgbClr val="8FD0E3"/>
                </a:solidFill>
                <a:latin typeface="Arial" pitchFamily="34" charset="0"/>
                <a:ea typeface="Arial" pitchFamily="34" charset="-122"/>
                <a:cs typeface="Arial" pitchFamily="34" charset="-120"/>
              </a:rPr>
              <a:t>SESSION 4 · DAY 2, 10:45–12:15</a:t>
            </a:r>
            <a:endParaRPr lang="en-US" sz="1500" dirty="0"/>
          </a:p>
        </p:txBody>
      </p:sp>
      <p:sp>
        <p:nvSpPr>
          <p:cNvPr id="5" name="Text 3"/>
          <p:cNvSpPr txBox="1"/>
          <p:nvPr/>
        </p:nvSpPr>
        <p:spPr>
          <a:xfrm>
            <a:off x="731520" y="2743200"/>
            <a:ext cx="10515600" cy="11887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GitHub Copilot</a:t>
            </a:r>
            <a:endParaRPr lang="en-US" sz="3600" dirty="0"/>
          </a:p>
        </p:txBody>
      </p:sp>
      <p:sp>
        <p:nvSpPr>
          <p:cNvPr id="6" name="Text 4"/>
          <p:cNvSpPr txBox="1"/>
          <p:nvPr/>
        </p:nvSpPr>
        <p:spPr>
          <a:xfrm>
            <a:off x="731520" y="3794760"/>
            <a:ext cx="9875520" cy="548640"/>
          </a:xfrm>
          <a:prstGeom prst="rect">
            <a:avLst/>
          </a:prstGeom>
          <a:noFill/>
          <a:ln/>
        </p:spPr>
        <p:txBody>
          <a:bodyPr wrap="square" rtlCol="0" anchor="ctr"/>
          <a:lstStyle/>
          <a:p>
            <a:pPr indent="0" marL="0">
              <a:buNone/>
            </a:pPr>
            <a:r>
              <a:rPr lang="en-US" sz="1600" dirty="0">
                <a:solidFill>
                  <a:srgbClr val="D8E6EC"/>
                </a:solidFill>
                <a:latin typeface="Arial" pitchFamily="34" charset="0"/>
                <a:ea typeface="Arial" pitchFamily="34" charset="-122"/>
                <a:cs typeface="Arial" pitchFamily="34" charset="-120"/>
              </a:rPr>
              <a:t>A deep dive into the world's most widely used AI coding assistant</a:t>
            </a:r>
            <a:endParaRPr lang="en-US" sz="1600" dirty="0"/>
          </a:p>
        </p:txBody>
      </p:sp>
      <p:sp>
        <p:nvSpPr>
          <p:cNvPr id="7" name="Shape 5"/>
          <p:cNvSpPr/>
          <p:nvPr/>
        </p:nvSpPr>
        <p:spPr>
          <a:xfrm>
            <a:off x="731520" y="4572000"/>
            <a:ext cx="10241280" cy="27432"/>
          </a:xfrm>
          <a:prstGeom prst="rect">
            <a:avLst/>
          </a:prstGeom>
          <a:solidFill>
            <a:srgbClr val="E8912D"/>
          </a:solidFill>
          <a:ln/>
        </p:spPr>
      </p:sp>
      <p:sp>
        <p:nvSpPr>
          <p:cNvPr id="8" name="Text 6"/>
          <p:cNvSpPr txBox="1"/>
          <p:nvPr/>
        </p:nvSpPr>
        <p:spPr>
          <a:xfrm>
            <a:off x="731520" y="4709160"/>
            <a:ext cx="10058400" cy="320040"/>
          </a:xfrm>
          <a:prstGeom prst="rect">
            <a:avLst/>
          </a:prstGeom>
          <a:noFill/>
          <a:ln/>
        </p:spPr>
        <p:txBody>
          <a:bodyPr wrap="square" rtlCol="0" anchor="ctr"/>
          <a:lstStyle/>
          <a:p>
            <a:pPr indent="0" marL="0">
              <a:buNone/>
            </a:pPr>
            <a:r>
              <a:rPr lang="en-US" sz="1200" b="1" spc="100" kern="0" dirty="0">
                <a:solidFill>
                  <a:srgbClr val="E8912D"/>
                </a:solidFill>
                <a:latin typeface="Arial" pitchFamily="34" charset="0"/>
                <a:ea typeface="Arial" pitchFamily="34" charset="-122"/>
                <a:cs typeface="Arial" pitchFamily="34" charset="-120"/>
              </a:rPr>
              <a:t>BY THE END OF THIS SESSION, YOU WILL BE ABLE TO</a:t>
            </a:r>
            <a:endParaRPr lang="en-US" sz="1200" dirty="0"/>
          </a:p>
        </p:txBody>
      </p:sp>
      <p:sp>
        <p:nvSpPr>
          <p:cNvPr id="9" name="Text 7"/>
          <p:cNvSpPr txBox="1"/>
          <p:nvPr/>
        </p:nvSpPr>
        <p:spPr>
          <a:xfrm>
            <a:off x="731520" y="5074920"/>
            <a:ext cx="10241280" cy="1554480"/>
          </a:xfrm>
          <a:prstGeom prst="rect">
            <a:avLst/>
          </a:prstGeom>
          <a:noFill/>
          <a:ln/>
        </p:spPr>
        <p:txBody>
          <a:bodyPr wrap="square" rtlCol="0" anchor="ctr"/>
          <a:lstStyle/>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Explain what GitHub Copilot is and how it works, end to end</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Describe the Copilot product family</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Set up Copilot step by step in a code editor</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Compare plans and choose the right one</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Describe real adoption results from NTT Docomo, Fujitsu and Sony</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4.1 WHAT IT IS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What GitHub Copilot Is</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11155680" cy="4572000"/>
          </a:xfrm>
          <a:prstGeom prst="rect">
            <a:avLst/>
          </a:prstGeom>
          <a:noFill/>
          <a:ln/>
        </p:spPr>
        <p:txBody>
          <a:bodyPr wrap="square" rtlCol="0" anchor="t"/>
          <a:lstStyle/>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Launched by GitHub (owned by Microsoft) and OpenAI in 2021 — the first mainstream AI coding assistant, still the most widely used today.</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More than 26 million users worldwide.</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Works as an extension inside your code editor: suggests code as you type, and answers questions in a chat panel.</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Unlike a general chat tool, it reads your open files and project structure automatically — no need to paste code into a separate window.</a:t>
            </a:r>
            <a:endParaRPr lang="en-US" sz="1650" dirty="0"/>
          </a:p>
        </p:txBody>
      </p:sp>
      <p:sp>
        <p:nvSpPr>
          <p:cNvPr id="7" name="Text 5"/>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4.2 UNDER THE HOOD</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How Copilot Works Under the Hood</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pic>
        <p:nvPicPr>
          <p:cNvPr id="6" name="Image 0" descr="/home/claude/course/diagrams/d6_copilot_architecture.png">    </p:cNvPr>
          <p:cNvPicPr>
            <a:picLocks noChangeAspect="1"/>
          </p:cNvPicPr>
          <p:nvPr/>
        </p:nvPicPr>
        <p:blipFill>
          <a:blip r:embed="rId1"/>
          <a:stretch>
            <a:fillRect/>
          </a:stretch>
        </p:blipFill>
        <p:spPr>
          <a:xfrm>
            <a:off x="792328" y="1508760"/>
            <a:ext cx="10607040" cy="4663440"/>
          </a:xfrm>
          <a:prstGeom prst="rect">
            <a:avLst/>
          </a:prstGeom>
        </p:spPr>
      </p:pic>
      <p:sp>
        <p:nvSpPr>
          <p:cNvPr id="7" name="Text 4"/>
          <p:cNvSpPr txBox="1"/>
          <p:nvPr/>
        </p:nvSpPr>
        <p:spPr>
          <a:xfrm>
            <a:off x="502920" y="6245352"/>
            <a:ext cx="11155680" cy="320040"/>
          </a:xfrm>
          <a:prstGeom prst="rect">
            <a:avLst/>
          </a:prstGeom>
          <a:noFill/>
          <a:ln/>
        </p:spPr>
        <p:txBody>
          <a:bodyPr wrap="square" rtlCol="0" anchor="ctr"/>
          <a:lstStyle/>
          <a:p>
            <a:pPr algn="ctr" indent="0" marL="0">
              <a:buNone/>
            </a:pPr>
            <a:r>
              <a:rPr lang="en-US" sz="1150" i="1" dirty="0">
                <a:solidFill>
                  <a:srgbClr val="6B7785"/>
                </a:solidFill>
                <a:latin typeface="Arial" pitchFamily="34" charset="0"/>
                <a:ea typeface="Arial" pitchFamily="34" charset="-122"/>
                <a:cs typeface="Arial" pitchFamily="34" charset="-120"/>
              </a:rPr>
              <a:t>Figure 4.1 — GitHub Copilot's architecture, from your editor to the foundation model and back.</a:t>
            </a:r>
            <a:endParaRPr lang="en-US" sz="1150" dirty="0"/>
          </a:p>
        </p:txBody>
      </p:sp>
      <p:sp>
        <p:nvSpPr>
          <p:cNvPr id="8" name="Text 5"/>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4.2 – 4.3</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A Compliance Answer &amp; the Product Family</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Copilot Chat</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Conversational panel for asking questions or explaining code in natural language.</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Copilot for Pull Requests</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Auto-generates a plain-language summary of what changed and why.</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Copilot Workspace</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Plans and implements a whole small feature across multiple files, with developer approval.</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Copilot Code Review</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AI reviewer flags likely bugs or style issues before a human looks at the change.</a:t>
            </a:r>
            <a:endParaRPr lang="en-US" sz="1650" dirty="0"/>
          </a:p>
        </p:txBody>
      </p:sp>
      <p:sp>
        <p:nvSpPr>
          <p:cNvPr id="7" name="Shape 5"/>
          <p:cNvSpPr/>
          <p:nvPr/>
        </p:nvSpPr>
        <p:spPr>
          <a:xfrm>
            <a:off x="7452360" y="1645920"/>
            <a:ext cx="4251960" cy="2834640"/>
          </a:xfrm>
          <a:prstGeom prst="roundRect">
            <a:avLst>
              <a:gd name="adj" fmla="val 3226"/>
            </a:avLst>
          </a:prstGeom>
          <a:solidFill>
            <a:srgbClr val="2E8B57">
              <a:alpha val="8000"/>
            </a:srgbClr>
          </a:solidFill>
          <a:ln w="19050">
            <a:solidFill>
              <a:srgbClr val="2E8B57"/>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2E8B57"/>
                </a:solidFill>
                <a:latin typeface="Arial" pitchFamily="34" charset="0"/>
                <a:ea typeface="Arial" pitchFamily="34" charset="-122"/>
                <a:cs typeface="Arial" pitchFamily="34" charset="-120"/>
              </a:rPr>
              <a:t>A COMMON COMPLIANCE QUESTION</a:t>
            </a:r>
            <a:endParaRPr lang="en-US" sz="1300" dirty="0"/>
          </a:p>
        </p:txBody>
      </p:sp>
      <p:sp>
        <p:nvSpPr>
          <p:cNvPr id="9" name="Text 7"/>
          <p:cNvSpPr txBox="1"/>
          <p:nvPr/>
        </p:nvSpPr>
        <p:spPr>
          <a:xfrm>
            <a:off x="7726680" y="2212848"/>
            <a:ext cx="3703320" cy="219456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For Business and Enterprise plans, GitHub contractually commits that your organisation's code is NOT used to train Copilot's models. Often the single most important sentence for a security/legal team.</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4.4 GETTING STARTED</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Getting Started, Step by Step</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1. Create or sign in to a GitHub account at github.com (free).</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2. Choose a plan — start with Free, no credit card required.</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3. Install your editor's Copilot extension (VS Code, JetBrains, Visual Studio, Neovim).</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4. Sign in to Copilot from inside the editor (secure browser link).</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5. Start typing — suggestions appear as grey ‘ghost text.’ Press Tab to accept.</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6. Open Copilot Chat to ask questions in plain, natural language.</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7. Try slash commands: /explain, /fix, /tests, /doc</a:t>
            </a:r>
            <a:endParaRPr lang="en-US" sz="1650" dirty="0"/>
          </a:p>
        </p:txBody>
      </p:sp>
      <p:sp>
        <p:nvSpPr>
          <p:cNvPr id="7" name="Shape 5"/>
          <p:cNvSpPr/>
          <p:nvPr/>
        </p:nvSpPr>
        <p:spPr>
          <a:xfrm>
            <a:off x="7452360" y="1645920"/>
            <a:ext cx="4251960" cy="2560320"/>
          </a:xfrm>
          <a:prstGeom prst="roundRect">
            <a:avLst>
              <a:gd name="adj" fmla="val 3571"/>
            </a:avLst>
          </a:prstGeom>
          <a:solidFill>
            <a:srgbClr val="1C7293">
              <a:alpha val="8000"/>
            </a:srgbClr>
          </a:solidFill>
          <a:ln w="19050">
            <a:solidFill>
              <a:srgbClr val="1C7293"/>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1C7293"/>
                </a:solidFill>
                <a:latin typeface="Arial" pitchFamily="34" charset="0"/>
                <a:ea typeface="Arial" pitchFamily="34" charset="-122"/>
                <a:cs typeface="Arial" pitchFamily="34" charset="-120"/>
              </a:rPr>
              <a:t>YOUR FIRST 5 MINUTES</a:t>
            </a:r>
            <a:endParaRPr lang="en-US" sz="1300" dirty="0"/>
          </a:p>
        </p:txBody>
      </p:sp>
      <p:sp>
        <p:nvSpPr>
          <p:cNvPr id="9" name="Text 7"/>
          <p:cNvSpPr txBox="1"/>
          <p:nvPr/>
        </p:nvSpPr>
        <p:spPr>
          <a:xfrm>
            <a:off x="7726680" y="2212848"/>
            <a:ext cx="3703320" cy="192024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Open any file and type into Copilot Chat: “Explain what this file does, in simple terms, for someone new to the project.” One of the fastest ways to get comfortable in an unfamiliar codebase.</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4.5 PLANS &amp; PRICING</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Which Plan Do You Need?</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pic>
        <p:nvPicPr>
          <p:cNvPr id="6" name="Image 0" descr="/home/claude/course/diagrams/d7_copilot_pricing.png">    </p:cNvPr>
          <p:cNvPicPr>
            <a:picLocks noChangeAspect="1"/>
          </p:cNvPicPr>
          <p:nvPr/>
        </p:nvPicPr>
        <p:blipFill>
          <a:blip r:embed="rId1"/>
          <a:stretch>
            <a:fillRect/>
          </a:stretch>
        </p:blipFill>
        <p:spPr>
          <a:xfrm>
            <a:off x="792328" y="1508760"/>
            <a:ext cx="10607040" cy="4663440"/>
          </a:xfrm>
          <a:prstGeom prst="rect">
            <a:avLst/>
          </a:prstGeom>
        </p:spPr>
      </p:pic>
      <p:sp>
        <p:nvSpPr>
          <p:cNvPr id="7" name="Text 4"/>
          <p:cNvSpPr txBox="1"/>
          <p:nvPr/>
        </p:nvSpPr>
        <p:spPr>
          <a:xfrm>
            <a:off x="502920" y="6245352"/>
            <a:ext cx="11155680" cy="320040"/>
          </a:xfrm>
          <a:prstGeom prst="rect">
            <a:avLst/>
          </a:prstGeom>
          <a:noFill/>
          <a:ln/>
        </p:spPr>
        <p:txBody>
          <a:bodyPr wrap="square" rtlCol="0" anchor="ctr"/>
          <a:lstStyle/>
          <a:p>
            <a:pPr algn="ctr" indent="0" marL="0">
              <a:buNone/>
            </a:pPr>
            <a:r>
              <a:rPr lang="en-US" sz="1150" i="1" dirty="0">
                <a:solidFill>
                  <a:srgbClr val="6B7785"/>
                </a:solidFill>
                <a:latin typeface="Arial" pitchFamily="34" charset="0"/>
                <a:ea typeface="Arial" pitchFamily="34" charset="-122"/>
                <a:cs typeface="Arial" pitchFamily="34" charset="-120"/>
              </a:rPr>
              <a:t>Figure 4.2 — GitHub Copilot's plans, Free to Enterprise. Confirm current prices at github.com before budgeting.</a:t>
            </a:r>
            <a:endParaRPr lang="en-US" sz="1150" dirty="0"/>
          </a:p>
        </p:txBody>
      </p:sp>
      <p:sp>
        <p:nvSpPr>
          <p:cNvPr id="8" name="Text 5"/>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4.6 CASE STUDIES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NTT Docomo — Measurable Daily Usage</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Using GitHub Copilot since March 2023.</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3,647 developers use it, with roughly 1,000 actively using it on an average day.</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More than 30,000 code suggestions received per day.</a:t>
            </a:r>
            <a:endParaRPr lang="en-US" sz="1650" dirty="0"/>
          </a:p>
          <a:p>
            <a:pPr marL="228600" indent="-228600">
              <a:spcAft>
                <a:spcPts val="1200"/>
              </a:spcAft>
              <a:buSzPct val="100000"/>
              <a:buChar char="▸"/>
            </a:pPr>
            <a:r>
              <a:rPr lang="en-US" sz="1650" dirty="0">
                <a:solidFill>
                  <a:srgbClr val="1A1A2E"/>
                </a:solidFill>
                <a:latin typeface="Arial" pitchFamily="34" charset="0"/>
                <a:ea typeface="Arial" pitchFamily="34" charset="-122"/>
                <a:cs typeface="Arial" pitchFamily="34" charset="-120"/>
              </a:rPr>
              <a:t>About 25% of suggestions are accepted into real production work.</a:t>
            </a:r>
            <a:endParaRPr lang="en-US" sz="1650" dirty="0"/>
          </a:p>
        </p:txBody>
      </p:sp>
      <p:sp>
        <p:nvSpPr>
          <p:cNvPr id="7" name="Shape 5"/>
          <p:cNvSpPr/>
          <p:nvPr/>
        </p:nvSpPr>
        <p:spPr>
          <a:xfrm>
            <a:off x="7452360" y="1645920"/>
            <a:ext cx="4251960" cy="2194560"/>
          </a:xfrm>
          <a:prstGeom prst="roundRect">
            <a:avLst>
              <a:gd name="adj" fmla="val 4167"/>
            </a:avLst>
          </a:prstGeom>
          <a:solidFill>
            <a:srgbClr val="E8912D">
              <a:alpha val="8000"/>
            </a:srgbClr>
          </a:solidFill>
          <a:ln w="19050">
            <a:solidFill>
              <a:srgbClr val="E8912D"/>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E8912D"/>
                </a:solidFill>
                <a:latin typeface="Arial" pitchFamily="34" charset="0"/>
                <a:ea typeface="Arial" pitchFamily="34" charset="-122"/>
                <a:cs typeface="Arial" pitchFamily="34" charset="-120"/>
              </a:rPr>
              <a:t>WHY THIS NUMBER MATTERS</a:t>
            </a:r>
            <a:endParaRPr lang="en-US" sz="1300" dirty="0"/>
          </a:p>
        </p:txBody>
      </p:sp>
      <p:sp>
        <p:nvSpPr>
          <p:cNvPr id="9" name="Text 7"/>
          <p:cNvSpPr txBox="1"/>
          <p:nvPr/>
        </p:nvSpPr>
        <p:spPr>
          <a:xfrm>
            <a:off x="7726680" y="2212848"/>
            <a:ext cx="3703320" cy="155448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A 25% acceptance rate, tracked transparently, is a concrete adoption metric any engineering manager in this room can relate to and replicate when measuring their own rollout.</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C7293"/>
          </a:solidFill>
          <a:ln/>
        </p:spPr>
      </p:sp>
      <p:sp>
        <p:nvSpPr>
          <p:cNvPr id="3" name="Text 1"/>
          <p:cNvSpPr txBox="1"/>
          <p:nvPr/>
        </p:nvSpPr>
        <p:spPr>
          <a:xfrm>
            <a:off x="502920" y="274320"/>
            <a:ext cx="9144000" cy="320040"/>
          </a:xfrm>
          <a:prstGeom prst="rect">
            <a:avLst/>
          </a:prstGeom>
          <a:noFill/>
          <a:ln/>
        </p:spPr>
        <p:txBody>
          <a:bodyPr wrap="square" rtlCol="0" anchor="ctr"/>
          <a:lstStyle/>
          <a:p>
            <a:pPr indent="0" marL="0">
              <a:buNone/>
            </a:pPr>
            <a:r>
              <a:rPr lang="en-US" sz="1250" b="1" spc="100" kern="0" dirty="0">
                <a:solidFill>
                  <a:srgbClr val="1C7293"/>
                </a:solidFill>
                <a:latin typeface="Arial" pitchFamily="34" charset="0"/>
                <a:ea typeface="Arial" pitchFamily="34" charset="-122"/>
                <a:cs typeface="Arial" pitchFamily="34" charset="-120"/>
              </a:rPr>
              <a:t>4.6 CASE STUDIES</a:t>
            </a:r>
            <a:endParaRPr lang="en-US" sz="1250" dirty="0"/>
          </a:p>
        </p:txBody>
      </p:sp>
      <p:sp>
        <p:nvSpPr>
          <p:cNvPr id="4" name="Text 2"/>
          <p:cNvSpPr txBox="1"/>
          <p:nvPr/>
        </p:nvSpPr>
        <p:spPr>
          <a:xfrm>
            <a:off x="502920" y="566928"/>
            <a:ext cx="11155680" cy="685800"/>
          </a:xfrm>
          <a:prstGeom prst="rect">
            <a:avLst/>
          </a:prstGeom>
          <a:noFill/>
          <a:ln/>
        </p:spPr>
        <p:txBody>
          <a:bodyPr wrap="square" rtlCol="0" anchor="ctr"/>
          <a:lstStyle/>
          <a:p>
            <a:pPr indent="0" marL="0">
              <a:buNone/>
            </a:pPr>
            <a:r>
              <a:rPr lang="en-US" sz="2700" b="1" dirty="0">
                <a:solidFill>
                  <a:srgbClr val="15324D"/>
                </a:solidFill>
                <a:latin typeface="Arial" pitchFamily="34" charset="0"/>
                <a:ea typeface="Arial" pitchFamily="34" charset="-122"/>
                <a:cs typeface="Arial" pitchFamily="34" charset="-120"/>
              </a:rPr>
              <a:t>Fujitsu, Sony &amp; ZOZO</a:t>
            </a:r>
            <a:endParaRPr lang="en-US" sz="2700" dirty="0"/>
          </a:p>
        </p:txBody>
      </p:sp>
      <p:sp>
        <p:nvSpPr>
          <p:cNvPr id="5" name="Shape 3"/>
          <p:cNvSpPr/>
          <p:nvPr/>
        </p:nvSpPr>
        <p:spPr>
          <a:xfrm>
            <a:off x="502920" y="1298448"/>
            <a:ext cx="11155680" cy="0"/>
          </a:xfrm>
          <a:prstGeom prst="line">
            <a:avLst/>
          </a:prstGeom>
          <a:noFill/>
          <a:ln w="15240">
            <a:solidFill>
              <a:srgbClr val="DCE4EA"/>
            </a:solidFill>
            <a:prstDash val="solid"/>
          </a:ln>
        </p:spPr>
      </p:sp>
      <p:sp>
        <p:nvSpPr>
          <p:cNvPr id="6" name="Text 4"/>
          <p:cNvSpPr txBox="1"/>
          <p:nvPr/>
        </p:nvSpPr>
        <p:spPr>
          <a:xfrm>
            <a:off x="502920" y="1600200"/>
            <a:ext cx="6766560" cy="4572000"/>
          </a:xfrm>
          <a:prstGeom prst="rect">
            <a:avLst/>
          </a:prstGeom>
          <a:noFill/>
          <a:ln/>
        </p:spPr>
        <p:txBody>
          <a:bodyPr wrap="square" rtlCol="0" anchor="t"/>
          <a:lstStyle/>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Fujitsu</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Piloted Copilot + Microsoft Dev Box with 2,400 developers. Result: 20% workload reduction, while meeting strict security requirements.</a:t>
            </a:r>
            <a:endParaRPr lang="en-US" sz="1650" dirty="0"/>
          </a:p>
          <a:p>
            <a:pPr marL="228600" indent="-228600">
              <a:spcAft>
                <a:spcPts val="1200"/>
              </a:spcAft>
              <a:buSzPct val="100000"/>
              <a:buChar char="▸"/>
            </a:pPr>
            <a:r>
              <a:rPr lang="en-US" sz="1650" b="1" dirty="0">
                <a:solidFill>
                  <a:srgbClr val="1A1A2E"/>
                </a:solidFill>
                <a:latin typeface="Arial" pitchFamily="34" charset="0"/>
                <a:ea typeface="Arial" pitchFamily="34" charset="-122"/>
                <a:cs typeface="Arial" pitchFamily="34" charset="-120"/>
              </a:rPr>
              <a:t>Sony and ZOZO</a:t>
            </a:r>
            <a:endParaRPr lang="en-US" sz="1650" dirty="0"/>
          </a:p>
          <a:p>
            <a:pPr lvl="1" indent="0" marL="0">
              <a:spcAft>
                <a:spcPts val="1200"/>
              </a:spcAft>
              <a:buNone/>
            </a:pPr>
            <a:r>
              <a:rPr lang="en-US" sz="1400" dirty="0">
                <a:solidFill>
                  <a:srgbClr val="6B7785"/>
                </a:solidFill>
                <a:latin typeface="Arial" pitchFamily="34" charset="0"/>
                <a:ea typeface="Arial" pitchFamily="34" charset="-122"/>
                <a:cs typeface="Arial" pitchFamily="34" charset="-120"/>
              </a:rPr>
              <a:t>Publicly named by GitHub among confirmed enterprise adopters — spanning electronics and retail, not just ‘pure’ technology companies.</a:t>
            </a:r>
            <a:endParaRPr lang="en-US" sz="1650" dirty="0"/>
          </a:p>
        </p:txBody>
      </p:sp>
      <p:sp>
        <p:nvSpPr>
          <p:cNvPr id="7" name="Shape 5"/>
          <p:cNvSpPr/>
          <p:nvPr/>
        </p:nvSpPr>
        <p:spPr>
          <a:xfrm>
            <a:off x="7452360" y="1645920"/>
            <a:ext cx="4251960" cy="2286000"/>
          </a:xfrm>
          <a:prstGeom prst="roundRect">
            <a:avLst>
              <a:gd name="adj" fmla="val 4000"/>
            </a:avLst>
          </a:prstGeom>
          <a:solidFill>
            <a:srgbClr val="B3412D">
              <a:alpha val="8000"/>
            </a:srgbClr>
          </a:solidFill>
          <a:ln w="19050">
            <a:solidFill>
              <a:srgbClr val="B3412D"/>
            </a:solidFill>
            <a:prstDash val="solid"/>
          </a:ln>
        </p:spPr>
      </p:sp>
      <p:sp>
        <p:nvSpPr>
          <p:cNvPr id="8" name="Text 6"/>
          <p:cNvSpPr txBox="1"/>
          <p:nvPr/>
        </p:nvSpPr>
        <p:spPr>
          <a:xfrm>
            <a:off x="7726680" y="1828800"/>
            <a:ext cx="3703320" cy="365760"/>
          </a:xfrm>
          <a:prstGeom prst="rect">
            <a:avLst/>
          </a:prstGeom>
          <a:noFill/>
          <a:ln/>
        </p:spPr>
        <p:txBody>
          <a:bodyPr wrap="square" rtlCol="0" anchor="ctr"/>
          <a:lstStyle/>
          <a:p>
            <a:pPr indent="0" marL="0">
              <a:buNone/>
            </a:pPr>
            <a:r>
              <a:rPr lang="en-US" sz="1300" b="1" dirty="0">
                <a:solidFill>
                  <a:srgbClr val="B3412D"/>
                </a:solidFill>
                <a:latin typeface="Arial" pitchFamily="34" charset="0"/>
                <a:ea typeface="Arial" pitchFamily="34" charset="-122"/>
                <a:cs typeface="Arial" pitchFamily="34" charset="-120"/>
              </a:rPr>
              <a:t>A PATTERN WORTH NOTICING</a:t>
            </a:r>
            <a:endParaRPr lang="en-US" sz="1300" dirty="0"/>
          </a:p>
        </p:txBody>
      </p:sp>
      <p:sp>
        <p:nvSpPr>
          <p:cNvPr id="9" name="Text 7"/>
          <p:cNvSpPr txBox="1"/>
          <p:nvPr/>
        </p:nvSpPr>
        <p:spPr>
          <a:xfrm>
            <a:off x="7726680" y="2212848"/>
            <a:ext cx="3703320" cy="1645920"/>
          </a:xfrm>
          <a:prstGeom prst="rect">
            <a:avLst/>
          </a:prstGeom>
          <a:noFill/>
          <a:ln/>
        </p:spPr>
        <p:txBody>
          <a:bodyPr wrap="square" rtlCol="0" anchor="t"/>
          <a:lstStyle/>
          <a:p>
            <a:pPr indent="0" marL="0">
              <a:buNone/>
            </a:pPr>
            <a:r>
              <a:rPr lang="en-US" sz="1300" dirty="0">
                <a:solidFill>
                  <a:srgbClr val="1A1A2E"/>
                </a:solidFill>
                <a:latin typeface="Arial" pitchFamily="34" charset="0"/>
                <a:ea typeface="Arial" pitchFamily="34" charset="-122"/>
                <a:cs typeface="Arial" pitchFamily="34" charset="-120"/>
              </a:rPr>
              <a:t>Every case study in this course shares one feature: adoption was measured carefully, not adopted on faith. Good practice for any organisation piloting Copilot.</a:t>
            </a:r>
            <a:endParaRPr lang="en-US" sz="1300" dirty="0"/>
          </a:p>
        </p:txBody>
      </p:sp>
      <p:sp>
        <p:nvSpPr>
          <p:cNvPr id="10" name="Text 8"/>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274320" y="274320"/>
            <a:ext cx="11643055" cy="6309360"/>
          </a:xfrm>
          <a:prstGeom prst="rect">
            <a:avLst>
              <a:gd name="adj" fmla="val 1739"/>
            </a:avLst>
          </a:prstGeom>
          <a:solidFill>
            <a:srgbClr val="FFFFFF"/>
          </a:solidFill>
          <a:ln w="25400">
            <a:solidFill>
              <a:srgbClr val="15324D"/>
            </a:solidFill>
            <a:prstDash val="dash"/>
          </a:ln>
        </p:spPr>
      </p:sp>
      <p:sp>
        <p:nvSpPr>
          <p:cNvPr id="3" name="Shape 1"/>
          <p:cNvSpPr/>
          <p:nvPr/>
        </p:nvSpPr>
        <p:spPr>
          <a:xfrm>
            <a:off x="594360" y="548640"/>
            <a:ext cx="1737360" cy="365760"/>
          </a:xfrm>
          <a:prstGeom prst="roundRect">
            <a:avLst>
              <a:gd name="adj" fmla="val 15000"/>
            </a:avLst>
          </a:prstGeom>
          <a:solidFill>
            <a:srgbClr val="15324D"/>
          </a:solidFill>
          <a:ln/>
        </p:spPr>
      </p:sp>
      <p:sp>
        <p:nvSpPr>
          <p:cNvPr id="4" name="Text 2"/>
          <p:cNvSpPr txBox="1"/>
          <p:nvPr/>
        </p:nvSpPr>
        <p:spPr>
          <a:xfrm>
            <a:off x="594360" y="548640"/>
            <a:ext cx="17373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EXERCISE 4</a:t>
            </a:r>
            <a:endParaRPr lang="en-US" sz="1200" dirty="0"/>
          </a:p>
        </p:txBody>
      </p:sp>
      <p:sp>
        <p:nvSpPr>
          <p:cNvPr id="5" name="Text 3"/>
          <p:cNvSpPr txBox="1"/>
          <p:nvPr/>
        </p:nvSpPr>
        <p:spPr>
          <a:xfrm>
            <a:off x="2514600" y="502920"/>
            <a:ext cx="8686800" cy="457200"/>
          </a:xfrm>
          <a:prstGeom prst="rect">
            <a:avLst/>
          </a:prstGeom>
          <a:noFill/>
          <a:ln/>
        </p:spPr>
        <p:txBody>
          <a:bodyPr wrap="square" rtlCol="0" anchor="ctr"/>
          <a:lstStyle/>
          <a:p>
            <a:pPr indent="0" marL="0">
              <a:buNone/>
            </a:pPr>
            <a:r>
              <a:rPr lang="en-US" sz="2000" b="1" dirty="0">
                <a:solidFill>
                  <a:srgbClr val="15324D"/>
                </a:solidFill>
                <a:latin typeface="Arial" pitchFamily="34" charset="0"/>
                <a:ea typeface="Arial" pitchFamily="34" charset="-122"/>
                <a:cs typeface="Arial" pitchFamily="34" charset="-120"/>
              </a:rPr>
              <a:t>Plan a Copilot Rollout</a:t>
            </a:r>
            <a:endParaRPr lang="en-US" sz="2000" dirty="0"/>
          </a:p>
        </p:txBody>
      </p:sp>
      <p:sp>
        <p:nvSpPr>
          <p:cNvPr id="6" name="Text 4"/>
          <p:cNvSpPr txBox="1"/>
          <p:nvPr/>
        </p:nvSpPr>
        <p:spPr>
          <a:xfrm>
            <a:off x="685800" y="1097280"/>
            <a:ext cx="10789920" cy="914400"/>
          </a:xfrm>
          <a:prstGeom prst="rect">
            <a:avLst/>
          </a:prstGeom>
          <a:noFill/>
          <a:ln/>
        </p:spPr>
        <p:txBody>
          <a:bodyPr wrap="square" rtlCol="0" anchor="t"/>
          <a:lstStyle/>
          <a:p>
            <a:pPr indent="0" marL="0">
              <a:buNone/>
            </a:pPr>
            <a:r>
              <a:rPr lang="en-US" sz="1350" dirty="0">
                <a:solidFill>
                  <a:srgbClr val="1A1A2E"/>
                </a:solidFill>
                <a:latin typeface="Arial" pitchFamily="34" charset="0"/>
                <a:ea typeface="Arial" pitchFamily="34" charset="-122"/>
                <a:cs typeface="Arial" pitchFamily="34" charset="-120"/>
              </a:rPr>
              <a:t>Scenario: Your organisation is considering GitHub Copilot for a 50-person engineering team.</a:t>
            </a:r>
            <a:endParaRPr lang="en-US" sz="1350" dirty="0"/>
          </a:p>
        </p:txBody>
      </p:sp>
      <p:sp>
        <p:nvSpPr>
          <p:cNvPr id="7" name="Text 5"/>
          <p:cNvSpPr txBox="1"/>
          <p:nvPr/>
        </p:nvSpPr>
        <p:spPr>
          <a:xfrm>
            <a:off x="685800" y="1965960"/>
            <a:ext cx="10789920" cy="685800"/>
          </a:xfrm>
          <a:prstGeom prst="rect">
            <a:avLst/>
          </a:prstGeom>
          <a:noFill/>
          <a:ln/>
        </p:spPr>
        <p:txBody>
          <a:bodyPr wrap="square" rtlCol="0" anchor="t"/>
          <a:lstStyle/>
          <a:p>
            <a:pPr indent="0" marL="0">
              <a:buNone/>
            </a:pPr>
            <a:r>
              <a:rPr lang="en-US" sz="1350" b="1" dirty="0">
                <a:solidFill>
                  <a:srgbClr val="15324D"/>
                </a:solidFill>
                <a:latin typeface="Arial" pitchFamily="34" charset="0"/>
                <a:ea typeface="Arial" pitchFamily="34" charset="-122"/>
                <a:cs typeface="Arial" pitchFamily="34" charset="-120"/>
              </a:rPr>
              <a:t>Your task: As a group, decide: (1) which plan fits best and why, (2) one metric to track in month one, (3) one security question to ask before rollout.</a:t>
            </a:r>
            <a:endParaRPr lang="en-US" sz="1350" dirty="0"/>
          </a:p>
        </p:txBody>
      </p:sp>
      <p:sp>
        <p:nvSpPr>
          <p:cNvPr id="8" name="Shape 6"/>
          <p:cNvSpPr/>
          <p:nvPr/>
        </p:nvSpPr>
        <p:spPr>
          <a:xfrm>
            <a:off x="685800" y="2788920"/>
            <a:ext cx="5120640" cy="3291840"/>
          </a:xfrm>
          <a:prstGeom prst="roundRect">
            <a:avLst>
              <a:gd name="adj" fmla="val 2222"/>
            </a:avLst>
          </a:prstGeom>
          <a:solidFill>
            <a:srgbClr val="1C7293">
              <a:alpha val="7000"/>
            </a:srgbClr>
          </a:solidFill>
          <a:ln w="15240">
            <a:solidFill>
              <a:srgbClr val="1C7293"/>
            </a:solidFill>
            <a:prstDash val="solid"/>
          </a:ln>
        </p:spPr>
      </p:sp>
      <p:sp>
        <p:nvSpPr>
          <p:cNvPr id="9" name="Text 7"/>
          <p:cNvSpPr txBox="1"/>
          <p:nvPr/>
        </p:nvSpPr>
        <p:spPr>
          <a:xfrm>
            <a:off x="868680" y="2926080"/>
            <a:ext cx="4754880" cy="365760"/>
          </a:xfrm>
          <a:prstGeom prst="rect">
            <a:avLst/>
          </a:prstGeom>
          <a:noFill/>
          <a:ln/>
        </p:spPr>
        <p:txBody>
          <a:bodyPr wrap="square" rtlCol="0" anchor="ctr"/>
          <a:lstStyle/>
          <a:p>
            <a:pPr indent="0" marL="0">
              <a:buNone/>
            </a:pPr>
            <a:r>
              <a:rPr lang="en-US" sz="1200" b="1" dirty="0">
                <a:solidFill>
                  <a:srgbClr val="1C7293"/>
                </a:solidFill>
                <a:latin typeface="Arial" pitchFamily="34" charset="0"/>
                <a:ea typeface="Arial" pitchFamily="34" charset="-122"/>
                <a:cs typeface="Arial" pitchFamily="34" charset="-120"/>
              </a:rPr>
              <a:t>VERSION A — WITH LAPTOP / INTERNET</a:t>
            </a:r>
            <a:endParaRPr lang="en-US" sz="1200" dirty="0"/>
          </a:p>
        </p:txBody>
      </p:sp>
      <p:sp>
        <p:nvSpPr>
          <p:cNvPr id="10" name="Text 8"/>
          <p:cNvSpPr txBox="1"/>
          <p:nvPr/>
        </p:nvSpPr>
        <p:spPr>
          <a:xfrm>
            <a:off x="868680" y="3337560"/>
            <a:ext cx="4754880" cy="2560320"/>
          </a:xfrm>
          <a:prstGeom prst="rect">
            <a:avLst/>
          </a:prstGeom>
          <a:noFill/>
          <a:ln/>
        </p:spPr>
        <p:txBody>
          <a:bodyPr wrap="square" rtlCol="0" anchor="t"/>
          <a:lstStyle/>
          <a:p>
            <a:pPr indent="0" marL="0">
              <a:buNone/>
            </a:pPr>
            <a:r>
              <a:rPr lang="en-US" sz="1250" dirty="0">
                <a:solidFill>
                  <a:srgbClr val="1A1A2E"/>
                </a:solidFill>
                <a:latin typeface="Arial" pitchFamily="34" charset="0"/>
                <a:ea typeface="Arial" pitchFamily="34" charset="-122"/>
                <a:cs typeface="Arial" pitchFamily="34" charset="-120"/>
              </a:rPr>
              <a:t>With laptop/internet:</a:t>
            </a:r>
            <a:endParaRPr lang="en-US" sz="1250" dirty="0"/>
          </a:p>
          <a:p>
            <a:pPr indent="0" marL="0">
              <a:buNone/>
            </a:pPr>
            <a:r>
              <a:rPr lang="en-US" sz="1250" dirty="0">
                <a:solidFill>
                  <a:srgbClr val="1A1A2E"/>
                </a:solidFill>
                <a:latin typeface="Arial" pitchFamily="34" charset="0"/>
                <a:ea typeface="Arial" pitchFamily="34" charset="-122"/>
                <a:cs typeface="Arial" pitchFamily="34" charset="-120"/>
              </a:rPr>
              <a:t>Visit github.com/features/copilot and answer all three questions as a group, using the live pricing page.</a:t>
            </a:r>
            <a:endParaRPr lang="en-US" sz="1250" dirty="0"/>
          </a:p>
        </p:txBody>
      </p:sp>
      <p:sp>
        <p:nvSpPr>
          <p:cNvPr id="11" name="Shape 9"/>
          <p:cNvSpPr/>
          <p:nvPr/>
        </p:nvSpPr>
        <p:spPr>
          <a:xfrm>
            <a:off x="6080760" y="2788920"/>
            <a:ext cx="5120640" cy="3291840"/>
          </a:xfrm>
          <a:prstGeom prst="roundRect">
            <a:avLst>
              <a:gd name="adj" fmla="val 2222"/>
            </a:avLst>
          </a:prstGeom>
          <a:solidFill>
            <a:srgbClr val="E8912D">
              <a:alpha val="7000"/>
            </a:srgbClr>
          </a:solidFill>
          <a:ln w="15240">
            <a:solidFill>
              <a:srgbClr val="E8912D"/>
            </a:solidFill>
            <a:prstDash val="solid"/>
          </a:ln>
        </p:spPr>
      </p:sp>
      <p:sp>
        <p:nvSpPr>
          <p:cNvPr id="12" name="Text 10"/>
          <p:cNvSpPr txBox="1"/>
          <p:nvPr/>
        </p:nvSpPr>
        <p:spPr>
          <a:xfrm>
            <a:off x="6263640" y="2926080"/>
            <a:ext cx="4754880" cy="365760"/>
          </a:xfrm>
          <a:prstGeom prst="rect">
            <a:avLst/>
          </a:prstGeom>
          <a:noFill/>
          <a:ln/>
        </p:spPr>
        <p:txBody>
          <a:bodyPr wrap="square" rtlCol="0" anchor="ctr"/>
          <a:lstStyle/>
          <a:p>
            <a:pPr indent="0" marL="0">
              <a:buNone/>
            </a:pPr>
            <a:r>
              <a:rPr lang="en-US" sz="1200" b="1" dirty="0">
                <a:solidFill>
                  <a:srgbClr val="B5680F"/>
                </a:solidFill>
                <a:latin typeface="Arial" pitchFamily="34" charset="0"/>
                <a:ea typeface="Arial" pitchFamily="34" charset="-122"/>
                <a:cs typeface="Arial" pitchFamily="34" charset="-120"/>
              </a:rPr>
              <a:t>VERSION B — PAPER ONLY</a:t>
            </a:r>
            <a:endParaRPr lang="en-US" sz="1200" dirty="0"/>
          </a:p>
        </p:txBody>
      </p:sp>
      <p:sp>
        <p:nvSpPr>
          <p:cNvPr id="13" name="Text 11"/>
          <p:cNvSpPr txBox="1"/>
          <p:nvPr/>
        </p:nvSpPr>
        <p:spPr>
          <a:xfrm>
            <a:off x="6263640" y="3337560"/>
            <a:ext cx="4754880" cy="2560320"/>
          </a:xfrm>
          <a:prstGeom prst="rect">
            <a:avLst/>
          </a:prstGeom>
          <a:noFill/>
          <a:ln/>
        </p:spPr>
        <p:txBody>
          <a:bodyPr wrap="square" rtlCol="0" anchor="t"/>
          <a:lstStyle/>
          <a:p>
            <a:pPr indent="0" marL="0">
              <a:buNone/>
            </a:pPr>
            <a:r>
              <a:rPr lang="en-US" sz="1250" dirty="0">
                <a:solidFill>
                  <a:srgbClr val="1A1A2E"/>
                </a:solidFill>
                <a:latin typeface="Arial" pitchFamily="34" charset="0"/>
                <a:ea typeface="Arial" pitchFamily="34" charset="-122"/>
                <a:cs typeface="Arial" pitchFamily="34" charset="-120"/>
              </a:rPr>
              <a:t>Paper only:</a:t>
            </a:r>
            <a:endParaRPr lang="en-US" sz="1250" dirty="0"/>
          </a:p>
          <a:p>
            <a:pPr indent="0" marL="0">
              <a:buNone/>
            </a:pPr>
            <a:r>
              <a:rPr lang="en-US" sz="1250" dirty="0">
                <a:solidFill>
                  <a:srgbClr val="1A1A2E"/>
                </a:solidFill>
                <a:latin typeface="Arial" pitchFamily="34" charset="0"/>
                <a:ea typeface="Arial" pitchFamily="34" charset="-122"/>
                <a:cs typeface="Arial" pitchFamily="34" charset="-120"/>
              </a:rPr>
              <a:t>Answer the same three questions using the pricing figure and case studies from this session. Present your plan to the room in two minutes.</a:t>
            </a:r>
            <a:endParaRPr lang="en-US" sz="1250" dirty="0"/>
          </a:p>
        </p:txBody>
      </p:sp>
      <p:sp>
        <p:nvSpPr>
          <p:cNvPr id="14" name="Text 12"/>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 · Facilitator answer key in Appendix C</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5324D"/>
        </a:solidFill>
      </p:bgPr>
    </p:bg>
    <p:spTree>
      <p:nvGrpSpPr>
        <p:cNvPr id="1" name=""/>
        <p:cNvGrpSpPr/>
        <p:nvPr/>
      </p:nvGrpSpPr>
      <p:grpSpPr>
        <a:xfrm>
          <a:off x="0" y="0"/>
          <a:ext cx="0" cy="0"/>
          <a:chOff x="0" y="0"/>
          <a:chExt cx="0" cy="0"/>
        </a:xfrm>
      </p:grpSpPr>
      <p:sp>
        <p:nvSpPr>
          <p:cNvPr id="2" name="Text 0"/>
          <p:cNvSpPr txBox="1"/>
          <p:nvPr/>
        </p:nvSpPr>
        <p:spPr>
          <a:xfrm>
            <a:off x="502920" y="548640"/>
            <a:ext cx="10058400" cy="365760"/>
          </a:xfrm>
          <a:prstGeom prst="rect">
            <a:avLst/>
          </a:prstGeom>
          <a:noFill/>
          <a:ln/>
        </p:spPr>
        <p:txBody>
          <a:bodyPr wrap="square" rtlCol="0" anchor="ctr"/>
          <a:lstStyle/>
          <a:p>
            <a:pPr indent="0" marL="0">
              <a:buNone/>
            </a:pPr>
            <a:r>
              <a:rPr lang="en-US" sz="1400" b="1" spc="100" kern="0" dirty="0">
                <a:solidFill>
                  <a:srgbClr val="8FD0E3"/>
                </a:solidFill>
                <a:latin typeface="Arial" pitchFamily="34" charset="0"/>
                <a:ea typeface="Arial" pitchFamily="34" charset="-122"/>
                <a:cs typeface="Arial" pitchFamily="34" charset="-120"/>
              </a:rPr>
              <a:t>KEY TAKEAWAYS</a:t>
            </a:r>
            <a:endParaRPr lang="en-US" sz="1400" dirty="0"/>
          </a:p>
        </p:txBody>
      </p:sp>
      <p:sp>
        <p:nvSpPr>
          <p:cNvPr id="3" name="Text 1"/>
          <p:cNvSpPr txBox="1"/>
          <p:nvPr/>
        </p:nvSpPr>
        <p:spPr>
          <a:xfrm>
            <a:off x="502920" y="960120"/>
            <a:ext cx="1097280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Key Takeaways — Session 4</a:t>
            </a:r>
            <a:endParaRPr lang="en-US" sz="2600" dirty="0"/>
          </a:p>
        </p:txBody>
      </p:sp>
      <p:sp>
        <p:nvSpPr>
          <p:cNvPr id="4" name="Text 2"/>
          <p:cNvSpPr txBox="1"/>
          <p:nvPr/>
        </p:nvSpPr>
        <p:spPr>
          <a:xfrm>
            <a:off x="502920" y="1828800"/>
            <a:ext cx="11064240" cy="4389120"/>
          </a:xfrm>
          <a:prstGeom prst="rect">
            <a:avLst/>
          </a:prstGeom>
          <a:noFill/>
          <a:ln/>
        </p:spPr>
        <p:txBody>
          <a:bodyPr wrap="square" rtlCol="0" anchor="t"/>
          <a:lstStyle/>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Copilot connects your editor, a context-aware service, and a foundation model — suggestions return in under a second.</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It's a family of tools: Completions, Chat, Pull Requests, Workspace, Code Review.</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Getting started takes about five minutes: install, sign in, start typing.</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Business/Enterprise plans guarantee your code is not used to train Copilot's models.</a:t>
            </a:r>
            <a:endParaRPr lang="en-US" sz="1650" dirty="0"/>
          </a:p>
          <a:p>
            <a:pPr marL="279400" indent="-279400">
              <a:spcAft>
                <a:spcPts val="1400"/>
              </a:spcAft>
              <a:buSzPct val="100000"/>
              <a:buChar char="✔"/>
            </a:pPr>
            <a:r>
              <a:rPr lang="en-US" sz="1650" dirty="0">
                <a:solidFill>
                  <a:srgbClr val="EAF2F6"/>
                </a:solidFill>
                <a:latin typeface="Arial" pitchFamily="34" charset="0"/>
                <a:ea typeface="Arial" pitchFamily="34" charset="-122"/>
                <a:cs typeface="Arial" pitchFamily="34" charset="-120"/>
              </a:rPr>
              <a:t>Real-world deployments (NTT Docomo, Fujitsu, Sony, ZOZO) show measurable, significant results.</a:t>
            </a:r>
            <a:endParaRPr lang="en-US" sz="1650" dirty="0"/>
          </a:p>
        </p:txBody>
      </p:sp>
      <p:sp>
        <p:nvSpPr>
          <p:cNvPr id="5" name="Text 3"/>
          <p:cNvSpPr/>
          <p:nvPr/>
        </p:nvSpPr>
        <p:spPr>
          <a:xfrm>
            <a:off x="502920" y="6510528"/>
            <a:ext cx="7315200" cy="274320"/>
          </a:xfrm>
          <a:prstGeom prst="rect">
            <a:avLst/>
          </a:prstGeom>
          <a:noFill/>
          <a:ln/>
        </p:spPr>
        <p:txBody>
          <a:bodyPr wrap="square" rtlCol="0" anchor="ctr"/>
          <a:lstStyle/>
          <a:p>
            <a:pPr indent="0" marL="0">
              <a:buNone/>
            </a:pPr>
            <a:r>
              <a:rPr lang="en-US" sz="950" dirty="0">
                <a:solidFill>
                  <a:srgbClr val="6B7785"/>
                </a:solidFill>
                <a:latin typeface="Arial" pitchFamily="34" charset="0"/>
                <a:ea typeface="Arial" pitchFamily="34" charset="-122"/>
                <a:cs typeface="Arial" pitchFamily="34" charset="-120"/>
              </a:rPr>
              <a:t>AI Training Program · Dinesh Wadhwani</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5324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D"/>
          </a:solidFill>
          <a:ln/>
        </p:spPr>
      </p:sp>
      <p:sp>
        <p:nvSpPr>
          <p:cNvPr id="3" name="Text 1"/>
          <p:cNvSpPr txBox="1"/>
          <p:nvPr/>
        </p:nvSpPr>
        <p:spPr>
          <a:xfrm>
            <a:off x="731520" y="2103120"/>
            <a:ext cx="10058400" cy="548640"/>
          </a:xfrm>
          <a:prstGeom prst="rect">
            <a:avLst/>
          </a:prstGeom>
          <a:noFill/>
          <a:ln/>
        </p:spPr>
        <p:txBody>
          <a:bodyPr wrap="square" rtlCol="0" anchor="ctr"/>
          <a:lstStyle/>
          <a:p>
            <a:pPr indent="0" marL="0">
              <a:buNone/>
            </a:pPr>
            <a:r>
              <a:rPr lang="en-US" sz="1600" b="1" spc="300" kern="0" dirty="0">
                <a:solidFill>
                  <a:srgbClr val="8FD0E3"/>
                </a:solidFill>
                <a:latin typeface="Arial" pitchFamily="34" charset="0"/>
                <a:ea typeface="Arial" pitchFamily="34" charset="-122"/>
                <a:cs typeface="Arial" pitchFamily="34" charset="-120"/>
              </a:rPr>
              <a:t>THANK YOU</a:t>
            </a:r>
            <a:endParaRPr lang="en-US" sz="1600" dirty="0"/>
          </a:p>
        </p:txBody>
      </p:sp>
      <p:sp>
        <p:nvSpPr>
          <p:cNvPr id="4" name="Text 2"/>
          <p:cNvSpPr txBox="1"/>
          <p:nvPr/>
        </p:nvSpPr>
        <p:spPr>
          <a:xfrm>
            <a:off x="731520" y="2651760"/>
            <a:ext cx="10515600" cy="1097280"/>
          </a:xfrm>
          <a:prstGeom prst="rect">
            <a:avLst/>
          </a:prstGeom>
          <a:noFill/>
          <a:ln/>
        </p:spPr>
        <p:txBody>
          <a:bodyPr wrap="square" rtlCol="0" anchor="ctr"/>
          <a:lstStyle/>
          <a:p>
            <a:pPr indent="0" marL="0">
              <a:buNone/>
            </a:pPr>
            <a:r>
              <a:rPr lang="en-US" sz="3800" b="1" dirty="0">
                <a:solidFill>
                  <a:srgbClr val="FFFFFF"/>
                </a:solidFill>
                <a:latin typeface="Arial" pitchFamily="34" charset="0"/>
                <a:ea typeface="Arial" pitchFamily="34" charset="-122"/>
                <a:cs typeface="Arial" pitchFamily="34" charset="-120"/>
              </a:rPr>
              <a:t>Questions &amp; Discussion</a:t>
            </a:r>
            <a:endParaRPr lang="en-US" sz="3800" dirty="0"/>
          </a:p>
        </p:txBody>
      </p:sp>
      <p:sp>
        <p:nvSpPr>
          <p:cNvPr id="5" name="Text 3"/>
          <p:cNvSpPr txBox="1"/>
          <p:nvPr/>
        </p:nvSpPr>
        <p:spPr>
          <a:xfrm>
            <a:off x="731520" y="3703320"/>
            <a:ext cx="10058400" cy="548640"/>
          </a:xfrm>
          <a:prstGeom prst="rect">
            <a:avLst/>
          </a:prstGeom>
          <a:noFill/>
          <a:ln/>
        </p:spPr>
        <p:txBody>
          <a:bodyPr wrap="square" rtlCol="0" anchor="ctr"/>
          <a:lstStyle/>
          <a:p>
            <a:pPr indent="0" marL="0">
              <a:buNone/>
            </a:pPr>
            <a:r>
              <a:rPr lang="en-US" sz="1500" dirty="0">
                <a:solidFill>
                  <a:srgbClr val="D8E6EC"/>
                </a:solidFill>
                <a:latin typeface="Arial" pitchFamily="34" charset="0"/>
                <a:ea typeface="Arial" pitchFamily="34" charset="-122"/>
                <a:cs typeface="Arial" pitchFamily="34" charset="-120"/>
              </a:rPr>
              <a:t>Prompt Engineering  ·  AI Office Productivity  ·  AI-Assisted Coding  ·  GitHub Copilot</a:t>
            </a:r>
            <a:endParaRPr lang="en-US" sz="1500" dirty="0"/>
          </a:p>
        </p:txBody>
      </p:sp>
      <p:sp>
        <p:nvSpPr>
          <p:cNvPr id="6" name="Text 4"/>
          <p:cNvSpPr txBox="1"/>
          <p:nvPr/>
        </p:nvSpPr>
        <p:spPr>
          <a:xfrm>
            <a:off x="731520" y="4389120"/>
            <a:ext cx="9601200" cy="548640"/>
          </a:xfrm>
          <a:prstGeom prst="rect">
            <a:avLst/>
          </a:prstGeom>
          <a:noFill/>
          <a:ln/>
        </p:spPr>
        <p:txBody>
          <a:bodyPr wrap="square" rtlCol="0" anchor="ctr"/>
          <a:lstStyle/>
          <a:p>
            <a:pPr indent="0" marL="0">
              <a:buNone/>
            </a:pPr>
            <a:r>
              <a:rPr lang="en-US" sz="1300" i="1" dirty="0">
                <a:solidFill>
                  <a:srgbClr val="AFC3CC"/>
                </a:solidFill>
                <a:latin typeface="Arial" pitchFamily="34" charset="0"/>
                <a:ea typeface="Arial" pitchFamily="34" charset="-122"/>
                <a:cs typeface="Arial" pitchFamily="34" charset="-120"/>
              </a:rPr>
              <a:t>A full course book, with every example, diagram and tool list, has been provided for your continued reference.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Dinesh Wadhwani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Training Program for Working Professionals</dc:title>
  <dc:subject>PptxGenJS Presentation</dc:subject>
  <dc:creator>Dinesh Wadhwani</dc:creator>
  <cp:lastModifiedBy>Dinesh Wadhwani</cp:lastModifiedBy>
  <cp:revision>1</cp:revision>
  <dcterms:created xsi:type="dcterms:W3CDTF">2026-10-05T08:17:04Z</dcterms:created>
  <dcterms:modified xsi:type="dcterms:W3CDTF">2026-10-05T08:17:04Z</dcterms:modified>
</cp:coreProperties>
</file>