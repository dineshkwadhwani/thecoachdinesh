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section of the workshop. Do the failure demo properly and do not rush it.
If the room only remembers one thing from two days, it should be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Actually run it on the projector, write the number on the whiteboard, then have the room count with you.
Then run it twice more and write those numbers next to the first. Three different answers to the same arithmetic question.
That whiteboard is the most persuasive object in the two days. Leave it up for the rest of the session.
The correct answer for the lab data is 55.00 per cent, 11 of 20. Most runs give something in the 60 to 75 range — enough to move the attainment level by one or two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15 minutes. The cost trap is the whole point — everything else is mechanics they can read in the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on screen. It is the most concrete thing in the section.
Also flag the two things that save them money and work:
Memory setting — Apify bills 1 CU per GB-hour. At 512 MB a run costs a fraction of a cent; at 4 GB it costs eight times as much for identical work. Always set the lowest memory that works.
Seven-day retention on free tier. Anything they build this week vanishes by mid-next-week unless exported. Faculty have lost workshop output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instinct is to make everything a tool. Resist it on their behalf.
If they always need the data, fetching it conditionally adds a failure mode for no benefit.
Lab 10 builds the tool version because it is the one worth practising. In their own work they should ask which pattern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link is in the lab manual and on the board. Personal email, no credit card.
The failure-honesty test at the end of Lab 10 matters: give it a URL that does not exist. If it answers about the topic anyway from training data and presents it as if it came from the page, the instructions need strengthening. They would have no way to tell — the citation would be there and the content would not be from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distress test: an agent that tries to counsel a student on its own is a serious problem, not a feature. Correct behaviour is a warm, prompt handoff. Verify it.
For the capstone: starter workflows for all four lanes are in the shared folder. Nobody starts from a blank canvas.
Recruit 2 to 3 volunteer helpers over lunch — identify strong participants during Lab 8.
Hard stop at 60 minutes is not negotiable. Every year somebody demos an untested workflow and it fails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914400" y="164592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indent="0" marL="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sp>
      <p:sp>
        <p:nvSpPr>
          <p:cNvPr id="7" name="Text 5"/>
          <p:cNvSpPr txBox="1"/>
          <p:nvPr/>
        </p:nvSpPr>
        <p:spPr>
          <a:xfrm>
            <a:off x="914400" y="4983480"/>
            <a:ext cx="10058400" cy="1188720"/>
          </a:xfrm>
          <a:prstGeom prst="rect">
            <a:avLst/>
          </a:prstGeom>
          <a:noFill/>
          <a:ln/>
        </p:spPr>
        <p:txBody>
          <a:bodyPr wrap="square" lIns="0" tIns="0" rIns="0" bIns="0" rtlCol="0" anchor="ctr"/>
          <a:lstStyle/>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548640"/>
                <a:gridCol w="4572000"/>
                <a:gridCol w="2011680"/>
                <a:gridCol w="329184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gridCol w="2377440"/>
                <a:gridCol w="2651760"/>
                <a:gridCol w="2651760"/>
              </a:tblGrid>
              <a:tr h="310896">
                <a:tc>
                  <a:txBody>
                    <a:bodyPr/>
                    <a:lstStyle/>
                    <a:p>
                      <a:pPr indent="0" marL="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gridCol w="3840480"/>
                <a:gridCol w="3840480"/>
              </a:tblGrid>
              <a:tr h="310896">
                <a:tc>
                  <a:txBody>
                    <a:bodyPr/>
                    <a:lstStyle/>
                    <a:p>
                      <a:pPr indent="0" marL="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822960" y="1933956"/>
            <a:ext cx="475488" cy="475488"/>
          </a:xfrm>
          <a:prstGeom prst="ellipse">
            <a:avLst/>
          </a:prstGeom>
          <a:solidFill>
            <a:srgbClr val="C8102E"/>
          </a:solidFill>
          <a:ln/>
        </p:spPr>
      </p:sp>
      <p:sp>
        <p:nvSpPr>
          <p:cNvPr id="5" name="Text 3"/>
          <p:cNvSpPr txBox="1"/>
          <p:nvPr/>
        </p:nvSpPr>
        <p:spPr>
          <a:xfrm>
            <a:off x="822960" y="1933956"/>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sp>
      <p:sp>
        <p:nvSpPr>
          <p:cNvPr id="9" name="Text 7"/>
          <p:cNvSpPr txBox="1"/>
          <p:nvPr/>
        </p:nvSpPr>
        <p:spPr>
          <a:xfrm>
            <a:off x="822960" y="283921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sp>
      <p:sp>
        <p:nvSpPr>
          <p:cNvPr id="13" name="Text 11"/>
          <p:cNvSpPr txBox="1"/>
          <p:nvPr/>
        </p:nvSpPr>
        <p:spPr>
          <a:xfrm>
            <a:off x="822960" y="3744468"/>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sp>
      <p:sp>
        <p:nvSpPr>
          <p:cNvPr id="17" name="Text 15"/>
          <p:cNvSpPr txBox="1"/>
          <p:nvPr/>
        </p:nvSpPr>
        <p:spPr>
          <a:xfrm>
            <a:off x="822960" y="464972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sp>
      <p:sp>
        <p:nvSpPr>
          <p:cNvPr id="21" name="Text 19"/>
          <p:cNvSpPr txBox="1"/>
          <p:nvPr/>
        </p:nvSpPr>
        <p:spPr>
          <a:xfrm>
            <a:off x="822960" y="555498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914400" y="164592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indent="0" marL="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sp>
      <p:sp>
        <p:nvSpPr>
          <p:cNvPr id="7" name="Text 5"/>
          <p:cNvSpPr txBox="1"/>
          <p:nvPr/>
        </p:nvSpPr>
        <p:spPr>
          <a:xfrm>
            <a:off x="914400" y="4983480"/>
            <a:ext cx="10058400" cy="1188720"/>
          </a:xfrm>
          <a:prstGeom prst="rect">
            <a:avLst/>
          </a:prstGeom>
          <a:noFill/>
          <a:ln/>
        </p:spPr>
        <p:txBody>
          <a:bodyPr wrap="square" lIns="0" tIns="0" rIns="0" bIns="0" rtlCol="0" anchor="ctr"/>
          <a:lstStyle/>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sp>
      <p:sp>
        <p:nvSpPr>
          <p:cNvPr id="5" name="Text 3"/>
          <p:cNvSpPr txBox="1"/>
          <p:nvPr/>
        </p:nvSpPr>
        <p:spPr>
          <a:xfrm>
            <a:off x="1069848" y="1938528"/>
            <a:ext cx="4663440" cy="411480"/>
          </a:xfrm>
          <a:prstGeom prst="rect">
            <a:avLst/>
          </a:prstGeom>
          <a:noFill/>
          <a:ln/>
        </p:spPr>
        <p:txBody>
          <a:bodyPr wrap="square" lIns="0" tIns="0" rIns="0" bIns="0" rtlCol="0" anchor="ctr"/>
          <a:lstStyle/>
          <a:p>
            <a:pPr indent="0" marL="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sp>
      <p:sp>
        <p:nvSpPr>
          <p:cNvPr id="8" name="Text 6"/>
          <p:cNvSpPr txBox="1"/>
          <p:nvPr/>
        </p:nvSpPr>
        <p:spPr>
          <a:xfrm>
            <a:off x="6464808" y="1938528"/>
            <a:ext cx="4663440" cy="411480"/>
          </a:xfrm>
          <a:prstGeom prst="rect">
            <a:avLst/>
          </a:prstGeom>
          <a:noFill/>
          <a:ln/>
        </p:spPr>
        <p:txBody>
          <a:bodyPr wrap="square" lIns="0" tIns="0" rIns="0" bIns="0" rtlCol="0" anchor="ctr"/>
          <a:lstStyle/>
          <a:p>
            <a:pPr indent="0" marL="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From flow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822960" y="2025396"/>
            <a:ext cx="475488" cy="475488"/>
          </a:xfrm>
          <a:prstGeom prst="ellipse">
            <a:avLst/>
          </a:prstGeom>
          <a:solidFill>
            <a:srgbClr val="C8102E"/>
          </a:solidFill>
          <a:ln/>
        </p:spPr>
      </p:sp>
      <p:sp>
        <p:nvSpPr>
          <p:cNvPr id="5" name="Text 3"/>
          <p:cNvSpPr txBox="1"/>
          <p:nvPr/>
        </p:nvSpPr>
        <p:spPr>
          <a:xfrm>
            <a:off x="822960" y="2025396"/>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sp>
      <p:sp>
        <p:nvSpPr>
          <p:cNvPr id="9" name="Text 7"/>
          <p:cNvSpPr txBox="1"/>
          <p:nvPr/>
        </p:nvSpPr>
        <p:spPr>
          <a:xfrm>
            <a:off x="822960" y="311353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sp>
      <p:sp>
        <p:nvSpPr>
          <p:cNvPr id="13" name="Text 11"/>
          <p:cNvSpPr txBox="1"/>
          <p:nvPr/>
        </p:nvSpPr>
        <p:spPr>
          <a:xfrm>
            <a:off x="822960" y="4201668"/>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indent="0" marL="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indent="0" marL="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Tools — the thing that matters most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Watch it fail before you see the fix</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Watch this before you read ahead</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Paste 60 students of marks into a prompt. Ask for CO3 attainment.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get a clean, confident, precise answer. "72.4 per cent, 43 of 60 students."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Now count the rows by hand.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wrong. Not wildly — close enough to be believable.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Run it again. The number changes.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calculation that changes between runs is not a calculation.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gridCol w="2743200"/>
                <a:gridCol w="27432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8</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Apify — reach and cost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Build Actors, do not rent them</a:t>
            </a:r>
            <a:endParaRPr lang="en-US" sz="1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Apify pricing trap</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Billed per result, on top of compute. A location Actor at ~$0.0040 per result means $5 covers about 1,250 results. Then runs stop.</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This is why you will build, not rent.</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Two ways to connect Apify — one is usually right</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sp>
      <p:sp>
        <p:nvSpPr>
          <p:cNvPr id="5" name="Text 3"/>
          <p:cNvSpPr txBox="1"/>
          <p:nvPr/>
        </p:nvSpPr>
        <p:spPr>
          <a:xfrm>
            <a:off x="1069848" y="1938528"/>
            <a:ext cx="4663440" cy="411480"/>
          </a:xfrm>
          <a:prstGeom prst="rect">
            <a:avLst/>
          </a:prstGeom>
          <a:noFill/>
          <a:ln/>
        </p:spPr>
        <p:txBody>
          <a:bodyPr wrap="square" lIns="0" tIns="0" rIns="0" bIns="0" rtlCol="0" anchor="ctr"/>
          <a:lstStyle/>
          <a:p>
            <a:pPr indent="0" marL="0">
              <a:buNone/>
            </a:pPr>
            <a:r>
              <a:rPr lang="en-US" sz="1700" b="1" dirty="0">
                <a:solidFill>
                  <a:srgbClr val="1C2024"/>
                </a:solidFill>
                <a:latin typeface="Cambria" pitchFamily="34" charset="0"/>
                <a:ea typeface="Cambria" pitchFamily="34" charset="-122"/>
                <a:cs typeface="Cambria" pitchFamily="34" charset="-120"/>
              </a:rPr>
              <a:t>As a tool the agent calls</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The agent decides when to fetch</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Use only when the need is genuinely conditional</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Adds a decision the agent can get wrong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Extra round-trip</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sp>
      <p:sp>
        <p:nvSpPr>
          <p:cNvPr id="8" name="Text 6"/>
          <p:cNvSpPr txBox="1"/>
          <p:nvPr/>
        </p:nvSpPr>
        <p:spPr>
          <a:xfrm>
            <a:off x="6464808" y="1938528"/>
            <a:ext cx="4663440" cy="411480"/>
          </a:xfrm>
          <a:prstGeom prst="rect">
            <a:avLst/>
          </a:prstGeom>
          <a:noFill/>
          <a:ln/>
        </p:spPr>
        <p:txBody>
          <a:bodyPr wrap="square" lIns="0" tIns="0" rIns="0" bIns="0" rtlCol="0" anchor="ctr"/>
          <a:lstStyle/>
          <a:p>
            <a:pPr indent="0" marL="0">
              <a:buNone/>
            </a:pPr>
            <a:r>
              <a:rPr lang="en-US" sz="1700" b="1" dirty="0">
                <a:solidFill>
                  <a:srgbClr val="C8102E"/>
                </a:solidFill>
                <a:latin typeface="Cambria" pitchFamily="34" charset="0"/>
                <a:ea typeface="Cambria" pitchFamily="34" charset="-122"/>
                <a:cs typeface="Cambria" pitchFamily="34" charset="-120"/>
              </a:rPr>
              <a:t>As a step before the agent</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Run the Actor, feed results in as context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Use when you ALWAYS need the data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Cheaper, faster, more predictable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Usually the right choice</a:t>
            </a:r>
            <a:endParaRPr lang="en-US" sz="13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9A &amp; 9B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A web-fetch tool, then bridge the two platforms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60 minutes  ·  Lab Tests 9A and 9B  ·  apify.com/?fpr=njgpfm</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ONE tool to the tools object — a fetch that cleans HTML to text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the agent does NOT fetch for general knowledge questions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a dead URL: it must report failure, not answer from training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call your Actor from n8n over the API</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That bridge is the real-world pattern — n8n schedules, the Actor works</a:t>
            </a:r>
            <a:endParaRPr lang="en-US" sz="15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sp>
      <p:sp>
        <p:nvSpPr>
          <p:cNvPr id="5" name="Text 3"/>
          <p:cNvSpPr txBox="1"/>
          <p:nvPr/>
        </p:nvSpPr>
        <p:spPr>
          <a:xfrm>
            <a:off x="1069848" y="1938528"/>
            <a:ext cx="4663440" cy="411480"/>
          </a:xfrm>
          <a:prstGeom prst="rect">
            <a:avLst/>
          </a:prstGeom>
          <a:noFill/>
          <a:ln/>
        </p:spPr>
        <p:txBody>
          <a:bodyPr wrap="square" lIns="0" tIns="0" rIns="0" bIns="0" rtlCol="0" anchor="ctr"/>
          <a:lstStyle/>
          <a:p>
            <a:pPr indent="0" marL="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sp>
      <p:sp>
        <p:nvSpPr>
          <p:cNvPr id="8" name="Text 6"/>
          <p:cNvSpPr txBox="1"/>
          <p:nvPr/>
        </p:nvSpPr>
        <p:spPr>
          <a:xfrm>
            <a:off x="6464808" y="1938528"/>
            <a:ext cx="4663440" cy="411480"/>
          </a:xfrm>
          <a:prstGeom prst="rect">
            <a:avLst/>
          </a:prstGeom>
          <a:noFill/>
          <a:ln/>
        </p:spPr>
        <p:txBody>
          <a:bodyPr wrap="square" lIns="0" tIns="0" rIns="0" bIns="0" rtlCol="0" anchor="ctr"/>
          <a:lstStyle/>
          <a:p>
            <a:pPr indent="0" marL="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737360"/>
            <a:ext cx="10424160" cy="3657600"/>
          </a:xfrm>
          <a:prstGeom prst="roundRect">
            <a:avLst>
              <a:gd name="adj" fmla="val 1500"/>
            </a:avLst>
          </a:prstGeom>
          <a:solidFill>
            <a:srgbClr val="14181D"/>
          </a:solidFill>
          <a:ln/>
        </p:spPr>
      </p:sp>
      <p:sp>
        <p:nvSpPr>
          <p:cNvPr id="5" name="Text 3"/>
          <p:cNvSpPr txBox="1"/>
          <p:nvPr/>
        </p:nvSpPr>
        <p:spPr>
          <a:xfrm>
            <a:off x="1005840" y="1901952"/>
            <a:ext cx="9966960" cy="3291840"/>
          </a:xfrm>
          <a:prstGeom prst="rect">
            <a:avLst/>
          </a:prstGeom>
          <a:noFill/>
          <a:ln/>
        </p:spPr>
        <p:txBody>
          <a:bodyPr wrap="square" lIns="0" tIns="0" rIns="0" bIns="0" rtlCol="0" anchor="ctr"/>
          <a:lstStyle/>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indent="0" marL="0">
              <a:lnSpc>
                <a:spcPts val="1800"/>
              </a:lnSpc>
              <a:buNone/>
            </a:pP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indent="0" marL="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indent="0" marL="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868680" y="105156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LAB TEST 10A &amp;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Doubt-solving agent, then your capstone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indent="0" marL="0">
              <a:buNone/>
            </a:pPr>
            <a:r>
              <a:rPr lang="en-US" sz="1500" dirty="0">
                <a:solidFill>
                  <a:srgbClr val="8B939B"/>
                </a:solidFill>
                <a:latin typeface="Calibri" pitchFamily="34" charset="0"/>
                <a:ea typeface="Calibri" pitchFamily="34" charset="-122"/>
                <a:cs typeface="Calibri" pitchFamily="34" charset="-120"/>
              </a:rPr>
              <a:t>120 minutes  ·  Lab Tests 10A and 11</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the agent, then test every guardrail one by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 Grades → escalate. Distress → escalate warmly.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pick a lane and build for YOUR subject with YOUR material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Three-minute demo: the problem it solves, run it live, where it broke</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sp>
      <p:sp>
        <p:nvSpPr>
          <p:cNvPr id="3" name="Text 1"/>
          <p:cNvSpPr txBox="1"/>
          <p:nvPr/>
        </p:nvSpPr>
        <p:spPr>
          <a:xfrm>
            <a:off x="914400" y="2331720"/>
            <a:ext cx="1371600" cy="137160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indent="0" marL="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sp>
      <p:sp>
        <p:nvSpPr>
          <p:cNvPr id="5" name="Shape 3"/>
          <p:cNvSpPr/>
          <p:nvPr/>
        </p:nvSpPr>
        <p:spPr>
          <a:xfrm>
            <a:off x="777240" y="1920240"/>
            <a:ext cx="82296" cy="3566160"/>
          </a:xfrm>
          <a:prstGeom prst="rect">
            <a:avLst/>
          </a:prstGeom>
          <a:solidFill>
            <a:srgbClr val="C8102E"/>
          </a:solidFill>
          <a:ln/>
        </p:spPr>
      </p:sp>
      <p:sp>
        <p:nvSpPr>
          <p:cNvPr id="6" name="Text 4"/>
          <p:cNvSpPr txBox="1"/>
          <p:nvPr/>
        </p:nvSpPr>
        <p:spPr>
          <a:xfrm>
            <a:off x="1234440" y="2240280"/>
            <a:ext cx="9418320" cy="2926080"/>
          </a:xfrm>
          <a:prstGeom prst="rect">
            <a:avLst/>
          </a:prstGeom>
          <a:noFill/>
          <a:ln/>
        </p:spPr>
        <p:txBody>
          <a:bodyPr wrap="square" lIns="0" tIns="0" rIns="0" bIns="0" rtlCol="0" anchor="ctr"/>
          <a:lstStyle/>
          <a:p>
            <a:pPr indent="0" marL="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gridCol w="621792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r h="310896">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indent="0" marL="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indent="0" marL="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indent="0" marL="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lvl="1" marL="685800"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1C2024"/>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sp>
      <p:sp>
        <p:nvSpPr>
          <p:cNvPr id="3" name="Text 1"/>
          <p:cNvSpPr txBox="1"/>
          <p:nvPr/>
        </p:nvSpPr>
        <p:spPr>
          <a:xfrm>
            <a:off x="914400" y="1645920"/>
            <a:ext cx="10058400" cy="365760"/>
          </a:xfrm>
          <a:prstGeom prst="rect">
            <a:avLst/>
          </a:prstGeom>
          <a:noFill/>
          <a:ln/>
        </p:spPr>
        <p:txBody>
          <a:bodyPr wrap="square" lIns="0" tIns="0" rIns="0" bIns="0" rtlCol="0" anchor="ctr"/>
          <a:lstStyle/>
          <a:p>
            <a:pPr indent="0" marL="0">
              <a:buNone/>
            </a:pPr>
            <a:r>
              <a:rPr lang="en-US" sz="1300" b="1" spc="300" kern="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indent="0" marL="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sp>
      <p:sp>
        <p:nvSpPr>
          <p:cNvPr id="7" name="Text 5"/>
          <p:cNvSpPr txBox="1"/>
          <p:nvPr/>
        </p:nvSpPr>
        <p:spPr>
          <a:xfrm>
            <a:off x="914400" y="4983480"/>
            <a:ext cx="10058400" cy="1188720"/>
          </a:xfrm>
          <a:prstGeom prst="rect">
            <a:avLst/>
          </a:prstGeom>
          <a:noFill/>
          <a:ln/>
        </p:spPr>
        <p:txBody>
          <a:bodyPr wrap="square" lIns="0" tIns="0" rIns="0" bIns="0" rtlCol="0" anchor="ctr"/>
          <a:lstStyle/>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indent="0" marL="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2026-09-06T13:35:46Z</dcterms:created>
  <dcterms:modified xsi:type="dcterms:W3CDTF">2026-09-06T13:35:46Z</dcterms:modified>
</cp:coreProperties>
</file>