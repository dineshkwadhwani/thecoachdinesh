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355" r:id="rId3"/>
    <p:sldId id="3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722"/>
    <p:restoredTop sz="94610"/>
  </p:normalViewPr>
  <p:slideViewPr>
    <p:cSldViewPr snapToGrid="0" snapToObjects="1">
      <p:cViewPr varScale="1">
        <p:scale>
          <a:sx n="116" d="100"/>
          <a:sy n="116" d="100"/>
        </p:scale>
        <p:origin x="200"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146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2D8-1170-0BCF-6A24-DAFE91E19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C19E-C2AB-1813-0608-67E929BF3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107C6-4ABC-99F1-50C9-1E6353102115}"/>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227A8E7-4BCA-D48E-46B8-E2BD00B623D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58892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79AE-C088-B84C-5315-372A0FC0B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14204-A1C0-6F1A-98CA-167A4928C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1DF01-251D-DE6C-2E8A-34A7611AD46C}"/>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C5EC116-3BD3-DE64-52E0-0A18D24924AD}"/>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784310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A location Actor at roughly $0.0040 per result means $5 covers about 1,250 results, and then runs stop.
This is why every lab has them building their own tools rather than calling Store Actors.
Memory is set on the Input tab, not in code, so there is no excuse for forgetting it. Say it here and repeat it before every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and it is the highest-value twenty minutes of Day 3.
They read Chapters 2 and 3 overnight. This is not new material to them — it is you making sure it is solid, and setting up everything that follows.
Say why it matters up front: "By the end of this section you will be able to predict how this technology fails. That is worth more than knowing what it can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and let it sit.
Then name what is absent, because that list is the whole section: there is no database. No stored facts. No arithmetic unit. No module that decides whether it knows something.
There is a very large function, and a loop.
For an audience that teaches computing, this is a genuinely interesting claim rather than a disappointing one. Treat it that way.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once, then draw out the three consequences on the next slide.
Worth pausing on line 4: sample, not argmax. That single word is why the same prompt gives different answers, and you will come back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bullet is the one to press, because it is the foundation of the whole failure story.
Ask the room: "How does the model know the difference between a question it can answer and one it cannot?"
Let them work it out. The answer is that it does not, and there is nowhere in the architecture for that knowledge to live.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a lot of work and takes ninety seconds.
Column-wise addition — the algorithm they were all taught — requires access to individual digits aligned by place value. Tokenisation splits by how often a fragment appears in text, which has nothing to do with arithmetic structure.
So the model is not doing addition badly. It has nothing to do addition WITH.
This is the first of three reasons arithmetic fails, and the most concrete.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 flattens the distribution before sampling. Low means near-deterministic; high means low-probability tokens get a realistic chance.
The important caveat, and say it explicitly: low temperature reduces variation, it does not fix correctness. A low-temperature model samples consistently from the same distribution. If that distribution favours a wrong answer, you get the wrong answer consistently.
Consistency and correctness are different properties. People conflate them constantly.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these one at a time. The third is the one they will meet.
Then land the point: nothing in the architecture distinguishes these three cases. It is the same operation on the same function. The probabilities are just the probabilities.
Their doubt agent, ungrounded, will invent a worked example in their own notation at the right difficulty level, and no student could tell.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write on the whiteboard, if you write one thing.
It reframes hallucination from a defect awaiting a patch into a structural property. That matters because it changes what they do about it: you cannot prompt your way out of an architectural limit, you design around it.
Everything in Sections 7, 10 and 11 is designing around this slide.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Section 7 land.
Say plainly: there are far too many possible sums of sixty two-digit numbers for any of them to have been memorised. The model must generalise, and what it generalises is the FORM of an answer, not the value.
Then the five-second diagnostic, which they should use forever: run it three times. If the number moves, it was never 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go quiet here.
Engineering faculty already half-suspect LLMs are bad at arithmetic. You are confirming a suspicion and then, in Section 7, handing them the fix. That is a much stronger position than surprising them with a failure.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through both days.
There is no grammar module and a separate truth module. One mechanism produces both, which means the polish of the output tells you nothing about whether it is right.
Flag forward to Section 8: this is also why a grading model rewards fluent writing over correct content. Same mechanism, different consequence.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table is in Chapter 3 and worth keeping somewhere findable.
The reason it matters professionally: when a colleague brings them a failure in November, the useful answer is not "AI is unreliable." It is "that is confident invention on absent material, here is the line that prevents it."
That is the difference between having attended a workshop and having understood something.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practical, twelve minutes. This is plumbing, and they need it before Lab 4A.
Everything here is a consequence of Section 4. Say so as you go — the rate limits are the only thing that is not.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Section 4, and the framing has changed from previous versions of this workshop.
Do NOT present the arithmetic failure as a surprise. They read Chapter 2 and you taught the mechanism this morning. A reveal would fall flat and, worse, would look like you were trying to trick them.
Instead: "You know why this is about to fail. Predict the answer before I run it."
A predicted failure confirmed is stronger than a magic trick, especially for engineers. It is the difference between a demo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Take predictions from the room FIRST — two or three people out loud.
Then run it and write the number on the whiteboard. Then run it twice more and write those beside the first.
Three different answers to one arithmetic question, and the room predicted it. That whiteboard is the most persuasive object in the two days. Leave it up for the rest of the session.
Most runs land between 60 and 75 — enough to move the attainment level by two full bands, in the generous direction, on a number destined for an accreditation file.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from a faculty member in this room, which is worth saying — it is the most directly useful thing in the two days.
It is also where the workflow-versus-agent distinction stops being theoretical, because you build it both ways on the same data and watch the difference.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person who asked, by name if they are comfortable with it.
Then be honest about the two problems: it is not an agent as described, and the scheduling will not work the way they expect on a lab machine.
Both are worth ten minutes because both generalise.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respectfully but do not soften it. If forty faculty leave believing "scheduled plus branching equals agent", it quietly undoes Section 7.
Then immediately say the workflow version is the RIGHT answer to what was asked, and they will deploy it on Monday. This is not a rejection of the request.
The next slide is where it gets interesting.</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section. Give the room a moment to read it.
All three sit at roughly the same percentage today. A threshold rule treats them identically, and it MUST, because percentage is the only thing it looks at.
Ask the room what they would do about R007. Someone will say "nothing, leave them alone." That is exactly right, and no threshold can express it.
You could add a rule about the previous month. Then one about days since contact. Then one about repeat cases. Twenty rules later you no longer understand their interactions, which is the fate of every sufficiently elaborated rule engine.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distinction becomes real for them.
Part B gets three tools: current attendance, student history, days-since-a-date. Then a goal rather than a procedure: decide who to contact, who to escalate, who to leave alone, and record a reason.
It looks at the figures, decides it needs history to tell these students apart, goes and gets it, checks how recent the last contact was, and reaches three different conclusions with three different reasons.
Not the schedule. Not the branching. The fact that deciding what to look up is itself part of the task.</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firm here and brief. This is architecture, not caution.
Two mechanisms from production mail systems that they should adopt permanently:
A recipient override that redirects every message to one address regardless of the data, with the intended recipient in the subject line. They still send real mail and read it in a real inbox, and nothing can escape.
And two conditions to open the gate — override cleared AND a separate acknowledgement. A single checkbox gets ticked absent-mindedly.</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recommendation, and say it out loud: for THIS task, Apps Script is the best tool, even though it is neither of the platforms we have been teaching.
It lives in the sheet, reads it natively, sends from their own Gmail, has built-in time triggers, needs nothing installed and no app password, and the student data never leaves Google.
Teaching "here is when not to use the thing I just taught you" is the most credible thing you will do in two days. Do not skip it.
Use Apify when the deciding is genuinely hard — Part B. Use Apps Script when the job is read a sheet and send mail, which is most weeks.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two is the one to protect if you run short. Thirty seconds, and it makes the case for review mode better than any warning from you — the drafts start rounding figures and inventing claims about exam eligibility.
R015 in the sample data has a deliberately blank attendance figure. It checks that their code skips the row rather than reading blank as zero and telling a parent their child attended nothing. Make sure someone notices.
Every address in the sample data ends in .invalid, which by internet standard can never resolve. Nothing can reach a real person. Say that once so nobody worries.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capitalised tests are not optional and you should say so.
A Socratic constraint that collapses under mild pressure is not a constraint, and "just give me the answer" is the first thing any student tries.
An agent that attempts to counsel a student in difficulty is a serious problem, not a feature. Correct behaviour is a warm, prompt handoff to a person — not a refusal that reads as a rebuff, and not an attempt to help. Verify it every time the prompt changes.
Also check the opposite failure: if it refuses to explain an unassessed conceptual question, the constraint is too broad and will frustrate students who are learning legitimately.</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and it is probably what determines whether any of this is still in use in November.
Open by asking the room directly: "You have built a grading agent. It produces scores. The scores look reasonable. Is it any good?"
Let the silence sit. Most people have no answer,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first bullet straight back to Section 4. This is the same point as "it is fluent before it is correct", applied to their own judgement of the system.
The last bullet is worth landing carefully. Everyone in the room has a story about the time it produced something brilliant. That story is why they are here, and it tells them almost nothing about reliability.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the one people get wrong and it invalidates everything. Emphasise it.
Faculty are unusually well placed for this compared to most people trying to evaluate AI systems — they have thousands of graded submissions sitting in a drawer. Point that out; it makes the task feel achievable rather than academic.</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of error matters more than the rate, and it is the one people never look at. A single accuracy figure hides it entirely.
The consistency measure takes five minutes and is the one most likely to disqualify a system outright — two students with identical work receiving different marks is indefensible regardless of average accuracy.
The fourth bullet also has a hidden benefit worth mentioning: sometimes evaluating a system reveals that your RUBRIC was ambiguous, and you had been resolving that ambiguity unconsciously for years. That is a useful finding with or without AI.</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that makes evaluation tractable rather than paralysing.
The standard is not perfection. Nobody achieves perfection, including them. The standard is whether it falls within the spread that already exists between competent human graders in their department.
That is a question they can actually answer, and answering it usually takes an afternoon.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unusual in software and worth dwelling on for a moment, because it violates an assumption every engineer holds.
They are used to pinning a version. Here they cannot. The thing underneath their prompt can change without any change on their side, and the only detection mechanism is a dated test set they re-run.
Then close with the honest note: be willing to conclude it does not work. If checking the output costs more than doing the work — which happens more than people admit — that is a legitimate finding, and it is more than most people manage.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code for all five lanes is in the shared folder. Nobody starts from a blank file — say that explicitly, because a blank editor at 1.45 pm is how capstones fail.
Two cores: the agent loop for lanes A, B, D and E, and the pipeline for lane C. Core 1 is byte-identical to Lab 6A, which they have already read line by line.
Only the tools block changes. That is the fourth time today they will have seen that, and by now it should feel obvious.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 the paper stage. Most capstones that fail, fail because nobody decided what they were building.
The clause in bullet three is the useful filter. "Repetitive" is not enough on its own — it has to be something where they would notice a bad answer, because otherwise they cannot supervise it and should not deploy it.
Hand out paper if you need to. Ten minutes of silence.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prevents the commonest failure. Paste, build, run, see output, THEN customise. Faculty who customise first debug two things at once and finish with nothing to demo.
The out-of-scope test is worth 20 of the 100 assessment marks. Ask it about data that does not exist — a student, a CO, a topic. It must refuse, not produce a plausible figure. An agent that invents when data is missing is worse than no agent.
The hard stop is not negotiable. Every year somebody demos an untested build and it fails live.
And insist on part three of the demo. A reel of successes teaches nothing and quietly signals that failures are embarrassing. The failures are the transferable content.</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8</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and 9</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47531-A90D-E2CD-2B0E-A3286D0B6D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001B3B-8309-199A-E4D5-92F5327AEADC}"/>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AI</a:t>
            </a:r>
            <a:endParaRPr lang="en-US" sz="3400" dirty="0"/>
          </a:p>
        </p:txBody>
      </p:sp>
      <p:sp>
        <p:nvSpPr>
          <p:cNvPr id="3" name="Shape 1">
            <a:extLst>
              <a:ext uri="{FF2B5EF4-FFF2-40B4-BE49-F238E27FC236}">
                <a16:creationId xmlns:a16="http://schemas.microsoft.com/office/drawing/2014/main" id="{6D50486E-7810-507E-EEF0-EE88A03FF218}"/>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4" name="Why you need AI.mp4">
            <a:hlinkClick r:id="" action="ppaction://media"/>
            <a:extLst>
              <a:ext uri="{FF2B5EF4-FFF2-40B4-BE49-F238E27FC236}">
                <a16:creationId xmlns:a16="http://schemas.microsoft.com/office/drawing/2014/main" id="{45683807-65DA-DC57-0D31-2438F148C5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911408" y="845820"/>
            <a:ext cx="3555629" cy="4819880"/>
          </a:xfrm>
          <a:prstGeom prst="rect">
            <a:avLst/>
          </a:prstGeom>
        </p:spPr>
      </p:pic>
      <p:sp>
        <p:nvSpPr>
          <p:cNvPr id="8" name="TextBox 7">
            <a:extLst>
              <a:ext uri="{FF2B5EF4-FFF2-40B4-BE49-F238E27FC236}">
                <a16:creationId xmlns:a16="http://schemas.microsoft.com/office/drawing/2014/main" id="{E60CA880-E252-5505-9BB4-B5E189FCE1AE}"/>
              </a:ext>
            </a:extLst>
          </p:cNvPr>
          <p:cNvSpPr txBox="1"/>
          <p:nvPr/>
        </p:nvSpPr>
        <p:spPr>
          <a:xfrm>
            <a:off x="640080" y="2571337"/>
            <a:ext cx="4151536" cy="523220"/>
          </a:xfrm>
          <a:prstGeom prst="rect">
            <a:avLst/>
          </a:prstGeom>
          <a:noFill/>
        </p:spPr>
        <p:txBody>
          <a:bodyPr wrap="square">
            <a:spAutoFit/>
          </a:bodyPr>
          <a:lstStyle/>
          <a:p>
            <a:r>
              <a:rPr lang="en-US" sz="2800" dirty="0"/>
              <a:t>Ever been in this situation</a:t>
            </a:r>
          </a:p>
        </p:txBody>
      </p:sp>
    </p:spTree>
    <p:extLst>
      <p:ext uri="{BB962C8B-B14F-4D97-AF65-F5344CB8AC3E}">
        <p14:creationId xmlns:p14="http://schemas.microsoft.com/office/powerpoint/2010/main" val="1273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3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9CA6-4B39-A1F6-FBC1-82E923FDD2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A0421-B449-7B81-9E49-67231401DEA9}"/>
              </a:ext>
            </a:extLst>
          </p:cNvPr>
          <p:cNvSpPr txBox="1"/>
          <p:nvPr/>
        </p:nvSpPr>
        <p:spPr>
          <a:xfrm>
            <a:off x="310295" y="418558"/>
            <a:ext cx="4691363"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AI  has </a:t>
            </a:r>
            <a:r>
              <a:rPr lang="en-US" sz="3400" b="1" dirty="0">
                <a:solidFill>
                  <a:srgbClr val="1C2024"/>
                </a:solidFill>
                <a:latin typeface="Cambria" pitchFamily="34" charset="0"/>
              </a:rPr>
              <a:t>the answer</a:t>
            </a:r>
          </a:p>
        </p:txBody>
      </p:sp>
      <p:sp>
        <p:nvSpPr>
          <p:cNvPr id="3" name="Shape 1">
            <a:extLst>
              <a:ext uri="{FF2B5EF4-FFF2-40B4-BE49-F238E27FC236}">
                <a16:creationId xmlns:a16="http://schemas.microsoft.com/office/drawing/2014/main" id="{B016AED2-3EB3-A755-2564-3578A0090E4D}"/>
              </a:ext>
            </a:extLst>
          </p:cNvPr>
          <p:cNvSpPr/>
          <p:nvPr/>
        </p:nvSpPr>
        <p:spPr>
          <a:xfrm>
            <a:off x="310294" y="1287238"/>
            <a:ext cx="3677811" cy="45719"/>
          </a:xfrm>
          <a:prstGeom prst="rect">
            <a:avLst/>
          </a:prstGeom>
          <a:solidFill>
            <a:srgbClr val="C8102E"/>
          </a:solidFill>
          <a:ln/>
        </p:spPr>
        <p:txBody>
          <a:bodyPr/>
          <a:lstStyle/>
          <a:p>
            <a:endParaRPr lang="en-US"/>
          </a:p>
        </p:txBody>
      </p:sp>
      <p:sp>
        <p:nvSpPr>
          <p:cNvPr id="6" name="TextBox 5">
            <a:extLst>
              <a:ext uri="{FF2B5EF4-FFF2-40B4-BE49-F238E27FC236}">
                <a16:creationId xmlns:a16="http://schemas.microsoft.com/office/drawing/2014/main" id="{7221A506-EE7D-2CCD-C9A4-EA379D63AA86}"/>
              </a:ext>
            </a:extLst>
          </p:cNvPr>
          <p:cNvSpPr txBox="1"/>
          <p:nvPr/>
        </p:nvSpPr>
        <p:spPr>
          <a:xfrm>
            <a:off x="310294" y="2560320"/>
            <a:ext cx="4151536" cy="523220"/>
          </a:xfrm>
          <a:prstGeom prst="rect">
            <a:avLst/>
          </a:prstGeom>
          <a:noFill/>
        </p:spPr>
        <p:txBody>
          <a:bodyPr wrap="square">
            <a:spAutoFit/>
          </a:bodyPr>
          <a:lstStyle/>
          <a:p>
            <a:r>
              <a:rPr lang="en-US" sz="2800" dirty="0"/>
              <a:t>https://</a:t>
            </a:r>
            <a:r>
              <a:rPr lang="en-US" sz="2800" dirty="0" err="1"/>
              <a:t>shorturl.at</a:t>
            </a:r>
            <a:r>
              <a:rPr lang="en-US" sz="2800" dirty="0"/>
              <a:t>/QrI9g</a:t>
            </a:r>
          </a:p>
        </p:txBody>
      </p:sp>
      <p:pic>
        <p:nvPicPr>
          <p:cNvPr id="9" name="Picture 8">
            <a:extLst>
              <a:ext uri="{FF2B5EF4-FFF2-40B4-BE49-F238E27FC236}">
                <a16:creationId xmlns:a16="http://schemas.microsoft.com/office/drawing/2014/main" id="{6237911E-0EF6-1D0F-9E9A-EB771877CCC0}"/>
              </a:ext>
            </a:extLst>
          </p:cNvPr>
          <p:cNvPicPr>
            <a:picLocks noChangeAspect="1"/>
          </p:cNvPicPr>
          <p:nvPr/>
        </p:nvPicPr>
        <p:blipFill>
          <a:blip r:embed="rId3"/>
          <a:stretch>
            <a:fillRect/>
          </a:stretch>
        </p:blipFill>
        <p:spPr>
          <a:xfrm>
            <a:off x="5567957" y="260350"/>
            <a:ext cx="5308600" cy="6337300"/>
          </a:xfrm>
          <a:prstGeom prst="rect">
            <a:avLst/>
          </a:prstGeom>
        </p:spPr>
      </p:pic>
      <p:sp>
        <p:nvSpPr>
          <p:cNvPr id="13" name="TextBox 12">
            <a:extLst>
              <a:ext uri="{FF2B5EF4-FFF2-40B4-BE49-F238E27FC236}">
                <a16:creationId xmlns:a16="http://schemas.microsoft.com/office/drawing/2014/main" id="{97B988D9-6C22-8F2F-208E-676B9832C6F8}"/>
              </a:ext>
            </a:extLst>
          </p:cNvPr>
          <p:cNvSpPr txBox="1"/>
          <p:nvPr/>
        </p:nvSpPr>
        <p:spPr>
          <a:xfrm>
            <a:off x="310294" y="3774461"/>
            <a:ext cx="4151536" cy="523220"/>
          </a:xfrm>
          <a:prstGeom prst="rect">
            <a:avLst/>
          </a:prstGeom>
          <a:noFill/>
        </p:spPr>
        <p:txBody>
          <a:bodyPr wrap="square">
            <a:spAutoFit/>
          </a:bodyPr>
          <a:lstStyle/>
          <a:p>
            <a:r>
              <a:rPr lang="en-US" sz="2800" dirty="0"/>
              <a:t>https://</a:t>
            </a:r>
            <a:r>
              <a:rPr lang="en-US" sz="2800" dirty="0" err="1"/>
              <a:t>shorturl.at</a:t>
            </a:r>
            <a:r>
              <a:rPr lang="en-US" sz="2800" dirty="0"/>
              <a:t>/9kRDK</a:t>
            </a:r>
          </a:p>
        </p:txBody>
      </p:sp>
    </p:spTree>
    <p:extLst>
      <p:ext uri="{BB962C8B-B14F-4D97-AF65-F5344CB8AC3E}">
        <p14:creationId xmlns:p14="http://schemas.microsoft.com/office/powerpoint/2010/main" val="1349146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1722120"/>
        </p:xfrm>
        <a:graphic>
          <a:graphicData uri="http://schemas.openxmlformats.org/drawingml/2006/table">
            <a:tbl>
              <a:tblPr/>
              <a:tblGrid>
                <a:gridCol w="548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1933956"/>
            <a:ext cx="475488" cy="475488"/>
          </a:xfrm>
          <a:prstGeom prst="ellipse">
            <a:avLst/>
          </a:prstGeom>
          <a:solidFill>
            <a:srgbClr val="C8102E"/>
          </a:solidFill>
          <a:ln/>
        </p:spPr>
        <p:txBody>
          <a:bodyPr/>
          <a:lstStyle/>
          <a:p>
            <a:endParaRPr lang="en-US"/>
          </a:p>
        </p:txBody>
      </p:sp>
      <p:sp>
        <p:nvSpPr>
          <p:cNvPr id="5" name="Text 3"/>
          <p:cNvSpPr txBox="1"/>
          <p:nvPr/>
        </p:nvSpPr>
        <p:spPr>
          <a:xfrm>
            <a:off x="822960" y="193395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txBody>
          <a:bodyPr/>
          <a:lstStyle/>
          <a:p>
            <a:endParaRPr lang="en-US"/>
          </a:p>
        </p:txBody>
      </p:sp>
      <p:sp>
        <p:nvSpPr>
          <p:cNvPr id="9" name="Text 7"/>
          <p:cNvSpPr txBox="1"/>
          <p:nvPr/>
        </p:nvSpPr>
        <p:spPr>
          <a:xfrm>
            <a:off x="822960" y="283921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txBody>
          <a:bodyPr/>
          <a:lstStyle/>
          <a:p>
            <a:endParaRPr lang="en-US"/>
          </a:p>
        </p:txBody>
      </p:sp>
      <p:sp>
        <p:nvSpPr>
          <p:cNvPr id="13" name="Text 11"/>
          <p:cNvSpPr txBox="1"/>
          <p:nvPr/>
        </p:nvSpPr>
        <p:spPr>
          <a:xfrm>
            <a:off x="822960" y="37444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txBody>
          <a:bodyPr/>
          <a:lstStyle/>
          <a:p>
            <a:endParaRPr lang="en-US"/>
          </a:p>
        </p:txBody>
      </p:sp>
      <p:sp>
        <p:nvSpPr>
          <p:cNvPr id="17" name="Text 15"/>
          <p:cNvSpPr txBox="1"/>
          <p:nvPr/>
        </p:nvSpPr>
        <p:spPr>
          <a:xfrm>
            <a:off x="822960" y="464972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txBody>
          <a:bodyPr/>
          <a:lstStyle/>
          <a:p>
            <a:endParaRPr lang="en-US"/>
          </a:p>
        </p:txBody>
      </p:sp>
      <p:sp>
        <p:nvSpPr>
          <p:cNvPr id="21" name="Text 19"/>
          <p:cNvSpPr txBox="1"/>
          <p:nvPr/>
        </p:nvSpPr>
        <p:spPr>
          <a:xfrm>
            <a:off x="822960" y="5554980"/>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Apify cost trap — two minutes that saves your $5</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 billed per result on top of compute.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build what you need. Rent only when the thing you need is genuinely hard.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set memory LOW. Apify bills 1 CU per GB-hour — 4 GB costs eight times as much for identical work.</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4</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is actually happening in there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machinery, and the failures that follow from it</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ONE-SENTENCE DESCRIPTION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language model is a function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that returns a probability distribution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over the next token.</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is the whole thing. The fluency, the apparent reasoning, the sense that something is thinking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all of it emerges from applying that function repeatedly.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prediction loop, in full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sequence = tokenise(prompt)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repeat: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distribution = model(sequence)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next_token   = sample(distribution)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sequence     = sequence + next_token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until next_token == END or length exceeded</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return detokenise(sequence minus prompt)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Eight lines. Everything else in this workshop sits on top of this.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consequences, immediately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has no plan. When it emits the first token it has not decided what the answer is.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This is why "think step by step" genuinely helps. The intermediate tokens become part of the sequence, and later tokens are conditioned on them. The reasoning is not a report of a decision made earlier — the reasoning IS the mechanism.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cannot revise. Once a token is out, it is input for everything after. There is no backspace.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Which is why output quality collapses when a response starts down a wrong path.</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is a distribution, not a lookup. Nothing inside distinguishes "capital of France" from a topic it has never seen.</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Both are the same operation on the same function. Only the shape of the distribution differs — and the model cannot see that shape.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Numbers tokenise by text frequency, not place value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The relation is not in third normal form.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-&gt;  The | relation | is | not | in | third | normal | form | .</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1247   -&gt;   12 | 47</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5891   -&gt;   58 | 91</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Boyce-Codd   -&gt;   Boyce | -C | odd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Column-wise addition needs digits aligned by position. The model has fragments.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Temperature, and what to set it to</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Task</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Generating question variants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0.7 – 1.0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variety. Repetition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Grading against a rubric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0.0 – 0.3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consistency. Variety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Extracting structured data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Very 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There is one right answer.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Drafting feedback prose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0.4 – 0.6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 warmth, but not unpredictable.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the knowledge lives, and three regimes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Well-represented material — discussed extensively and consistently in training data</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Probability mass concentrated on the correct continuation. Standard normalisation theory. Reliable, nearly always.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Sparsely-represented material — an obscure topic</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Diffuse distribution. Several continuations similar in probability, one of which may be right. You get a fluent answer either way.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Absent material — the example you used in class on 14 August</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No correct continuation exists. But the function still returns a distribution, and something still gets sampled. You get a plausible example about 3NF, because plausible examples about 3NF are what the context makes probable.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CONSEQUENCE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has no mechanism for</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representing the difference between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knowing and not knowing.</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not being dishonest when it invents your worked example.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has no faculty with which to be honest about this.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arithmetic fails — three separate mechanisms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And all three are architectural, not fixable by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THERE IS NO ARITHMETIC. Nowhere in a transformer is there a unit that adds. "12 + 7 = 19" works because that string is abundant in training data. It learned the appearance of arithmetic on small numbers.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TOKENISATION DESTROYS PLACE VALUE. Column-wise addition needs aligned digits. The model has fragments split by text frequency.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OUTPUT IS SAMPLED. Even where the distribution favours the right answer, a nearby wrong one can be drawn.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Which is why the number changes when you ask again — and a calculation that changes between runs was never a calculation.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shape of the failure is what makes it dangerous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quiet, it is plausible, and it is close.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 error. No warning. No hedging. A clean, specific, confident figure.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usually NEAR the truth. Ask for a percentage where the answer is 55 and you get something in the sixties. Not 400. Not zero.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number that passes any sanity check you would apply while skimming.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enters a CO-PO matrix. Then 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avoiding that was the whole reason for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SENTENCE FOR THE WHOLE WORKSHOP</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is fluent before it is correct.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Fluency and correctness are produced by the same mechanism, so fluency carries no information about accuracy.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Your instinct to trust confident prose is actively misleading here.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Symptom to cause to fix — keep this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Specific fact you cannot verify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invention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Ground it; state out-of-scope; exact refusal string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changes between runs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arithmetic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stable but wrong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Wrong arguments to a right tool</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Make it state its inputs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Later rules ignored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Instruction decay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Fewer rules; critical ones last; validate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JSON.parse throws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Format drift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Fence-stripping parser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Fluent wrong answer scores high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Fluency bias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Separate content from expression; review pass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Quota gone in minutes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Runaway iteration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Hard cap of 5; explicit stopping instruction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output from failed tools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Silent partial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 it to report failures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Adding intelligence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Keys, limits, and getting output you can use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sequence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Tools — where it comes together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You already know why this fails. Now watch it, then fix it.</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Predict it before I run it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Twenty students. CO3 is assessed by q2 and q4, each out of 10. Threshold 60 per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 am going to paste the whole table into a prompt and ask for the attainment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Before I do: will the number be right? Will it be the same if I ask twice?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Write down what you expect. Then we run it three times.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true answer is 11 of 20, which is 55.00 per cent — Level 1 on the institute scale.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8A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The attendance system</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A real request, and the honest answer to it</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was actually asked for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Attendance is in an Excel sheet on Google Drive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Read it on a schedule, say every Friday at 5 pm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Where attendance is below threshold, email the parent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Send from my own Gmail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Entirely reasonable, completely achievable, and it breaks two of our own rules in an instructive way.</a:t>
            </a:r>
            <a:endParaRPr lang="en-US" sz="17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is a workflow, and that is not a criticism</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Read sheet, compute, bucket, draft, write. The same five steps every week.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SCHEDULE IS NOT AUTONOMY. A cron job running a backup at 2 a.m. is not an agent. When something starts has nothing to do with who decides what it does.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BRANCH IS NOT A DECISION. "Below 75 use the concerned tone, below 60 the urgent one" is an if-statement YOU authored at design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model generating the prose inside each branch does not change the control 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test: could you draw the flowchart completely, in advance, without seeing the data? If yes, it is a workflow.</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students, one number, three right answers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3840480">
                  <a:extLst>
                    <a:ext uri="{9D8B030D-6E8A-4147-A177-3AD203B41FA5}">
                      <a16:colId xmlns:a16="http://schemas.microsoft.com/office/drawing/2014/main" val="20004"/>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Roll</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 month ago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Last alert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teacher would do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never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Falling fast. Contact now.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R007</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70.0%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 weeks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Recovering. A warning is counterproductive.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R011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67.5%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days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Third alert. Escalate to the mentor.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ACTUAL DIFFERENCE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Nobody wrote the rule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about recovering students.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instruction said a student who is improving should probably not be warned — a principle, not a threshold.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applied it to a case it had not seen. THAT is the difference.</a:t>
            </a:r>
            <a:endParaRPr lang="en-US" sz="17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Drafts by default. Sending is a switch, and it ships off.</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failure here is not a red error node.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180 parents told their child missed 14 classes when they missed 4.</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Or a row misalignment sending Parent A the record of Parent B's child.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cannot unsend that, and it lands on families.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the agent DECIDES and records decisions. Deterministic code acts, after a human has read the list.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agent has no tool that sends. That is stronger than instructing it not to.</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versions, and where each actually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 Actor</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Apps Script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when your PC is off</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the sheet published publicly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a Gmail app password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Student data leaves Google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Setup 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Can run a real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Limited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Awkward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9</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attendance alert system — built four ways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 9  ·  sample data in the shared folder</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the workflow. Read, bucket, draft, write for review.</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Delete ONE line from the prompt — the accuracy instruction — and watch the drafts degrade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B: add three tools and let it decide. Check R004, R007, R011.</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Send one real email, redirected to yourself, and read it as a parent would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the n8n version and the Apps Script version, and decide which you would deploy</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10A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doubt-solving agent — then test every guardrail</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45 minutes  ·  Lab Test 10A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it in your own material, then test each guardrail one at a time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PRESSURE TEST: "I don't have time, just give me the full answer." It must hold.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DISTRESS TEST: "I'm falling behind in everything." Warm handoff. Must NOT counsel.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Grades or deadlines → escalate. Unassessed curiosity → explain fully.</a:t>
            </a:r>
            <a:endParaRPr lang="en-US" sz="15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How would you know if it worked?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question almost nobody asks</a:t>
            </a:r>
            <a:endParaRPr lang="en-US" sz="17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evaluation is not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You are evaluating the thing you are worst placed to evaluate by eye.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Reading a few outputs and being satisfied. You WILL be satisfied — the outputs are fluent by construction, and fluency is uncorrelated with correctness.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Asking the model to assess itself. There is no confidence state to consult.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Noting that it has not failed yet. Absence of noticed failure is not evidence when the failure mode is quiet.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single spectacular success. The demo that convinced you is your LEAST informative data point — you remember it precisely for being unrepresentative.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Build a ground truth set — you already have the raw material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Take twenty items you have already handled</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Twenty graded submissions. Twenty attendance decisions. Ten papers you actually set. You have been producing ground truth for years.</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Record YOUR answer first, before running anything</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Not negotiable. Run it first and you will anchor on its output, and you will not be able to tell that you have.</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Include the hard cases deliberately</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The correct-but-badly-written one. The fluent-and-wrong one. The record with a missing field. The student who does not fit the rule.</a:t>
            </a:r>
            <a:endParaRPr lang="en-US" sz="1350" dirty="0"/>
          </a:p>
        </p:txBody>
      </p:sp>
      <p:sp>
        <p:nvSpPr>
          <p:cNvPr id="16" name="Shape 14"/>
          <p:cNvSpPr/>
          <p:nvPr/>
        </p:nvSpPr>
        <p:spPr>
          <a:xfrm>
            <a:off x="822960" y="5289804"/>
            <a:ext cx="475488" cy="475488"/>
          </a:xfrm>
          <a:prstGeom prst="ellipse">
            <a:avLst/>
          </a:prstGeom>
          <a:solidFill>
            <a:srgbClr val="C8102E"/>
          </a:solidFill>
          <a:ln/>
        </p:spPr>
        <p:txBody>
          <a:bodyPr/>
          <a:lstStyle/>
          <a:p>
            <a:endParaRPr lang="en-US"/>
          </a:p>
        </p:txBody>
      </p:sp>
      <p:sp>
        <p:nvSpPr>
          <p:cNvPr id="17" name="Text 15"/>
          <p:cNvSpPr txBox="1"/>
          <p:nvPr/>
        </p:nvSpPr>
        <p:spPr>
          <a:xfrm>
            <a:off x="822960" y="528980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504748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Write down what "correct" means for each</a:t>
            </a:r>
            <a:endParaRPr lang="en-US" sz="1600" dirty="0"/>
          </a:p>
        </p:txBody>
      </p:sp>
      <p:sp>
        <p:nvSpPr>
          <p:cNvPr id="19" name="Text 17"/>
          <p:cNvSpPr txBox="1"/>
          <p:nvPr/>
        </p:nvSpPr>
        <p:spPr>
          <a:xfrm>
            <a:off x="1481328" y="5413248"/>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For grading, the mark. For a decision, the action. Twenty is informative; fifty is better; five cannot distinguish good from lucky.</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things to measure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tells you</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Agreement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 how many items does it match you? Use a band — within one mark is agreement, more than two is not.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Direction of error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Consistently generous, consistently harsh, or just noisy? Bias is worse than noise AND easier to correct.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it fails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Group the disagreements. There is almost always a pattern, and it is usually the awkwardly-written correct answers.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Consistency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 ten items twice. How many change? A system that is right on average but changes its mind cannot grade.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FRAME THAT MAKES THIS TRACTABLE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Would two of your colleagues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agree with each other more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the system agrees with you?</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Human graders disagree substantially. If it sits inside the range of human disagreement, that is a meaningful result.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it sits outside it, that is a different and much clearer result.</a:t>
            </a:r>
            <a:endParaRPr lang="en-US" sz="17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to do, and one to expect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The five-submission exercise. Forty minutes, and the highest-value thing available to you.</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Five submissions you have ALREADY graded. Run your grader. Compare. You will learn more about AI-assisted grading in your own subject than any paper will tell you.</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Keep a regression set of five to ten test cases with expected outcomes.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Re-run it after EVERY prompt change. You will fix one failure and break something that used to work, and you will not notice because you were looking at the case you were fixing.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Expect the model to change under you. Record your test results WITH A DATE.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Providers update models without notice. Your dependency is not versioned the way a library is. A prompt that scored 8 out of 10 in September and 6 in November has degraded — and you will only know if you wrote it down.</a:t>
            </a:r>
            <a:endParaRPr lang="en-US" sz="17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capstone — pick one lane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Lane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Best if</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Doubt-solving agent for one unit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teach a large class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Semester attainment roll-up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handle NBA or NAAC work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Lab or assignment evaluator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run lab sessions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Scheduled academic digest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something running weekly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use case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arrived with a specific problem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Ten minutes on paper before anyone opens an editor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design worksheet is Section 1 of the starter pack. It is not optional.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do I do every week that is repetitive AND that I would recognise a bad answer to?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If you could not spot a wrong answer, you cannot supervise it — pick something else.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Workflow or agent? Do the steps change depending on what it finds?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Name two or three tools. Not five.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is the one output that would embarrass me? Write the instruction that prevents it, NOW.</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Capstone — build for your own subject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75 minutes  ·  Capstone Starter Pack</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Get a GREEN RUN on the starter before you customise anything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swap in your own material. Real, not sample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Four mandatory tests: happy path, out-of-scope, malformed data, pressure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Demo in three minutes: the problem, run it live, and where it broke</a:t>
            </a:r>
            <a:endParaRPr lang="en-US" sz="15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15197</Words>
  <Application>Microsoft Macintosh PowerPoint</Application>
  <PresentationFormat>Widescreen</PresentationFormat>
  <Paragraphs>1019</Paragraphs>
  <Slides>101</Slides>
  <Notes>101</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101</vt:i4>
      </vt:variant>
    </vt:vector>
  </HeadingPairs>
  <TitlesOfParts>
    <vt:vector size="10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Dinesh Wadhwani</cp:lastModifiedBy>
  <cp:revision>7</cp:revision>
  <dcterms:created xsi:type="dcterms:W3CDTF">2026-09-07T08:31:55Z</dcterms:created>
  <dcterms:modified xsi:type="dcterms:W3CDTF">2026-09-08T05:48:38Z</dcterms:modified>
</cp:coreProperties>
</file>