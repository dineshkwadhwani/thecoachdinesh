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256" r:id="rId2"/>
    <p:sldId id="355" r:id="rId3"/>
    <p:sldId id="3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722"/>
    <p:restoredTop sz="94610"/>
  </p:normalViewPr>
  <p:slideViewPr>
    <p:cSldViewPr snapToGrid="0" snapToObjects="1">
      <p:cViewPr varScale="1">
        <p:scale>
          <a:sx n="116" d="100"/>
          <a:sy n="116" d="100"/>
        </p:scale>
        <p:origin x="200"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146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acknowledging the morning. Dr. Nilima Zade has just spent 2.5 hours on Generative AI, agents and ethics. Do NOT re-teach any of it.
Say something close to: "This morning you saw what an agent IS. This afternoon you build one."
Set the contract immediately — by 4pm today every person in this room will have built something that works. Not seen a demo. Built one.
Watch the room: it is straight after lunch. Get them typing within 15 minutes or you lose them. Do not spend more than four slides before Lab Test 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382D8-1170-0BCF-6A24-DAFE91E19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C19E-C2AB-1813-0608-67E929BF3B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107C6-4ABC-99F1-50C9-1E6353102115}"/>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227A8E7-4BCA-D48E-46B8-E2BD00B623D9}"/>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58892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A79AE-C088-B84C-5315-372A0FC0B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C14204-A1C0-6F1A-98CA-167A4928CD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C1DF01-251D-DE6C-2E8A-34A7611AD46C}"/>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C5EC116-3BD3-DE64-52E0-0A18D24924AD}"/>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7843100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deliverable plainly. Faculty have sat through AI sessions before that were all demo and no output; name that and distinguish this one.
The last bullet matters. Say it out loud: "I am going to show you this failing several times today. That is deliberate. If you leave here thinking this technology is reliable, I have done you harm."
Engineering faculty are sceptical by training. Leading with the failures buys credibility that a polished demo never will.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justifies the entire structure. Spend a moment on it.
The failure mode of AI workshops is starting at maximum complexity. People nod, feel behind, and build nothing afterwards.
Say: "We are going to make you hit a wall before I hand you the tool that gets over it. That way the tool means something."
Tie it back — this is how they teach. You do not open a DBMS course with query optimisation.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10 minutes maximum. It is conceptual and they have had concept all morning.
Your job here is one idea: the difference between a workflow and an agent, and the fact that most of their work needs the former.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line for the whole workshop. Deliver it slowly.
Ask: "How many of you have asked ChatGPT or Gemini to generate quiz questions?" Most hands. "How many of you still have that as something you can re-run in ten seconds today?" No hands.
That gap is what the next day and a half is about. Everything we build is an answer to one question: how much of that process moves out of your head and into something that runs on its 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table. Then stop on the last row and read it again.
"Cost to trust" is the row everyone skips and the row that decides whether any of this survives contact with real academic work. An agent is not free once built — it needs supervising forever.
If you only make one point in this section, make it this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question and let it sit for a beat.
Then apply it live. Ask the room: "Computing CO attainment from a marks sheet — do the steps change?" No. Fixed formula. That is a workflow.
"A student asks you a doubt — do the steps change?" Yes, entirely. That is an agent.
They now have a decision rule they can use on Monday without any of the tools.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contrarian and they will remember it. Say it directly.
There is a whole industry incentive to make everything an agent. Resist it on their behalf.
Concrete example: someone will build an "attainment agent" that produces a slightly different number each run and cannot work out why. Because they built a creative system for a deterministic task.
Land the last line as the takeaway.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Apify is the spine. Two reasons, and say both.
Nothing installs — it all runs in a browser tab, and their work sits in their own account rather than on a machine that gets reimaged.
And they write the loop themselves. n8n's Agent node, CrewAI, LangGraph all hide it. Configure one and you have learned an import statement. Write one and every framework afterwards is looking up method names.
Flag now that n8n is Track B and may not run. If the machines were not ready, those labs are dropped and nothing essential is lost. Say this without apology — it was designed that way on purpose.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for every comparison lab today and tomorrow.
They will build the first flow both ways in Lab 3, and the attainment agent both ways in Lab 7. Tell them now that the comparison is the exercise, not a bonus.
If Track B is not running, still say this line — it explains why you chose to have them write code rather than configure a node.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anyone treat this as preamble. Say explicitly: every agent we build tomorrow is a prompt with plumbing around it.
If the prompt is vague, adding tools and memory and multi-agent review produces vague output more elaborately and at greater expense.
This section is about 25 minutes then straight into Lab 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run this on the projector. Do not describe it.
Read one or two of the generated questions out loud, then ask the room to tell you what is wrong with them. They will find it themselves — no CO tags, no marks, all at recall level, one topic they do not teach.
Letting them diagnose it is far more effective than you listing the faults.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what they just saw. The model did not fail — it was told almost nothing and filled every gap with the most typical answer from the whole internet.
Average is worse than wrong for teaching purposes, because wrong gets caught and average gets used.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mnemonic and tell them where the faults usually are.
In practice the missing pieces are almost always F and G. People describe the task well and then leave the output shape and the refusal rules unstated.
Tell them: if a prompt is not working, one of these five is missing. Go through them in order and find which.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NOT TAUGHT line hard. This is the single most transferable thing in the section.
Models are trained on the whole internet's database material and drift toward the mean of it. Telling it what is OUT of scope is far more effective than hoping it stays in scope.
Tell them: every prompt you write for a course should carry this line. It takes thirty seconds and it stops out-of-syllabus questions appearing on your paper.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Lab 1 they will test this directly: ask for a 5NF question before adding guardrails (it complies) and after (it refuses).
Tell them that comparison is the most valuable thirty seconds in the lab. One paragraph of instructions is the difference between a tool that quietly puts out-of-syllabus questions on their paper and one that does not.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justification trick is the one to press. It is the highest-value habit in the section and it comes back tomorrow in the attainment agent as a safety feature.
Say: "You are building yourself an audit trail. You will spot a bad tag in one second instead of never."
On Bloom's inflation — give the BCNF example out loud, it lands immediately with engineering faculty.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 and consistently ignored. The instinct when output is wrong is to fix the output.
Make them promise to fix the prompt instead. This is the difference between using AI and building something with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here and deliver the top line slowly.
"Fluency and correctness are separate properties, and this technology delivers the first far more reliably than the second."
The relocation point is the honest sell. It is still a large saving. It is a different job. Pretending otherwise is how institutions get burned.
Then send them to Lab 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notes before releasing them:
They must be on a PERSONAL Gmail. Institutional accounts hide the Gems option entirely with no error message. Say this twice; it will still catch two people.
Gems are created web-only at gemini.google.com on a computer, not the mobile app.
Walk the room during Lab 1. The common stall is people writing a short prompt and expecting the layered improvement — push them to actually paste the full blocks.
Checkpoint before the break: everyone has generated a question paper for a subject they actually teach.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AI in this section. Say why: they need to see data go in, get processed and come out before adding a component whose output varies between runs.
Debugging when you cannot tell whether the plumbing or the model is at fault is unpleasant. Get the plumbing solid first.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model and it takes ninety seconds to teach.
Emphasise that the agent they build tomorrow has exactly this shape too. It is not a different kind of thing — the middle section is just longer.
Removes a lot of the intimidation of a new platform.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design decision on this platform, and the thing that makes it bearable to work on.
Builds take one to two minutes. If prompts are hardcoded, prompt iteration — which is most of what they will do — runs at two minutes per attempt. Unusable.
If prompts are inputs, they can try six versions in two minutes.
Give them the question to ask of every value in their code: am I going to want to change this without changing the logic? If yes, it goes in the schema.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set on the Input tab, not in code, so there is no excuse for forgetting.
On retention: faculty have lost workshop output this way, intending to use it the following month. Say it as a real thing that happens, not a footnote.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arithmetic. A location Actor at roughly $0.0040 per result means $5 covers about 1,250 results, and then runs stop.
This is why every lab has them building their own tools rather than calling Store Actors.
Memory is set on the Input tab, not in code, so there is no excuse for forgetting it. Say it here and repeat it before every lab.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needed if Track B is running.
This is the idea that unlocks n8n and causes ninety per cent of beginner confusion. Draw it if you can.
Then make the contrast explicit — it is the same lesson as the agent loop, one level down.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the hand verification. It is the habit that catches everything later.
Common stalls in 3A: JSON syntax error in input_schema.json breaking the build; forgetting to set memory before Start.
The step that matters is changing pass mark from 40 to 70 and re-running with no rebuild. Make sure everyone does it — that is where the fast-path lesson lands.
If Track B is not running, skip 3B and give the comparison verbally.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line: "Yesterday's Gem answers. Today's agent acts."
The difference is three things — it can call a TOOL, it can LOOP, and a second agent can CHECK it. Everything today is one of those three.
Then go straight to the setup gate. Nobody moves to Lab 4 until every machine has printed a response from the API. Two people will still be stuck — assign a buddy and move on. Do not hold 38 people for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and it is the highest-value twenty minutes of Day 3.
They read Chapters 2 and 3 overnight. This is not new material to them — it is you making sure it is solid, and setting up everything that follows.
Say why it matters up front: "By the end of this section you will be able to predict how this technology fails. That is worth more than knowing what it can do."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and let it sit.
Then name what is absent, because that list is the whole section: there is no database. No stored facts. No arithmetic unit. No module that decides whether it knows something.
There is a very large function, and a loop.
For an audience that teaches computing, this is a genuinely interesting claim rather than a disappointing one. Treat it that way.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once, then draw out the three consequences on the next slide.
Worth pausing on line 4: sample, not argmax. That single word is why the same prompt gives different answers, and you will come back to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bullet is the one to press, because it is the foundation of the whole failure story.
Ask the room: "How does the model know the difference between a question it can answer and one it cannot?"
Let them work it out. The answer is that it does not, and there is nowhere in the architecture for that knowledge to live.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does a lot of work and takes ninety seconds.
Column-wise addition — the algorithm they were all taught — requires access to individual digits aligned by place value. Tokenisation splits by how often a fragment appears in text, which has nothing to do with arithmetic structure.
So the model is not doing addition badly. It has nothing to do addition WITH.
This is the first of three reasons arithmetic fails, and the most concrete.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 flattens the distribution before sampling. Low means near-deterministic; high means low-probability tokens get a realistic chance.
The important caveat, and say it explicitly: low temperature reduces variation, it does not fix correctness. A low-temperature model samples consistently from the same distribution. If that distribution favours a wrong answer, you get the wrong answer consistently.
Consistency and correctness are different properties. People conflate them constantly.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these one at a time. The third is the one they will meet.
Then land the point: nothing in the architecture distinguishes these three cases. It is the same operation on the same function. The probabilities are just the probabilities.
Their doubt agent, ungrounded, will invent a worked example in their own notation at the right difficulty level, and no student could tell.</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to write on the whiteboard, if you write one thing.
It reframes hallucination from a defect awaiting a patch into a structural property. That matters because it changes what they do about it: you cannot prompt your way out of an architectural limit, you design around it.
Everything in Sections 7, 10 and 11 is designing around this slide.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Section 7 land.
Say plainly: there are far too many possible sums of sixty two-digit numbers for any of them to have been memorised. The model must generalise, and what it generalises is the FORM of an answer, not the value.
Then the five-second diagnostic, which they should use forever: run it three times. If the number moves, it was never computed.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go quiet here.
Engineering faculty already half-suspect LLMs are bad at arithmetic. You are confirming a suspicion and then, in Section 7, handing them the fix. That is a much stronger position than surprising them with a failure.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through both days.
There is no grammar module and a separate truth module. One mechanism produces both, which means the polish of the output tells you nothing about whether it is right.
Flag forward to Section 8: this is also why a grading model rewards fluent writing over correct content. Same mechanism, different consequence.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this table is in Chapter 3 and worth keeping somewhere findable.
The reason it matters professionally: when a colleague brings them a failure in November, the useful answer is not "AI is unreliable." It is "that is confident invention on absent material, here is the line that prevents it."
That is the difference between having attended a workshop and having understood something.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practical, twelve minutes. This is plumbing, and they need it before Lab 4A.
Everything here is a consequence of Section 4. Say so as you go — the rate limits are the only thing that is not.</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row is the whole slide. Read it aloud.
"A broken deterministic Actor throws an error and stops. A broken AI Actor completes successfully and hands you something that looks correct."
Every design decision for the rest of today follows from that sentence. Come back to it when you introduce the moderator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rebuild gotcha will catch about a third of the room. Say it twice and it will still catch some.
On the input-field point: this is a real security habit, not pedantry. Exported code and run records travel.
Remind them again at the end of Day 3 to revoke both keys.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two minutes here. It prevents the most common failure of the day.
Nothing today runs calls in parallel. Everything is sequential with a delay. Slow and complete beats fast and half-failed.
If someone hits the daily quota, they are done for the day on that key — pair them with a neighbour rather than letting them keep clicking.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wrap JSON in code fences habitually despite being told not to. Fighting it is a waste of time; handle it.
Three lines of defence, and tell them to put it in every parser they ever write.
Also flag the try/catch around each call: without it, one malformed response kills the whole run and they lose everyone else's results.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prompt-iteration step is the one to push. Make them do four iterations on the Input tab and watch the clock — two minutes for four attempts. That is only possible because the prompt is an input.
In Lab 5A there is a deliberate trap: Bhavesh scores 42 per cent, the rule says "strictly below 40". Some models still set needs_meeting to true — applying judgement over the stated rule. Make sure people notice it. That is the silent-error class the whole afternoon is about.
Also have them deliberately break the parser and watch the run survive.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wall. Show them a question a flow cannot answer, then hand them the thing that can.</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against a plain flow first so they see the generic answer.
Then decompose why it fails: steps 1 and 5 are the problem. In a flow you decide in advance what happens at every step. Here, what happens depends entirely on what the student said and how they respond.
This is the boundary. Everything after this slide is about crossing it.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parenthetical on Tools: you do not tell it which to use. That delegation of choice is the definition.
On the loop — this is what costs money and time. Three to ten API calls instead of one. Flag that now, because the next slide is about the bill.</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leave on screen while they build.
If anyone asks about ReAct, planner-executor or the agent taxonomies from yesterday morning — those are names for variations on this loop, and they will see the loop itself in code in ten minutes. Do not go down the taxonomy route.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payoff of choosing to write the loop rather than configure a node.
Say plainly: "Everything in agent engineering is refinement on those five lines of structure."
Then tell them what they get from having written it — they can change the stopping condition, add a validation step, log whatever they want. None of that is possible inside a node you cannot open.</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for a tool description: what it does, exactly what it needs, and when to use it.
"Does calculations" is useless. The one on screen is usable.
Point out that the ONLY thing that changes between the agents they build today is this tools object. The sixty lines of loop stay identical. That is the lesson.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set it in the lab as step one, not step nine.
The second instruction is less obvious and just as important — over-cautious looping is more common than runaway looping in practice.
In Lab 6A they deliberately set it to 1 and watch the cap fire. Make sure they do that.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Counterintuitive and true. The instinct is to give it every capability available.
"Every tool you add makes every decision harder."
Add a third only when they have watched it genuinely fail for want of it.</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is not optional. Give them four silent minutes to read the loop and find the five parts before anyone clicks Build.
Then press the trace point hard. It is the only way to understand WHY an agent did something. An agent that gave a wrong answer usually shows exactly where it went astray.
Debugging by re-reading output is guesswork. Debugging by reading the trace is diagnosis.
The negative test in bullet four is the one people skip. If the tool fires when it should not, their description is too broad — and they fix it on the Input tab, no rebuild.</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Section 4, and the framing has changed from previous versions of this workshop.
Do NOT present the arithmetic failure as a surprise. They read Chapter 2 and you taught the mechanism this morning. A reveal would fall flat and, worse, would look like you were trying to trick them.
Instead: "You know why this is about to fail. Predict the answer before I run it."
A predicted failure confirmed is stronger than a magic trick, especially for engineers. It is the difference between a demo and an experiment.</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Take predictions from the room FIRST — two or three people out loud.
Then run it and write the number on the whiteboard. Then run it twice more and write those beside the first.
Three different answers to one arithmetic question, and the room predicted it. That whiteboard is the most persuasive object in the two days. Leave it up for the rest of the session.
Most runs land between 60 and 75 — enough to move the attainment level by two full bands, in the generous direction, on a number destined for an accreditation file.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room goes quiet. Let it.
Engineering faculty already suspect LLMs are bad at arithmetic — you are confirming a suspicion and then handing them the fix, which is a much better position than surprising them.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generalised. Anywhere a number, a date, a lookup or a fact must be exactly right, it comes from a tool.
This single principle separates an agent you can put in front of a department from a demonstration.
Note what did NOT change: same model, same data. Only the division of labour changed.</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an agent willing to do EASY arithmetic itself will also be willing to do hard arithmetic itself, and the hard ones are where it gets things wrong.
So the prohibition has to be absolute, including simple percentages. No carve-outs.
In Lab 7 they will test whether it obeys. If it computes a percentage itself, the instruction needs strengthening.</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a tool does NOT prevent. Make this explicit.
A tool guarantees the calculation is correct. It does not guarantee the agent passed the right arguments. It could correctly call calculate_attainment while passing q2 and q5. The maths would be flawless and the answer wrong.
Same trick as the CO justifications yesterday. Point that back — it is a pattern, not a one-off.</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lab. Enforce Part A — people will want to skip to the working version.
The CO7 test in the last bullet is the one that matters most. If it invents a number for a non-existent CO, that is a fabricated figure in an accreditation document. Make everyone run that test and confirm the refusal.
Float continuously during this lab. The common technical stall is the tool input parsing — the query variable arrives as a string and needs JSON.parse.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Second-longest section. The payoff moment is the moderator overruling the grader — rehearse until that reliably happens on your demo data.</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ethical core of the day, and it is placed here deliberately — attached to a live consequential decision rather than floating on a slide at 9 am.
The sample data is built for this: S003 is correct but awkward, S004 is fluent and wrong. A single grader typically scores S004 at or above S003.
Have them find it themselves in the lab rather than telling them the answer.</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3 and 4 exist specifically to catch the bias from the previous slide. Point that out — it is a designed countermeasure, not a generic checklist.
The final paragraph is the load-bearing one. If their moderator rubber-stamps in the lab, this is what they add.</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do this arithmetic against their actual class size before deploying anything.
A flow that works on five and dies on eighty fails at exactly the moment they needed it.
Then the honest counterpoint: most of the time multi-agent is not worth it. If a task has one right answer and a deterministic check exists, use the check. Verifying a paper totals 20 marks needs a line of JavaScript, not a reviewing agent.
Use a second agent only for judgements that genuinely require judgement.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as practical advice, not a legal disclaimer. It is the difference between a pilot that survives and one that gets shut down after a complaint.
The two quoted positions at the end are the takeaway. Suggest they write the first one into any proposal they put to their department.
If someone says their institution has no policy — that means they are setting precedent. Set it deliberately and in writing.</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in bullet five is the highest-value exercise available to them. It teaches exactly how far to trust this, on material with a ground truth they produced.
If someone's moderator agrees with everything, give them the strengthening line from the manual: "You must find at least one point of disagreement."
Quota warning: three agents across five submissions is about 15 calls per run. One full run is about a minute of quota. Tell them not to run it repeatedly out of curiosity.</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came from a faculty member in this room, which is worth saying — it is the most directly useful thing in the two days.
It is also where the workflow-versus-agent distinction stops being theoretical, because you build it both ways on the same data and watch the difference.</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person who asked, by name if they are comfortable with it.
Then be honest about the two problems: it is not an agent as described, and the scheduling will not work the way they expect on a lab machine.
Both are worth ten minutes because both generalise.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respectfully but do not soften it. If forty faculty leave believing "scheduled plus branching equals agent", it quietly undoes Section 7.
Then immediately say the workflow version is the RIGHT answer to what was asked, and they will deploy it on Monday. This is not a rejection of the request.
The next slide is where it gets interesting.</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section. Give the room a moment to read it.
All three sit at roughly the same percentage today. A threshold rule treats them identically, and it MUST, because percentage is the only thing it looks at.
Ask the room what they would do about R007. Someone will say "nothing, leave them alone." That is exactly right, and no threshold can express it.
You could add a rule about the previous month. Then one about days since contact. Then one about repeat cases. Twenty rules later you no longer understand their interactions, which is the fate of every sufficiently elaborated rule engine.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distinction becomes real for them.
Part B gets three tools: current attendance, student history, days-since-a-date. Then a goal rather than a procedure: decide who to contact, who to escalate, who to leave alone, and record a reason.
It looks at the figures, decides it needs history to tell these students apart, goes and gets it, checks how recent the last contact was, and reaches three different conclusions with three different reasons.
Not the schedule. Not the branching. The fact that deciding what to look up is itself part of the task.</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firm here and brief. This is architecture, not caution.
Two mechanisms from production mail systems that they should adopt permanently:
A recipient override that redirects every message to one address regardless of the data, with the intended recipient in the subject line. They still send real mail and read it in a real inbox, and nothing can escape.
And two conditions to open the gate — override cleared AND a separate acknowledgement. A single checkbox gets ticked absent-mindedly.</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recommendation, and say it out loud: for THIS task, Apps Script is the best tool, even though it is neither of the platforms we have been teaching.
It lives in the sheet, reads it natively, sends from their own Gmail, has built-in time triggers, needs nothing installed and no app password, and the student data never leaves Google.
Teaching "here is when not to use the thing I just taught you" is the most credible thing you will do in two days. Do not skip it.
Use Apify when the deciding is genuinely hard — Part B. Use Apps Script when the job is read a sheet and send mail, which is most weeks.</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two is the one to protect if you run short. Thirty seconds, and it makes the case for review mode better than any warning from you — the drafts start rounding figures and inventing claims about exam eligibility.
R015 in the sample data has a deliberately blank attendance figure. It checks that their code skips the row rather than reading blank as zero and telling a parent their child attended nothing. Make sure someone notices.
Every address in the sample data ends in .invalid, which by internet standard can never resolve. Nothing can reach a real person. Say that once so nobody worries.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stakes at the top. This is the one build where getting it wrong affects someone other than the faculty member.</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them three days. Reaching for the vector pipeline first is the most common way to spend a week building something a five-minute approach handles.
Only go further when grounding across a whole programme rather than one course.</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three properly. Their notation, their simplifying assumptions, their conventions may differ from textbook consensus.
The agent must follow THEM, and flag the difference rather than silently correcting them in front of a student.
Concrete example from the sample material: the course uses 3NF as the practical target and a specific FD notation. A generic model would drift to the textbook version.</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plainly why this is not a refinement to add later: colleagues will reject the tool outright, and correctly, if it hands out solutions.
The lab tests it under pressure — "I don't have time, just give me the full answer." A constraint that collapses under mild pressure is not a constraint. Make sure everyone runs that test.
Also flag the escalation path: grade queries, deadlines, and any mention of personal difficulty go to a human immediately. Design that FIRST, not last.</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who deploy these consistently report this as the most valuable output.
The answers help students. The QUESTIONS tell them how to teach the course better next semester.
This is a genuinely good closing note for the section — it reframes the agent as a teaching instrument rather than a labour-saving device.</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capitalised tests are not optional and you should say so.
A Socratic constraint that collapses under mild pressure is not a constraint, and "just give me the answer" is the first thing any student tries.
An agent that attempts to counsel a student in difficulty is a serious problem, not a feature. Correct behaviour is a warm, prompt handoff to a person — not a refusal that reads as a rebuff, and not an attempt to help. Verify it every time the prompt changes.
Also check the opposite failure: if it refuses to explain an unassessed conceptual question, the constraint is too broad and will frustrate students who are learning legitimately.</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and it is probably what determines whether any of this is still in use in November.
Open by asking the room directly: "You have built a grading agent. It produces scores. The scores look reasonable. Is it any good?"
Let the silence sit. Most people have no answer,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first bullet straight back to Section 4. This is the same point as "it is fluent before it is correct", applied to their own judgement of the system.
The last bullet is worth landing carefully. Everyone in the room has a story about the time it produced something brilliant. That story is why they are here, and it tells them almost nothing about reliability.</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the one people get wrong and it invalidates everything. Emphasise it.
Faculty are unusually well placed for this compared to most people trying to evaluate AI systems — they have thousands of graded submissions sitting in a drawer. Point that out; it makes the task feel achievable rather than academic.</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of error matters more than the rate, and it is the one people never look at. A single accuracy figure hides it entirely.
The consistency measure takes five minutes and is the one most likely to disqualify a system outright — two students with identical work receiving different marks is indefensible regardless of average accuracy.
The fourth bullet also has a hidden benefit worth mentioning: sometimes evaluating a system reveals that your RUBRIC was ambiguous, and you had been resolving that ambiguity unconsciously for years. That is a useful finding with or without AI.</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that makes evaluation tractable rather than paralysing.
The standard is not perfection. Nobody achieves perfection, including them. The standard is whether it falls within the spread that already exists between competent human graders in their department.
That is a question they can actually answer, and answering it usually takes an afternoon.</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unusual in software and worth dwelling on for a moment, because it violates an assumption every engineer holds.
They are used to pinning a version. Here they cannot. The thing underneath their prompt can change without any change on their side, and the only detection mechanism is a dated test set they re-run.
Then close with the honest note: be willing to conclude it does not work. If checking the output costs more than doing the work — which happens more than people admit — that is a legitimate finding, and it is more than most people manage.</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Starter code for all five lanes is in the shared folder. Nobody starts from a blank file — say that explicitly, because a blank editor at 1.45 pm is how capstones fail.
Two cores: the agent loop for lanes A, B, D and E, and the pipeline for lane C. Core 1 is byte-identical to Lab 6A, which they have already read line by line.
Only the tools block changes. That is the fourth time today they will have seen that, and by now it should feel obvious.</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Enforce the paper stage. Most capstones that fail, fail because nobody decided what they were building.
The clause in bullet three is the useful filter. "Repetitive" is not enough on its own — it has to be something where they would notice a bad answer, because otherwise they cannot supervise it and should not deploy it.
Hand out paper if you need to. Ten minutes of silence.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prevents the commonest failure. Paste, build, run, see output, THEN customise. Faculty who customise first debug two things at once and finish with nothing to demo.
The out-of-scope test is worth 20 of the 100 assessment marks. Ask it about data that does not exist — a student, a CO, a topic. It must refuse, not produce a plausible figure. An agent that invents when data is missing is worse than no agent.
The hard stop is not negotiable. Every year somebody demos an untested build and it fails live.
And insist on part three of the demo. A reel of successes teaches nothing and quietly signals that failures are embarrassing. The failures are the transferable content.</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Not a futurism slide — a commitment device.</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blunt. They have all been to workshops that produced nothing, and naming it is more useful than pretending this one is different by default.
Then give them the specific remedy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three is the highest-value exercise available to them and worth calling out.
Grade five themselves, run the agent, compare. They learn exactly where it agrees, where it diverges, and how far to trust it — on their own material with a ground truth they produced.
Weeks 1-2: one workflow, one course, used in earnest, note every failure. Weeks 3-4: fix what failed, show one colleague. Their questions find the assumptions you cannot see.</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bullet is a concrete, actionable thing for whoever runs the department. Mention it specifically to the HoD if present.
On ownership — resist the committee instinct. Name one person or it dies.
Cost honesty: free tier is genuinely sufficient for one teacher on their own courses. Student-facing at cohort scale needs a paid tier. Say so rather than overselling.</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forecast. Forecasts age badly and they will remember this line.
Then the final ask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make them write it. Pause, hand out paper if needed, wait thirty seconds in silence. The pause is the point.
Then the housekeeping — the key revocation is not optional on shared machines. Walk them through it if there is time.
Propose a follow-up in four to six weeks where people bring what actually worked and what quietly died. The second category is more useful than the first.
Thank the lab team by name. They did two days of unglamorous work to make this possible.</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last slide up during questions.
Point them at the shared folder one more time — study material, lab manual, starter workflows, sample data.
Remind them one final time about key revocation before they walk out.</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FACULTY DEVELOPMENT WORKSHOP</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Agentic AI for Teaching</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&amp; Academic Processes</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From simple flows, to good prompts, to working agents</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8</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and 9</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47531-A90D-E2CD-2B0E-A3286D0B6D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B001B3B-8309-199A-E4D5-92F5327AEADC}"/>
              </a:ext>
            </a:extLst>
          </p:cNvPr>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AI</a:t>
            </a:r>
            <a:endParaRPr lang="en-US" sz="3400" dirty="0"/>
          </a:p>
        </p:txBody>
      </p:sp>
      <p:sp>
        <p:nvSpPr>
          <p:cNvPr id="3" name="Shape 1">
            <a:extLst>
              <a:ext uri="{FF2B5EF4-FFF2-40B4-BE49-F238E27FC236}">
                <a16:creationId xmlns:a16="http://schemas.microsoft.com/office/drawing/2014/main" id="{6D50486E-7810-507E-EEF0-EE88A03FF218}"/>
              </a:ext>
            </a:extLst>
          </p:cNvPr>
          <p:cNvSpPr/>
          <p:nvPr/>
        </p:nvSpPr>
        <p:spPr>
          <a:xfrm>
            <a:off x="640080" y="1298448"/>
            <a:ext cx="1371600" cy="45720"/>
          </a:xfrm>
          <a:prstGeom prst="rect">
            <a:avLst/>
          </a:prstGeom>
          <a:solidFill>
            <a:srgbClr val="C8102E"/>
          </a:solidFill>
          <a:ln/>
        </p:spPr>
        <p:txBody>
          <a:bodyPr/>
          <a:lstStyle/>
          <a:p>
            <a:endParaRPr lang="en-US"/>
          </a:p>
        </p:txBody>
      </p:sp>
      <p:pic>
        <p:nvPicPr>
          <p:cNvPr id="4" name="Why you need AI.mp4">
            <a:hlinkClick r:id="" action="ppaction://media"/>
            <a:extLst>
              <a:ext uri="{FF2B5EF4-FFF2-40B4-BE49-F238E27FC236}">
                <a16:creationId xmlns:a16="http://schemas.microsoft.com/office/drawing/2014/main" id="{45683807-65DA-DC57-0D31-2438F148C5D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911408" y="845820"/>
            <a:ext cx="3555629" cy="4819880"/>
          </a:xfrm>
          <a:prstGeom prst="rect">
            <a:avLst/>
          </a:prstGeom>
        </p:spPr>
      </p:pic>
      <p:sp>
        <p:nvSpPr>
          <p:cNvPr id="8" name="TextBox 7">
            <a:extLst>
              <a:ext uri="{FF2B5EF4-FFF2-40B4-BE49-F238E27FC236}">
                <a16:creationId xmlns:a16="http://schemas.microsoft.com/office/drawing/2014/main" id="{E60CA880-E252-5505-9BB4-B5E189FCE1AE}"/>
              </a:ext>
            </a:extLst>
          </p:cNvPr>
          <p:cNvSpPr txBox="1"/>
          <p:nvPr/>
        </p:nvSpPr>
        <p:spPr>
          <a:xfrm>
            <a:off x="640080" y="2571337"/>
            <a:ext cx="4151536" cy="523220"/>
          </a:xfrm>
          <a:prstGeom prst="rect">
            <a:avLst/>
          </a:prstGeom>
          <a:noFill/>
        </p:spPr>
        <p:txBody>
          <a:bodyPr wrap="square">
            <a:spAutoFit/>
          </a:bodyPr>
          <a:lstStyle/>
          <a:p>
            <a:r>
              <a:rPr lang="en-US" sz="2800" dirty="0"/>
              <a:t>Ever been in this situation</a:t>
            </a:r>
          </a:p>
        </p:txBody>
      </p:sp>
    </p:spTree>
    <p:extLst>
      <p:ext uri="{BB962C8B-B14F-4D97-AF65-F5344CB8AC3E}">
        <p14:creationId xmlns:p14="http://schemas.microsoft.com/office/powerpoint/2010/main" val="12734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03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69CA6-4B39-A1F6-FBC1-82E923FDD2A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F2A0421-B449-7B81-9E49-67231401DEA9}"/>
              </a:ext>
            </a:extLst>
          </p:cNvPr>
          <p:cNvSpPr txBox="1"/>
          <p:nvPr/>
        </p:nvSpPr>
        <p:spPr>
          <a:xfrm>
            <a:off x="310295" y="418558"/>
            <a:ext cx="4691363"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AI  has </a:t>
            </a:r>
            <a:r>
              <a:rPr lang="en-US" sz="3400" b="1" dirty="0">
                <a:solidFill>
                  <a:srgbClr val="1C2024"/>
                </a:solidFill>
                <a:latin typeface="Cambria" pitchFamily="34" charset="0"/>
              </a:rPr>
              <a:t>the answer</a:t>
            </a:r>
          </a:p>
        </p:txBody>
      </p:sp>
      <p:sp>
        <p:nvSpPr>
          <p:cNvPr id="3" name="Shape 1">
            <a:extLst>
              <a:ext uri="{FF2B5EF4-FFF2-40B4-BE49-F238E27FC236}">
                <a16:creationId xmlns:a16="http://schemas.microsoft.com/office/drawing/2014/main" id="{B016AED2-3EB3-A755-2564-3578A0090E4D}"/>
              </a:ext>
            </a:extLst>
          </p:cNvPr>
          <p:cNvSpPr/>
          <p:nvPr/>
        </p:nvSpPr>
        <p:spPr>
          <a:xfrm>
            <a:off x="310294" y="1287238"/>
            <a:ext cx="3677811" cy="45719"/>
          </a:xfrm>
          <a:prstGeom prst="rect">
            <a:avLst/>
          </a:prstGeom>
          <a:solidFill>
            <a:srgbClr val="C8102E"/>
          </a:solidFill>
          <a:ln/>
        </p:spPr>
        <p:txBody>
          <a:bodyPr/>
          <a:lstStyle/>
          <a:p>
            <a:endParaRPr lang="en-US"/>
          </a:p>
        </p:txBody>
      </p:sp>
      <p:sp>
        <p:nvSpPr>
          <p:cNvPr id="6" name="TextBox 5">
            <a:extLst>
              <a:ext uri="{FF2B5EF4-FFF2-40B4-BE49-F238E27FC236}">
                <a16:creationId xmlns:a16="http://schemas.microsoft.com/office/drawing/2014/main" id="{7221A506-EE7D-2CCD-C9A4-EA379D63AA86}"/>
              </a:ext>
            </a:extLst>
          </p:cNvPr>
          <p:cNvSpPr txBox="1"/>
          <p:nvPr/>
        </p:nvSpPr>
        <p:spPr>
          <a:xfrm>
            <a:off x="310294" y="2560320"/>
            <a:ext cx="4151536" cy="523220"/>
          </a:xfrm>
          <a:prstGeom prst="rect">
            <a:avLst/>
          </a:prstGeom>
          <a:noFill/>
        </p:spPr>
        <p:txBody>
          <a:bodyPr wrap="square">
            <a:spAutoFit/>
          </a:bodyPr>
          <a:lstStyle/>
          <a:p>
            <a:r>
              <a:rPr lang="en-US" sz="2800" dirty="0"/>
              <a:t>https://</a:t>
            </a:r>
            <a:r>
              <a:rPr lang="en-US" sz="2800" dirty="0" err="1"/>
              <a:t>shorturl.at</a:t>
            </a:r>
            <a:r>
              <a:rPr lang="en-US" sz="2800" dirty="0"/>
              <a:t>/QrI9g</a:t>
            </a:r>
          </a:p>
        </p:txBody>
      </p:sp>
      <p:pic>
        <p:nvPicPr>
          <p:cNvPr id="9" name="Picture 8">
            <a:extLst>
              <a:ext uri="{FF2B5EF4-FFF2-40B4-BE49-F238E27FC236}">
                <a16:creationId xmlns:a16="http://schemas.microsoft.com/office/drawing/2014/main" id="{6237911E-0EF6-1D0F-9E9A-EB771877CCC0}"/>
              </a:ext>
            </a:extLst>
          </p:cNvPr>
          <p:cNvPicPr>
            <a:picLocks noChangeAspect="1"/>
          </p:cNvPicPr>
          <p:nvPr/>
        </p:nvPicPr>
        <p:blipFill>
          <a:blip r:embed="rId3"/>
          <a:stretch>
            <a:fillRect/>
          </a:stretch>
        </p:blipFill>
        <p:spPr>
          <a:xfrm>
            <a:off x="5567957" y="260350"/>
            <a:ext cx="5308600" cy="6337300"/>
          </a:xfrm>
          <a:prstGeom prst="rect">
            <a:avLst/>
          </a:prstGeom>
        </p:spPr>
      </p:pic>
    </p:spTree>
    <p:extLst>
      <p:ext uri="{BB962C8B-B14F-4D97-AF65-F5344CB8AC3E}">
        <p14:creationId xmlns:p14="http://schemas.microsoft.com/office/powerpoint/2010/main" val="13491464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contract for these two sessions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today: a working question paper generator, grounded in YOUR syllabus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tomorrow: four working academic AI assets, one built from scratch for your own subject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Everything runs on free tiers. Zero cost, today and afterwards.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You will watch things fail. Deliberately, and more than once.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workshop that only shows successes teaches you that this works — which is half a truth, and the more dangerous half.</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order we build in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Simple flows  →  good prompts  →  agents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Most workshops start with the word "agent" and never recover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Participants leave impressed and unable to build anything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 do the reverse. By the time we say "agent" you will already have built something that works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You will understand precisely which problem the agent is solving, because you will have hit the wall it solves.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you leave with</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1722120"/>
        </p:xfrm>
        <a:graphic>
          <a:graphicData uri="http://schemas.openxmlformats.org/drawingml/2006/table">
            <a:tbl>
              <a:tblPr/>
              <a:tblGrid>
                <a:gridCol w="5486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Asset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teaches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Question paper generator, CO + Bloom’s mapped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Today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Prompting and grounding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CO–PO attainment analyser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Tool use — calculate, don’t guess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Rubric grader with a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Multi-agent review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Course doubt-solving agent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PM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Retrieval and guardrails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actually changed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Chatbots, workflows, agents — and why the difference matters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When you use a chatbot,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you are the runtime.</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 decide what to ask. You paste the material. You judge the output and decide the next step.</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intelligence is in the model. The process is in you. Close the tab and nothing persists.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tiers — and confusing them wastes months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Chatbot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Workflow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Agent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Who decides the steps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live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designer, in advance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model, at runtime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without you</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Same input, same output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Roughly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Exactly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Handles the unexpected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do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 it breaks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Sometimes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Zero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Moderate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trust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Check everything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Test once, then reliable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Ongoing supervision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ONLY QUESTION THAT MATTERS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Do the steps change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depending on what I find?</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no — build a workflow.    If yes — you may need an agent.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single question saves more time than any tool in this workshop.</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advice nobody gives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academic tasks do not need an agent. They need a workflow.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Computing attainment is a fixed procedure. The steps never change.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do not want a model deciding creatively how to calculate attainment this Tuesday.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want the same correct calculation, every single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Building that as an "agent" makes it slower, more expensive and less reliable.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industry talks about agents because agents are interesting. Your Friday afternoon is saved by workflows.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platforms, deliberately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Cloud. You write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Local. You drag boxes.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write it** — readable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Hidden inside a node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Install needed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None. Browser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Node.js on the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Iteration speed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Slower — code needs a rebuild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your work lives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account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That lab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Best for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Anything you will maintain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Schedules and connections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DIFFERENCE IN ONE LINE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n8n hides the loop.</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Actor shows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one line is the difference between the two platforms, and it recurs at every level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right up to the agent itself. Neither is better. Knowing which is which is the point.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Prompts that survive contact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highest-leverage hour of the workshop</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most faculty start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Generate 5 questions on Database Normalization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 my exam.</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Run this live. Read the output aloud. Then ask the room what is missing.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DIAGNOSIS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Vague prompts do not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wrong answers. They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average ones.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For teaching, average is the problem. It looks fine, so nobody checks it.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RCTFG — five components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1933956"/>
            <a:ext cx="475488" cy="475488"/>
          </a:xfrm>
          <a:prstGeom prst="ellipse">
            <a:avLst/>
          </a:prstGeom>
          <a:solidFill>
            <a:srgbClr val="C8102E"/>
          </a:solidFill>
          <a:ln/>
        </p:spPr>
        <p:txBody>
          <a:bodyPr/>
          <a:lstStyle/>
          <a:p>
            <a:endParaRPr lang="en-US"/>
          </a:p>
        </p:txBody>
      </p:sp>
      <p:sp>
        <p:nvSpPr>
          <p:cNvPr id="5" name="Text 3"/>
          <p:cNvSpPr txBox="1"/>
          <p:nvPr/>
        </p:nvSpPr>
        <p:spPr>
          <a:xfrm>
            <a:off x="822960" y="193395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 — Role</a:t>
            </a:r>
            <a:endParaRPr lang="en-US" sz="1600" dirty="0"/>
          </a:p>
        </p:txBody>
      </p:sp>
      <p:sp>
        <p:nvSpPr>
          <p:cNvPr id="7" name="Text 5"/>
          <p:cNvSpPr txBox="1"/>
          <p:nvPr/>
        </p:nvSpPr>
        <p:spPr>
          <a:xfrm>
            <a:off x="1481328" y="2148840"/>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Who is the model being? Sets vocabulary, audience and depth.</a:t>
            </a:r>
            <a:endParaRPr lang="en-US" sz="1350" dirty="0"/>
          </a:p>
        </p:txBody>
      </p:sp>
      <p:sp>
        <p:nvSpPr>
          <p:cNvPr id="8" name="Shape 6"/>
          <p:cNvSpPr/>
          <p:nvPr/>
        </p:nvSpPr>
        <p:spPr>
          <a:xfrm>
            <a:off x="822960" y="2839212"/>
            <a:ext cx="475488" cy="475488"/>
          </a:xfrm>
          <a:prstGeom prst="ellipse">
            <a:avLst/>
          </a:prstGeom>
          <a:solidFill>
            <a:srgbClr val="C8102E"/>
          </a:solidFill>
          <a:ln/>
        </p:spPr>
        <p:txBody>
          <a:bodyPr/>
          <a:lstStyle/>
          <a:p>
            <a:endParaRPr lang="en-US"/>
          </a:p>
        </p:txBody>
      </p:sp>
      <p:sp>
        <p:nvSpPr>
          <p:cNvPr id="9" name="Text 7"/>
          <p:cNvSpPr txBox="1"/>
          <p:nvPr/>
        </p:nvSpPr>
        <p:spPr>
          <a:xfrm>
            <a:off x="822960" y="283921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68833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C — Context</a:t>
            </a:r>
            <a:endParaRPr lang="en-US" sz="1600" dirty="0"/>
          </a:p>
        </p:txBody>
      </p:sp>
      <p:sp>
        <p:nvSpPr>
          <p:cNvPr id="11" name="Text 9"/>
          <p:cNvSpPr txBox="1"/>
          <p:nvPr/>
        </p:nvSpPr>
        <p:spPr>
          <a:xfrm>
            <a:off x="1481328" y="3054096"/>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material must it work from? This is what makes it YOUR generator.</a:t>
            </a:r>
            <a:endParaRPr lang="en-US" sz="1350" dirty="0"/>
          </a:p>
        </p:txBody>
      </p:sp>
      <p:sp>
        <p:nvSpPr>
          <p:cNvPr id="12" name="Shape 10"/>
          <p:cNvSpPr/>
          <p:nvPr/>
        </p:nvSpPr>
        <p:spPr>
          <a:xfrm>
            <a:off x="822960" y="3744468"/>
            <a:ext cx="475488" cy="475488"/>
          </a:xfrm>
          <a:prstGeom prst="ellipse">
            <a:avLst/>
          </a:prstGeom>
          <a:solidFill>
            <a:srgbClr val="C8102E"/>
          </a:solidFill>
          <a:ln/>
        </p:spPr>
        <p:txBody>
          <a:bodyPr/>
          <a:lstStyle/>
          <a:p>
            <a:endParaRPr lang="en-US"/>
          </a:p>
        </p:txBody>
      </p:sp>
      <p:sp>
        <p:nvSpPr>
          <p:cNvPr id="13" name="Text 11"/>
          <p:cNvSpPr txBox="1"/>
          <p:nvPr/>
        </p:nvSpPr>
        <p:spPr>
          <a:xfrm>
            <a:off x="822960" y="37444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59359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 — Task</a:t>
            </a:r>
            <a:endParaRPr lang="en-US" sz="1600" dirty="0"/>
          </a:p>
        </p:txBody>
      </p:sp>
      <p:sp>
        <p:nvSpPr>
          <p:cNvPr id="15" name="Text 13"/>
          <p:cNvSpPr txBox="1"/>
          <p:nvPr/>
        </p:nvSpPr>
        <p:spPr>
          <a:xfrm>
            <a:off x="1481328" y="3959352"/>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exactly must it produce? Specific enough that two people would produce comparable output.</a:t>
            </a:r>
            <a:endParaRPr lang="en-US" sz="1350" dirty="0"/>
          </a:p>
        </p:txBody>
      </p:sp>
      <p:sp>
        <p:nvSpPr>
          <p:cNvPr id="16" name="Shape 14"/>
          <p:cNvSpPr/>
          <p:nvPr/>
        </p:nvSpPr>
        <p:spPr>
          <a:xfrm>
            <a:off x="822960" y="4649724"/>
            <a:ext cx="475488" cy="475488"/>
          </a:xfrm>
          <a:prstGeom prst="ellipse">
            <a:avLst/>
          </a:prstGeom>
          <a:solidFill>
            <a:srgbClr val="C8102E"/>
          </a:solidFill>
          <a:ln/>
        </p:spPr>
        <p:txBody>
          <a:bodyPr/>
          <a:lstStyle/>
          <a:p>
            <a:endParaRPr lang="en-US"/>
          </a:p>
        </p:txBody>
      </p:sp>
      <p:sp>
        <p:nvSpPr>
          <p:cNvPr id="17" name="Text 15"/>
          <p:cNvSpPr txBox="1"/>
          <p:nvPr/>
        </p:nvSpPr>
        <p:spPr>
          <a:xfrm>
            <a:off x="822960" y="464972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449884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F — Format</a:t>
            </a:r>
            <a:endParaRPr lang="en-US" sz="1600" dirty="0"/>
          </a:p>
        </p:txBody>
      </p:sp>
      <p:sp>
        <p:nvSpPr>
          <p:cNvPr id="19" name="Text 17"/>
          <p:cNvSpPr txBox="1"/>
          <p:nvPr/>
        </p:nvSpPr>
        <p:spPr>
          <a:xfrm>
            <a:off x="1481328" y="4864608"/>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shape must the output take? Under-specified format is why output is unusable.</a:t>
            </a:r>
            <a:endParaRPr lang="en-US" sz="1350" dirty="0"/>
          </a:p>
        </p:txBody>
      </p:sp>
      <p:sp>
        <p:nvSpPr>
          <p:cNvPr id="20" name="Shape 18"/>
          <p:cNvSpPr/>
          <p:nvPr/>
        </p:nvSpPr>
        <p:spPr>
          <a:xfrm>
            <a:off x="822960" y="5554980"/>
            <a:ext cx="475488" cy="475488"/>
          </a:xfrm>
          <a:prstGeom prst="ellipse">
            <a:avLst/>
          </a:prstGeom>
          <a:solidFill>
            <a:srgbClr val="C8102E"/>
          </a:solidFill>
          <a:ln/>
        </p:spPr>
        <p:txBody>
          <a:bodyPr/>
          <a:lstStyle/>
          <a:p>
            <a:endParaRPr lang="en-US"/>
          </a:p>
        </p:txBody>
      </p:sp>
      <p:sp>
        <p:nvSpPr>
          <p:cNvPr id="21" name="Text 19"/>
          <p:cNvSpPr txBox="1"/>
          <p:nvPr/>
        </p:nvSpPr>
        <p:spPr>
          <a:xfrm>
            <a:off x="822960" y="5554980"/>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481328" y="5404104"/>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G — Guardrails</a:t>
            </a:r>
            <a:endParaRPr lang="en-US" sz="1600" dirty="0"/>
          </a:p>
        </p:txBody>
      </p:sp>
      <p:sp>
        <p:nvSpPr>
          <p:cNvPr id="23" name="Text 21"/>
          <p:cNvSpPr txBox="1"/>
          <p:nvPr/>
        </p:nvSpPr>
        <p:spPr>
          <a:xfrm>
            <a:off x="1481328" y="5769864"/>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must it never do? Without these it always produces something.</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C — the line that does the most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COURSE OUTCOMES: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CO3: Apply normalization techniques to eliminate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redundancy and anomalies in schema design.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CO4: Analyse a given relational schema and decompose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it while preserving dependencies.</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NOT TAUGHT IN THIS COURSE: 5NF, domain-key normal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form, temporal databases.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last two lines are worth more than anything else in the prompt.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G — guardrails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CONSTRAINTS: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Use only topics in the syllabus above. If asked for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 topic not listed, say it is out of syllabus and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generate nothing for it.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Tag every question with the CO it assesses. Discard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any question that does not map to a listed CO.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Bloom's tags must match the verb actually used. Do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not label a "define" question as Analyse.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Marks must total exactly 20.</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these, the model always produces something — the failure you cannot detect by skimming.</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techniques worth the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Show one worked example — a single exemplar shapes output more than three paragraphs of description</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Make it justify itself — "explain why you assigned that CO and Bloom’s level"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wrong CO tag inside a table is nearly invisible. A wrong justification is obvious in one second.</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Anchor Bloom’s to verbs — models inflate everything to "Analyse" because it sounds better</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"Tag based on the verb the question requires, not the topic’s difficulty." Defining BCNF is Remember, however advanced BCNF is.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HABIT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Iterate on the prompt,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not the output.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output helps you once.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prompt helps you every time you use it for the rest of the semester.</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prompting cannot fix</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fluent before it is correct.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reliable at arithmetic — no prompt fixes this. Solution: tools, tomorrow.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know your material — that is grounding, tomorrow afternoon.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consistent — fine for question generation, a serious problem for 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admit ignorance reliably. Guardrails help; they do not eliminate confident invention.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Your judgement is not being replaced. It is being relocated — from producing to checking.</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 &amp; 2</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Prompt engineering, then make it permanent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65 minutes  ·  Lab Manual pages for Lab Test 1 and 2</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the naive prompt and diagnose it against six criteria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Build the prompt in five layers — run it after each one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the out-of-scope guard before and after adding guardrails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justifications and audit a wrong tag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Swap in YOUR subject, then save it as a Gem so you never retype it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3</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Your first Actor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Plumbing before intelligence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Every Actor is three sections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1. READ THE INPUT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input = await Actor.getInput();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2. DO THE WORK</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...ordinary JavaScript...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3. WRITE THE OUTPUT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await Actor.pushData(results);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Only the middle section ever changes. A grade calculator, an agent, a grading pipeline — all three sections, always.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DECISION THAT MAKES THIS PLATFORM USABLE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Put your prompts in the input schema.</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an input field: ten seconds, no rebuild.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the code: two minutes, every single time.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that cost you money or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Memory is what you are billed for.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Apify bills in Compute Units — 1 CU is 1 GB of RAM for 1 hour.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512 MB for 30 seconds costs a fraction of a cent. 4 GB costs eight times as much for identical work.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Always set the lowest memory that works. This is the biggest lever on your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data is kept for SEVEN DAYS. Export at the end of every run or it is gone by mid-next-week.</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Apify cost trap — two minutes that saves your $5</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Store Actors advertise "from $2 per 1,000 results". That FROM is doing heavy lifting.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the best-tier rate, unlocked by a paid subscription.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free plan sits in the FREE pricing tier and gets NO discount — typically 2 to 3 times the headline number, billed per result on top of compute.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self-built Actor at 512 MB for 30 seconds costs a fraction of a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build what you need. Rent only when the thing you need is genuinely hard.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set memory LOW. Apify bills 1 CU per GB-hour — 4 GB costs eight times as much for identical work.</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IF TRACK B IS RUNNING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Data in n8n is a list.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Every node runs once per item.</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items in means the node executes three times. You did not write a loop — the loop is in the data.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In your Actor, you wrote the for-loop yourself. Same result, opposite philosophy.</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3A &amp; 3B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Actor — then the same thing in n8n</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Tests 3A and 3B</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Actor: input schema, three sections, build, run at 512 MB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Verify one percentage by hand: 34 out of 50 is 68 per cent, grade C</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Change an input and re-run WITHOUT rebuilding — feel the fast path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identical logic in n8n and time both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Answer for yourself: which would still be runnable next month?</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DAY 3  ·  11 SEPTEMBER 2026</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Agents that use tools,</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check each other, and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run on your own material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By 4 pm: a working agent for your subject, plus three more you can run on Monday</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Yesterday: prompts and flows.  Today: tools, multi-agent review, grounding.</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4</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is actually happening in there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machinery, and the failures that follow from it</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ONE-SENTENCE DESCRIPTION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 language model is a function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that returns a probability distribution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over the next token.</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is the whole thing. The fluency, the apparent reasoning, the sense that something is thinking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all of it emerges from applying that function repeatedly.</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prediction loop, in full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sequence = tokenise(prompt)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repeat: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distribution = model(sequence)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next_token   = sample(distribution)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sequence     = sequence + next_token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until next_token == END or length exceeded</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return detokenise(sequence minus prompt)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Eight lines. Everything else in this workshop sits on top of this.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consequences, immediately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has no plan. When it emits the first token it has not decided what the answer is.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This is why "think step by step" genuinely helps. The intermediate tokens become part of the sequence, and later tokens are conditioned on them. The reasoning is not a report of a decision made earlier — the reasoning IS the mechanism.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cannot revise. Once a token is out, it is input for everything after. There is no backspace.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Which is why output quality collapses when a response starts down a wrong path.</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is a distribution, not a lookup. Nothing inside distinguishes "capital of France" from a topic it has never seen.</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Both are the same operation on the same function. Only the shape of the distribution differs — and the model cannot see that shape.</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Numbers tokenise by text frequency, not place value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The relation is not in third normal form.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-&gt;  The | relation | is | not | in | third | normal | form | .</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1247   -&gt;   12 | 47</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5891   -&gt;   58 | 91</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Boyce-Codd   -&gt;   Boyce | -C | odd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Column-wise addition needs digits aligned by position. The model has fragments.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Temperature, and what to set it to</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Task</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Temperature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Generating question variants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0.7 – 1.0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variety. Repetition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Grading against a rubric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0.0 – 0.3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consistency. Variety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Extracting structured data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Very 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There is one right answer.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Drafting feedback prose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0.4 – 0.6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 warmth, but not unpredictable.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the knowledge lives, and three regimes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Well-represented material — discussed extensively and consistently in training data</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Probability mass concentrated on the correct continuation. Standard normalisation theory. Reliable, nearly always.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Sparsely-represented material — an obscure topic</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Diffuse distribution. Several continuations similar in probability, one of which may be right. You get a fluent answer either way.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Absent material — the example you used in class on 14 August</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No correct continuation exists. But the function still returns a distribution, and something still gets sampled. You get a plausible example about 3NF, because plausible examples about 3NF are what the context makes probable.</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CONSEQUENCE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has no mechanism for</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representing the difference between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knowing and not knowing.</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not being dishonest when it invents your worked example.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has no faculty with which to be honest about this.</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arithmetic fails — three separate mechanisms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And all three are architectural, not fixable by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THERE IS NO ARITHMETIC. Nowhere in a transformer is there a unit that adds. "12 + 7 = 19" works because that string is abundant in training data. It learned the appearance of arithmetic on small numbers.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TOKENISATION DESTROYS PLACE VALUE. Column-wise addition needs aligned digits. The model has fragments split by text frequency.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OUTPUT IS SAMPLED. Even where the distribution favours the right answer, a nearby wrong one can be drawn.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Which is why the number changes when you ask again — and a calculation that changes between runs was never a calculation.</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shape of the failure is what makes it dangerous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quiet, it is plausible, and it is close.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 error. No warning. No hedging. A clean, specific, confident figure.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usually NEAR the truth. Ask for a percentage where the answer is 55 and you get something in the sixties. Not 400. Not zero.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number that passes any sanity check you would apply while skimming.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enters a CO-PO matrix. Then 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avoiding that was the whole reason for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SENTENCE FOR THE WHOLE WORKSHOP</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is fluent before it is correct.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Fluency and correctness are produced by the same mechanism, so fluency carries no information about accuracy.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Your instinct to trust confident prose is actively misleading here.</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Symptom to cause to fix — keep this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Specific fact you cannot verify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invention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Ground it; state out-of-scope; exact refusal string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changes between runs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arithmetic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stable but wrong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Wrong arguments to a right tool</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Make it state its inputs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Later rules ignored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Instruction decay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Fewer rules; critical ones last; validate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JSON.parse throws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Format drift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Fence-stripping parser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Fluent wrong answer scores high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Fluency bias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Separate content from expression; review pass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Quota gone in minutes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Runaway iteration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Hard cap of 5; explicit stopping instruction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7"/>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output from failed tools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Silent partial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 it to report failures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5</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Adding intelligence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Keys, limits, and getting output you can use</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changes when you add an AI call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Deterministic code</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throwing an error and STOPPING</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nothing to run</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Milliseconds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error</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An AI call</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similar not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CONTINUING with confident nonsense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API quota</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output and judging it</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about the API key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goes in Settings &gt; Environment variables, marked SECRET.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Environment variables are applied AT BUILD TIME. Add the key and run without rebuilding, and your Actor reports it missing.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Add it, THEN build. Every time you change it, rebuild again.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put a key in an input field. Input values are stored with the run and visible in the run record.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Form this habit here, where it costs nothing, so it is automatic when it matters.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Rate limits — this will affect you today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Test on three items. Never thirty.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Flash runs at roughly 15 requests per minute, with a daily ceiling in the low thousands.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Both are per-key. You each have your own key, so the room does not compete for one quota.</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Loop over thirty students and the first fifteen succeed while the rest fail with 429.</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Every Actor in the manual has a 4.5-second sleep in the loop. Do not remove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Rate limit (RPM) clears in under a minute. Quota exceeded (RPD) does not clear today — tell me rather than retrying.</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parser that prevents the most failed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function extractJson(raw)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cleaned = raw.replace(/```json/gi,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.replace(/```/g, '').trim();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start = cleaned.indexOf('{');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end   = cleaned.lastIndexOf('}');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if (start === -1 || end === -1)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throw new Error(`No JSON: ${raw.slice(0, 200)}`);</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return JSON.parse(cleaned.slice(start, end + 1));</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Strip the fences, find the outer braces, fail with the raw text visible.</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4A &amp; 5A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An Actor that calls Gemini, then structured output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70 minutes  ·  Lab Tests 4A and 5A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Key as a secret environment variable — then REBUILD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Prompt lives in the input schema, so you iterate without rebuilding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Three students in, three pieces of personalised feedback out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all three critically — specific, or three variants of one paragraph?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JSON, strip fences, parse safely, then check the model applied YOUR rule</a:t>
            </a:r>
            <a:endParaRPr lang="en-US" sz="15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6</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sequence to 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Tools, memory, and the loop</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WALL</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 did not understand the 3NF example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from Tuesday's class. Explain it differently?"</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To answer this, something must decide WHICH class, retrieve YOUR material, notice you want 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different approach, and adapt if the student is still confused. A flow cannot do that.</a:t>
            </a:r>
            <a:endParaRPr lang="en-US" sz="1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additions turn a flow into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Tools</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Things it can call. You give it several and do NOT tell it which to use — it decides. That decision is what makes it an agent.</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Memory</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A flow forgets between runs. An agent holding a conversation must remember what was already discussed.</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The loop</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think → act → observe → think → act → ... It reasons, acts, looks at the result, reasons again. Stops when it judges the task done.</a:t>
            </a:r>
            <a:endParaRPr lang="en-US" sz="13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DEFINITION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An agent is a model choosing</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its own path, one step at a time,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using tools you gave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sequence is a path you drew.</a:t>
            </a:r>
            <a:endParaRPr lang="en-US" sz="1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entire loop, in five steps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Build a prompt: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instructions + tool list + history + question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Ask the model what to do next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it names a tool, run it and push the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result into history</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If it gives an answer, stop</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 Repeat until answered, or the cap is reached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That is it. Sixty lines of ordinary JavaScript. You are about to write it.</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 tool is a description and a function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tools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description: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'Computes CO attainment exactly. args: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 questions: ["q2","q4"], threshold: 0.6 }.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yourself.',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run: async (args) =&gt; { /* real arithmetic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description is what the agent reads to decide. It is a prompt, and vague ones cause bad choices.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Set maxIterations to 5. Before your first run.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misconfigured agent can loop indefinitely.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calls a tool, dislikes the result, calls it again, on and 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On a free tier this exhausts your daily quota in minutes.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maxIterations is an INPUT in every Actor in your manual. Leave it at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matching instruction: "Once you have what you need, answer. Do not call more tools to double-check something you already have."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Without that line, agents burn iterations on reassurance.</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5">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DESIGN RULE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Give the agent fewer tools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you think it needs.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well-described tools beat ten. With too many it picks wrong, calls several unnecessarily,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burns iterations deciding, and produces a trace you cannot debug. Start with two.</a:t>
            </a:r>
            <a:endParaRPr lang="en-US" sz="1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6">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6A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agent loop — written by hand</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 6A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the sixty lines before you run them. That is the lab.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Find five things: the tools object, buildPrompt, the exit condition, the cap, trace.push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it and read the log — thought, tool, result, on every iteration</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that it does NOT call a tool when none is needed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Set maxIterations to 1 and watch the cap stop it</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7</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Tools — where it comes together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You already know why this fails. Now watch it, then fix it.</a:t>
            </a:r>
            <a:endParaRPr lang="en-US" sz="1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Predict it before I run it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Twenty students. CO3 is assessed by q2 and q4, each out of 10. Threshold 60 per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 am going to paste the whole table into a prompt and ask for the attainment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Before I do: will the number be right? Will it be the same if I ask twice?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Write down what you expect. Then we run it three times.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true answer is 11 of 20, which is 55.00 per cent — Level 1 on the institute scale.</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this matters more in academic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wrong attainment figure does not look wrong.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flows into a CO–PO matrix, then an NBA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that was the whole point of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 LLM does not compute. It predicts plausible text. Asked for a percentage it produces a number that LOOKS like a plausible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let a model do arithmetic that matters.</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PRINCIPLE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model decides.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tool computes.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chooses WHICH calculation to run and how to interpret the result — both things it is</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genuinely good at. The arithmetic is done by arithmetic.</a:t>
            </a:r>
            <a:endParaRPr lang="en-US" sz="1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instruction that does the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TOOLS AVAILABLE TO YOU:</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Computes attainment percentage.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counts or averages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yourself.</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Models are willing to do arithmetic and bad at it. Forbid it explicitly.</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SAFETY FEATURE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Make the agent state its inputs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before its result.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"Using questions q2 and q4, threshold 60%, across 58 records: CO3 attainment is 70.7%."</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wrong argument is invisible inside a percentage and obvious in a stated list.</a:t>
            </a:r>
            <a:endParaRPr lang="en-US" sz="1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7A &amp; 7B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attainment agent — built twice</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Tests 7A and 7B  ·  Answer key in Appendix C</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watch a model get it wrong, and verify by hand. Do not skip this.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Replace ONLY the tools block. The sixty lines of loop do not change.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Check the answer matches your hand count exactly — 11 of 20, 55.00 per cent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CO7 attainment. It must refuse, not invent a figure.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same agent in n8n and compare the two honestly</a:t>
            </a:r>
            <a:endParaRPr lang="en-US" sz="15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8</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Multi-agent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When one opinion is not enough</a:t>
            </a:r>
            <a:endParaRPr lang="en-US" sz="1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failures a single grading agent always commits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Neither is fixable by better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rewards fluency. A confidently written wrong answer scores higher than a correct answer written awkwardly.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drifts. Grade five in sequence and the standard shifts — the fifth is graded against a different bar than the first.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In an Indian engineering classroom, where many students work in a second or third language, the first maps directly onto an existing inequity.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Automating it means applying that bias uniformly, at scale, with the appearance of objectivity.</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critic's instructions — note the last line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 are a moderator reviewing a colleague's grading.</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Your job is to find problems, not to agree.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Has fluent writing been rewarded over correct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content?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Has correct content been penalised for poor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expression or non-native phrasing?</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Do not soften your assessment to be agreeable. A</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moderator who agrees with everything provides no value.</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that last paragraph, models default to agreeableness and you have paid twice for one opinion.</a:t>
            </a:r>
            <a:endParaRPr lang="en-US" sz="15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multi-agent costs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937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Calls per submission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For 30 submissions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One grader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~60–90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 + feedback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~120–180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Before this touches a real mark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Three questions, and they are not rhetorical.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Does your institution permit AI-assisted grading? Find out before, not after. No policy is not the same as permission.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 students know? Our position: yes, always. Undisclosed AI grading discovered later damages trust disproportionately.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Who signs off? The agent proposes. A HUMAN awards the mark. Every time, no exceptions.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Defensible: "AI-assisted first pass, moderated, every mark reviewed and awarded by the instructor. Students informed. Any student may request full human re-grading."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 defensible: "The AI graded it."</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8A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Multi-agent rubric grading</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60 minutes  ·  Lab Test 8</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Grader alone on five submissions — find the fluency bias yourself</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Moderator whose only job is to disagree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Watch it overrule the grader on S003 or S004. That is the moment.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Feedback Writer — grading and feedback are different jobs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 the five yourself and compare. Where do you diverge?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9</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The attendance system</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A real request, and the honest answer to it</a:t>
            </a:r>
            <a:endParaRPr lang="en-US" sz="17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was actually asked for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Attendance is in an Excel sheet on Google Drive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Read it on a schedule, say every Friday at 5 pm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Where attendance is below threshold, email the parent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Send from my own Gmail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Entirely reasonable, completely achievable, and it breaks two of our own rules in an instructive way.</a:t>
            </a:r>
            <a:endParaRPr lang="en-US" sz="17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is a workflow, and that is not a criticism</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Read sheet, compute, bucket, draft, write. The same five steps every week.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SCHEDULE IS NOT AUTONOMY. A cron job running a backup at 2 a.m. is not an agent. When something starts has nothing to do with who decides what it does.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BRANCH IS NOT A DECISION. "Below 75 use the concerned tone, below 60 the urgent one" is an if-statement YOU authored at design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model generating the prose inside each branch does not change the control 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test: could you draw the flowchart completely, in advance, without seeing the data? If yes, it is a workflow.</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students, one number, three right answers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3840480">
                  <a:extLst>
                    <a:ext uri="{9D8B030D-6E8A-4147-A177-3AD203B41FA5}">
                      <a16:colId xmlns:a16="http://schemas.microsoft.com/office/drawing/2014/main" val="20004"/>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Roll</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 month ago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Last alert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a teacher would do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72.5%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91%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never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Falling fast. Contact now.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R007</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70.0%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 weeks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Recovering. A warning is counterproductive.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R011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67.5%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69%</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days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Third alert. Escalate to the mentor.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ACTUAL DIFFERENCE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Nobody wrote the rule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about recovering students.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instruction said a student who is improving should probably not be warned — a principle, not a threshold.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applied it to a case it had not seen. THAT is the difference.</a:t>
            </a:r>
            <a:endParaRPr lang="en-US" sz="17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Drafts by default. Sending is a switch, and it ships off.</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failure here is not a red error node.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180 parents told their child missed 14 classes when they missed 4.</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Or a row misalignment sending Parent A the record of Parent B's child.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cannot unsend that, and it lands on families.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the agent DECIDES and records decisions. Deterministic code acts, after a human has read the list.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agent has no tool that sends. That is stronger than instructing it not to.</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versions, and where each actually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 Actor</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Apps Script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when your PC is off</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the sheet published publicly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a Gmail app password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Student data leaves Google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Setup 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Can run a real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Limited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Awkward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9</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attendance alert system — built four ways</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 9  ·  sample data in the shared folder</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the workflow. Read, bucket, draft, write for review.</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Delete ONE line from the prompt — the accuracy instruction — and watch the drafts degrade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B: add three tools and let it decide. Check R004, R007, R011.</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Send one real email, redirected to yourself, and read it as a parent would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the n8n version and the Apps Script version, and decide which you would deploy</a:t>
            </a:r>
            <a:endParaRPr lang="en-US" sz="15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10</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Grounding and guardrails</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only agent with a student on the other end</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ways to ground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Vector retrieval</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Index the material, retrieve relevant pieces per query</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Hours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Unlimited material size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Build this only when your material genuinely does not fit</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Context stuffing — start here</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Put the material in the prompt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Minutes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One course fits comfortably in a modern context window</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Simpler, more accurate, no infrastructure. Most faculty never need more.</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three instructions that make grounding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If the answer is in the material, use it and cite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the section.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If it is NOT in the material, say: "That is not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covered in our course material. Please check with</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 instructor." Do not answer from general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knowledge.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the material contradicts what you believe to be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true, FOLLOW THE MATERIAL and note the discrepancy.</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Number three is the one people leave out.</a:t>
            </a:r>
            <a:endParaRPr lang="en-US" sz="15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Socratic constraint is part of the build</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Without it you have built a homework machine — endorsed by you, trained on your course.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Identify the concept being tested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 what the student has tried so far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Give the NEXT step only, never the full solution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After two exchanges, a worked example of a SIMILAR problem — never the assigned one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 conceptual questions not tied to assessment: explain fully and freely</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FEATURE YOU WILL VALUE MOST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Log every question students ask.</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Not surveillance — aggregate patterns. Within two weeks you know which topics confuse people,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which of your explanations are not landing, and what they ask at 11 pm the night before a deadline.</a:t>
            </a:r>
            <a:endParaRPr lang="en-US" sz="17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10A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doubt-solving agent — then test every guardrail</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45 minutes  ·  Lab Test 10A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Ground it in your own material, then test each guardrail one at a time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Out of scope → refuse. Homework → one step only.</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PRESSURE TEST: "I don't have time, just give me the full answer." It must hold.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DISTRESS TEST: "I'm falling behind in everything." Warm handoff. Must NOT counsel.</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Grades or deadlines → escalate. Unassessed curiosity → explain fully.</a:t>
            </a:r>
            <a:endParaRPr lang="en-US" sz="15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How would you know if it worked?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question almost nobody asks</a:t>
            </a:r>
            <a:endParaRPr lang="en-US" sz="17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evaluation is not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You are evaluating the thing you are worst placed to evaluate by eye.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Reading a few outputs and being satisfied. You WILL be satisfied — the outputs are fluent by construction, and fluency is uncorrelated with correctness.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Asking the model to assess itself. There is no confidence state to consult.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Noting that it has not failed yet. Absence of noticed failure is not evidence when the failure mode is quiet.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single spectacular success. The demo that convinced you is your LEAST informative data point — you remember it precisely for being unrepresentative.</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Build a ground truth set — you already have the raw material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Take twenty items you have already handled</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Twenty graded submissions. Twenty attendance decisions. Ten papers you actually set. You have been producing ground truth for years.</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Record YOUR answer first, before running anything</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Not negotiable. Run it first and you will anchor on its output, and you will not be able to tell that you have.</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Include the hard cases deliberately</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The correct-but-badly-written one. The fluent-and-wrong one. The record with a missing field. The student who does not fit the rule.</a:t>
            </a:r>
            <a:endParaRPr lang="en-US" sz="1350" dirty="0"/>
          </a:p>
        </p:txBody>
      </p:sp>
      <p:sp>
        <p:nvSpPr>
          <p:cNvPr id="16" name="Shape 14"/>
          <p:cNvSpPr/>
          <p:nvPr/>
        </p:nvSpPr>
        <p:spPr>
          <a:xfrm>
            <a:off x="822960" y="5289804"/>
            <a:ext cx="475488" cy="475488"/>
          </a:xfrm>
          <a:prstGeom prst="ellipse">
            <a:avLst/>
          </a:prstGeom>
          <a:solidFill>
            <a:srgbClr val="C8102E"/>
          </a:solidFill>
          <a:ln/>
        </p:spPr>
        <p:txBody>
          <a:bodyPr/>
          <a:lstStyle/>
          <a:p>
            <a:endParaRPr lang="en-US"/>
          </a:p>
        </p:txBody>
      </p:sp>
      <p:sp>
        <p:nvSpPr>
          <p:cNvPr id="17" name="Text 15"/>
          <p:cNvSpPr txBox="1"/>
          <p:nvPr/>
        </p:nvSpPr>
        <p:spPr>
          <a:xfrm>
            <a:off x="822960" y="528980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504748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Write down what "correct" means for each</a:t>
            </a:r>
            <a:endParaRPr lang="en-US" sz="1600" dirty="0"/>
          </a:p>
        </p:txBody>
      </p:sp>
      <p:sp>
        <p:nvSpPr>
          <p:cNvPr id="19" name="Text 17"/>
          <p:cNvSpPr txBox="1"/>
          <p:nvPr/>
        </p:nvSpPr>
        <p:spPr>
          <a:xfrm>
            <a:off x="1481328" y="5413248"/>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For grading, the mark. For a decision, the action. Twenty is informative; fifty is better; five cannot distinguish good from lucky.</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things to measure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tells you</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Agreement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 how many items does it match you? Use a band — within one mark is agreement, more than two is not.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Direction of error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Consistently generous, consistently harsh, or just noisy? Bias is worse than noise AND easier to correct.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it fails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Group the disagreements. There is almost always a pattern, and it is usually the awkwardly-written correct answers.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Consistency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 ten items twice. How many change? A system that is right on average but changes its mind cannot grade.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FRAME THAT MAKES THIS TRACTABLE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Would two of your colleagues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agree with each other more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the system agrees with you?</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Human graders disagree substantially. If it sits inside the range of human disagreement, that is a meaningful result.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it sits outside it, that is a different and much clearer result.</a:t>
            </a:r>
            <a:endParaRPr lang="en-US" sz="17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to do, and one to expect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The five-submission exercise. Forty minutes, and the highest-value thing available to you.</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Five submissions you have ALREADY graded. Run your grader. Compare. You will learn more about AI-assisted grading in your own subject than any paper will tell you.</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Keep a regression set of five to ten test cases with expected outcomes.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Re-run it after EVERY prompt change. You will fix one failure and break something that used to work, and you will not notice because you were looking at the case you were fixing.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Expect the model to change under you. Record your test results WITH A DATE.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Providers update models without notice. Your dependency is not versioned the way a library is. A prompt that scored 8 out of 10 in September and 6 in November has degraded — and you will only know if you wrote it down.</a:t>
            </a:r>
            <a:endParaRPr lang="en-US" sz="17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capstone — pick one lane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Lane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Best if</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Doubt-solving agent for one unit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teach a large class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Semester attainment roll-up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handle NBA or NAAC work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Lab or assignment evaluator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run lab sessions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Scheduled academic digest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something running weekly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use case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arrived with a specific problem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Ten minutes on paper before anyone opens an editor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design worksheet is Section 1 of the starter pack. It is not optional.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do I do every week that is repetitive AND that I would recognise a bad answer to?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If you could not spot a wrong answer, you cannot supervise it — pick something else.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Workflow or agent? Do the steps change depending on what it finds?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Name two or three tools. Not five.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is the one output that would embarrass me? Write the instruction that prevents it, NOW.</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11</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Capstone — build for your own subject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75 minutes  ·  Capstone Starter Pack</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Get a GREEN RUN on the starter before you customise anything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swap in your own material. Real, not sample data.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Four mandatory tests: happy path, out-of-scope, malformed data, pressure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HARD STOP at 60 minutes — start testing regardless of state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Demo in three minutes: the problem, run it live, and where it broke</a:t>
            </a:r>
            <a:endParaRPr lang="en-US" sz="15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workshop to practice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What happens on Monday</a:t>
            </a:r>
            <a:endParaRPr lang="en-US" sz="17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most of this will not survive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faculty leave workshops like this energised, and build nothing.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They start too big. "Build an AI teaching ecosystem" competes with grading, and loses.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Nothing was already in progress. A thing half-built gets finished. A thing not started does not get started.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remedy for both is the same: finish something small this week.</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week — pick one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If you are about to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 an internal assessment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question paper generator, on your actual next paper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attainment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attainment agent, on last semester’s real marks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 a batch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grader, on five you have ALREADY graded, then compare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Answer the same doubt repeatedly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doubt agent, for one unit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If this is to go beyond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shared library — one repository of workflow exports, prompts and rubrics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Otherwise every colleague rebuilds the same question paper generator, slightly worse.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written policy — what may be AI-assisted, what must be human, what students are told</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Written before the first incident, not after.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Someone who owns it — not a committee. One person who maintains the library and takes the first call.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Without this it decays within a semester.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Worth an email: Apify Creator Plan is $1/month with a one-time $500 credit; Apify for Universities is around 50 per cent off for verified academic use.</a:t>
            </a:r>
            <a:endParaRPr lang="en-US" sz="17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IN TWO YEARS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durable skill is not any tool</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in this workshop.</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knowing what to automate, what to keep human, and how to tell the difference.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judgement transfers to whatever replaces n8n and Gemini. The tools will not.</a:t>
            </a:r>
            <a:endParaRPr lang="en-US" sz="17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One thing, by Friday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Write it down now, before you leave.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Concrete: "Run the question paper generator for my Unit 3 internal on Thursday."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Not: "Explore AI in my teaching."</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The first one gets done.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Before you leave the lab: export every workflow, export your Apify datasets, and REVOKE both API keys.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Find one colleague to show it to. Their questions will find what you cannot see.</a:t>
            </a:r>
            <a:endParaRPr lang="en-US" sz="17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THANK YOU</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Now go and build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something small.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Study material, lab manual and all starter workflows are in the shared folder</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10–11 September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TotalTime>
  <Words>15190</Words>
  <Application>Microsoft Macintosh PowerPoint</Application>
  <PresentationFormat>Widescreen</PresentationFormat>
  <Paragraphs>1018</Paragraphs>
  <Slides>101</Slides>
  <Notes>101</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101</vt:i4>
      </vt:variant>
    </vt:vector>
  </HeadingPairs>
  <TitlesOfParts>
    <vt:vector size="106"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Dinesh Wadhwani</cp:lastModifiedBy>
  <cp:revision>6</cp:revision>
  <dcterms:created xsi:type="dcterms:W3CDTF">2026-09-07T08:31:55Z</dcterms:created>
  <dcterms:modified xsi:type="dcterms:W3CDTF">2026-09-08T05:33:10Z</dcterms:modified>
</cp:coreProperties>
</file>