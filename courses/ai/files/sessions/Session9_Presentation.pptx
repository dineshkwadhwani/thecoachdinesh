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3A5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400" b="1">
                <a:solidFill>
                  <a:srgbClr val="FFFFFF"/>
                </a:solidFill>
              </a:defRPr>
            </a:pPr>
            <a:r>
              <a:t>Advanced Techniques &amp; Optimization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4747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>
                <a:solidFill>
                  <a:srgbClr val="E6F0FA"/>
                </a:solidFill>
              </a:defRPr>
            </a:pPr>
            <a:r>
              <a:t>Squeezing Performance from Less Compute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0292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0F0F0"/>
                </a:solidFill>
              </a:defRPr>
            </a:pPr>
            <a:r>
              <a:t>Session 9 of 12 | 60 minutes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2E5090"/>
          </a:solidFill>
          <a:ln>
            <a:solidFill>
              <a:srgbClr val="2E50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bIns="91440" tIns="91440" lIns="365760"/>
          <a:lstStyle/>
          <a:p>
            <a:pPr algn="ctr">
              <a:defRPr sz="3200" b="1">
                <a:solidFill>
                  <a:srgbClr val="FFFFFF"/>
                </a:solidFill>
              </a:defRPr>
            </a:pPr>
            <a:r>
              <a:t>Today's Journey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97280"/>
            <a:ext cx="80467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spcAft>
                <a:spcPts val="400"/>
              </a:spcAft>
              <a:defRPr sz="1600">
                <a:solidFill>
                  <a:srgbClr val="3F3F3F"/>
                </a:solidFill>
              </a:defRPr>
            </a:pPr>
            <a:r>
              <a:t>• Why Advanced Techniques Matter (5 min)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600">
                <a:solidFill>
                  <a:srgbClr val="3F3F3F"/>
                </a:solidFill>
              </a:defRPr>
            </a:pPr>
            <a:r>
              <a:t>• Multi-Armed Bandits (8 min)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600">
                <a:solidFill>
                  <a:srgbClr val="3F3F3F"/>
                </a:solidFill>
              </a:defRPr>
            </a:pPr>
            <a:r>
              <a:t>• Online Learning (8 min)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600">
                <a:solidFill>
                  <a:srgbClr val="3F3F3F"/>
                </a:solidFill>
              </a:defRPr>
            </a:pPr>
            <a:r>
              <a:t>• Federated Learning (8 min)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600">
                <a:solidFill>
                  <a:srgbClr val="3F3F3F"/>
                </a:solidFill>
              </a:defRPr>
            </a:pPr>
            <a:r>
              <a:t>• Differential Privacy (8 min)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600">
                <a:solidFill>
                  <a:srgbClr val="3F3F3F"/>
                </a:solidFill>
              </a:defRPr>
            </a:pPr>
            <a:r>
              <a:t>• Model Distillation (8 min)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600">
                <a:solidFill>
                  <a:srgbClr val="3F3F3F"/>
                </a:solidFill>
              </a:defRPr>
            </a:pPr>
            <a:r>
              <a:t>• Quantization &amp; Compression (5 min)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600">
                <a:solidFill>
                  <a:srgbClr val="3F3F3F"/>
                </a:solidFill>
              </a:defRPr>
            </a:pPr>
            <a:r>
              <a:t>• Real-World Applications (8 min)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600">
                <a:solidFill>
                  <a:srgbClr val="3F3F3F"/>
                </a:solidFill>
              </a:defRPr>
            </a:pPr>
            <a:r>
              <a:t>• Choosing Techniques (5 min)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600">
                <a:solidFill>
                  <a:srgbClr val="3F3F3F"/>
                </a:solidFill>
              </a:defRPr>
            </a:pPr>
            <a:r>
              <a:t>• Lab: Implement Optimization (12 min)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2E5090"/>
          </a:solidFill>
          <a:ln>
            <a:solidFill>
              <a:srgbClr val="2E50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bIns="91440" tIns="91440" lIns="365760"/>
          <a:lstStyle/>
          <a:p>
            <a:pPr algn="ctr">
              <a:defRPr sz="3200" b="1">
                <a:solidFill>
                  <a:srgbClr val="FFFFFF"/>
                </a:solidFill>
              </a:defRPr>
            </a:pPr>
            <a:r>
              <a:t>Why Advanced Techniques Matter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97280"/>
            <a:ext cx="80467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spcAft>
                <a:spcPts val="400"/>
              </a:spcAft>
              <a:defRPr sz="1600">
                <a:solidFill>
                  <a:srgbClr val="3F3F3F"/>
                </a:solidFill>
              </a:defRPr>
            </a:pPr>
            <a:r>
              <a:t>Netflix: 5% recommendation improvement = millions in revenue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600">
                <a:solidFill>
                  <a:srgbClr val="3F3F3F"/>
                </a:solidFill>
              </a:defRPr>
            </a:pPr>
            <a:r>
              <a:t>Google: 10% latency reduction = better user experience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600">
                <a:solidFill>
                  <a:srgbClr val="3F3F3F"/>
                </a:solidFill>
              </a:defRPr>
            </a:pPr>
            <a:r>
              <a:t>Apple: Federated learning = privacy competitive advantage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600">
                <a:solidFill>
                  <a:srgbClr val="3F3F3F"/>
                </a:solidFill>
              </a:defRPr>
            </a:pPr>
            <a:r>
              <a:t>LinkedIn: Differential privacy = compliance + trust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600">
                <a:solidFill>
                  <a:srgbClr val="3F3F3F"/>
                </a:solidFill>
              </a:defRPr>
            </a:pPr>
            <a:r>
              <a:t>Tesla: Model compression = real-time inference on car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2E5090"/>
          </a:solidFill>
          <a:ln>
            <a:solidFill>
              <a:srgbClr val="2E50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bIns="91440" tIns="91440" lIns="365760"/>
          <a:lstStyle/>
          <a:p>
            <a:pPr algn="ctr">
              <a:defRPr sz="3200" b="1">
                <a:solidFill>
                  <a:srgbClr val="FFFFFF"/>
                </a:solidFill>
              </a:defRPr>
            </a:pPr>
            <a:r>
              <a:t>Multi-Armed Bandits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97280"/>
            <a:ext cx="80467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spcAft>
                <a:spcPts val="400"/>
              </a:spcAft>
              <a:defRPr sz="1600">
                <a:solidFill>
                  <a:srgbClr val="3F3F3F"/>
                </a:solidFill>
              </a:defRPr>
            </a:pPr>
            <a:r>
              <a:t>Balance exploration and exploitation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600">
                <a:solidFill>
                  <a:srgbClr val="3F3F3F"/>
                </a:solidFill>
              </a:defRPr>
            </a:pPr>
            <a:r>
              <a:t>Epsilon-greedy: Simple, 10% exploration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600">
                <a:solidFill>
                  <a:srgbClr val="3F3F3F"/>
                </a:solidFill>
              </a:defRPr>
            </a:pPr>
            <a:r>
              <a:t>Thompson sampling: Mathematically optimal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600">
                <a:solidFill>
                  <a:srgbClr val="3F3F3F"/>
                </a:solidFill>
              </a:defRPr>
            </a:pPr>
            <a:r>
              <a:t>Contextual bandits: Personalized by user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600">
                <a:solidFill>
                  <a:srgbClr val="3F3F3F"/>
                </a:solidFill>
              </a:defRPr>
            </a:pPr>
            <a:r>
              <a:t>Netflix uses for recommendation ranking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2E5090"/>
          </a:solidFill>
          <a:ln>
            <a:solidFill>
              <a:srgbClr val="2E50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bIns="91440" tIns="91440" lIns="365760"/>
          <a:lstStyle/>
          <a:p>
            <a:pPr algn="ctr">
              <a:defRPr sz="3200" b="1">
                <a:solidFill>
                  <a:srgbClr val="FFFFFF"/>
                </a:solidFill>
              </a:defRPr>
            </a:pPr>
            <a:r>
              <a:t>Online Learning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97280"/>
            <a:ext cx="80467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spcAft>
                <a:spcPts val="400"/>
              </a:spcAft>
              <a:defRPr sz="1600">
                <a:solidFill>
                  <a:srgbClr val="3F3F3F"/>
                </a:solidFill>
              </a:defRPr>
            </a:pPr>
            <a:r>
              <a:t>Update models continuously as data arrives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600">
                <a:solidFill>
                  <a:srgbClr val="3F3F3F"/>
                </a:solidFill>
              </a:defRPr>
            </a:pPr>
            <a:r>
              <a:t>Batch: Wait 1 month, retrain, deploy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600">
                <a:solidFill>
                  <a:srgbClr val="3F3F3F"/>
                </a:solidFill>
              </a:defRPr>
            </a:pPr>
            <a:r>
              <a:t>Online: Update incrementally, responsive to drift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600">
                <a:solidFill>
                  <a:srgbClr val="3F3F3F"/>
                </a:solidFill>
              </a:defRPr>
            </a:pPr>
            <a:r>
              <a:t>Concept drift detection: Monitor error trend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600">
                <a:solidFill>
                  <a:srgbClr val="3F3F3F"/>
                </a:solidFill>
              </a:defRPr>
            </a:pPr>
            <a:r>
              <a:t>Google uses for real-time ad bidding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2E5090"/>
          </a:solidFill>
          <a:ln>
            <a:solidFill>
              <a:srgbClr val="2E50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bIns="91440" tIns="91440" lIns="365760"/>
          <a:lstStyle/>
          <a:p>
            <a:pPr algn="ctr">
              <a:defRPr sz="3200" b="1">
                <a:solidFill>
                  <a:srgbClr val="FFFFFF"/>
                </a:solidFill>
              </a:defRPr>
            </a:pPr>
            <a:r>
              <a:t>Federated Learning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97280"/>
            <a:ext cx="80467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spcAft>
                <a:spcPts val="400"/>
              </a:spcAft>
              <a:defRPr sz="1600">
                <a:solidFill>
                  <a:srgbClr val="3F3F3F"/>
                </a:solidFill>
              </a:defRPr>
            </a:pPr>
            <a:r>
              <a:t>Train on distributed devices without centralizing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600">
                <a:solidFill>
                  <a:srgbClr val="3F3F3F"/>
                </a:solidFill>
              </a:defRPr>
            </a:pPr>
            <a:r>
              <a:t>Privacy: User data never leaves phone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600">
                <a:solidFill>
                  <a:srgbClr val="3F3F3F"/>
                </a:solidFill>
              </a:defRPr>
            </a:pPr>
            <a:r>
              <a:t>Process: Device trains locally, sends updates only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600">
                <a:solidFill>
                  <a:srgbClr val="3F3F3F"/>
                </a:solidFill>
              </a:defRPr>
            </a:pPr>
            <a:r>
              <a:t>Apple uses for Siri, Keyboard, Photos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600">
                <a:solidFill>
                  <a:srgbClr val="3F3F3F"/>
                </a:solidFill>
              </a:defRPr>
            </a:pPr>
            <a:r>
              <a:t>Enables collaborative learning across companies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2E5090"/>
          </a:solidFill>
          <a:ln>
            <a:solidFill>
              <a:srgbClr val="2E50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bIns="91440" tIns="91440" lIns="365760"/>
          <a:lstStyle/>
          <a:p>
            <a:pPr algn="ctr">
              <a:defRPr sz="3200" b="1">
                <a:solidFill>
                  <a:srgbClr val="FFFFFF"/>
                </a:solidFill>
              </a:defRPr>
            </a:pPr>
            <a:r>
              <a:t>Differential Privacy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97280"/>
            <a:ext cx="80467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spcAft>
                <a:spcPts val="400"/>
              </a:spcAft>
              <a:defRPr sz="1600">
                <a:solidFill>
                  <a:srgbClr val="3F3F3F"/>
                </a:solidFill>
              </a:defRPr>
            </a:pPr>
            <a:r>
              <a:t>Mathematical privacy guarantee: epsilon-delta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600">
                <a:solidFill>
                  <a:srgbClr val="3F3F3F"/>
                </a:solidFill>
              </a:defRPr>
            </a:pPr>
            <a:r>
              <a:t>No individual can be identified from model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600">
                <a:solidFill>
                  <a:srgbClr val="3F3F3F"/>
                </a:solidFill>
              </a:defRPr>
            </a:pPr>
            <a:r>
              <a:t>Add calibrated noise to training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600">
                <a:solidFill>
                  <a:srgbClr val="3F3F3F"/>
                </a:solidFill>
              </a:defRPr>
            </a:pPr>
            <a:r>
              <a:t>Trade-off: More privacy = more noise = worse accuracy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600">
                <a:solidFill>
                  <a:srgbClr val="3F3F3F"/>
                </a:solidFill>
              </a:defRPr>
            </a:pPr>
            <a:r>
              <a:t>LinkedIn, Census Bureau, major tech companies use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2E5090"/>
          </a:solidFill>
          <a:ln>
            <a:solidFill>
              <a:srgbClr val="2E50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bIns="91440" tIns="91440" lIns="365760"/>
          <a:lstStyle/>
          <a:p>
            <a:pPr algn="ctr">
              <a:defRPr sz="3200" b="1">
                <a:solidFill>
                  <a:srgbClr val="FFFFFF"/>
                </a:solidFill>
              </a:defRPr>
            </a:pPr>
            <a:r>
              <a:t>Model Distillation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97280"/>
            <a:ext cx="80467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spcAft>
                <a:spcPts val="400"/>
              </a:spcAft>
              <a:defRPr sz="1600">
                <a:solidFill>
                  <a:srgbClr val="3F3F3F"/>
                </a:solidFill>
              </a:defRPr>
            </a:pPr>
            <a:r>
              <a:t>Transfer knowledge from large model to small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600">
                <a:solidFill>
                  <a:srgbClr val="3F3F3F"/>
                </a:solidFill>
              </a:defRPr>
            </a:pPr>
            <a:r>
              <a:t>Teacher: 100M params, 92% accuracy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600">
                <a:solidFill>
                  <a:srgbClr val="3F3F3F"/>
                </a:solidFill>
              </a:defRPr>
            </a:pPr>
            <a:r>
              <a:t>Student: 1M params, 90% accuracy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600">
                <a:solidFill>
                  <a:srgbClr val="3F3F3F"/>
                </a:solidFill>
              </a:defRPr>
            </a:pPr>
            <a:r>
              <a:t>Soft labels reveal teacher's reasoning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600">
                <a:solidFill>
                  <a:srgbClr val="3F3F3F"/>
                </a:solidFill>
              </a:defRPr>
            </a:pPr>
            <a:r>
              <a:t>Google BERT → DistilBERT: 88% size reduction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2E5090"/>
          </a:solidFill>
          <a:ln>
            <a:solidFill>
              <a:srgbClr val="2E50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bIns="91440" tIns="91440" lIns="365760"/>
          <a:lstStyle/>
          <a:p>
            <a:pPr algn="ctr">
              <a:defRPr sz="3200" b="1">
                <a:solidFill>
                  <a:srgbClr val="FFFFFF"/>
                </a:solidFill>
              </a:defRPr>
            </a:pPr>
            <a:r>
              <a:t>Quantization &amp; Compression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97280"/>
            <a:ext cx="80467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spcAft>
                <a:spcPts val="400"/>
              </a:spcAft>
              <a:defRPr sz="1600">
                <a:solidFill>
                  <a:srgbClr val="3F3F3F"/>
                </a:solidFill>
              </a:defRPr>
            </a:pPr>
            <a:r>
              <a:t>Reduce precision: float32 → INT8 (4x smaller)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600">
                <a:solidFill>
                  <a:srgbClr val="3F3F3F"/>
                </a:solidFill>
              </a:defRPr>
            </a:pPr>
            <a:r>
              <a:t>Inference: 10x faster on mobile hardware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600">
                <a:solidFill>
                  <a:srgbClr val="3F3F3F"/>
                </a:solidFill>
              </a:defRPr>
            </a:pPr>
            <a:r>
              <a:t>Sparsity: Remove unimportant weights (50% reduction)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600">
                <a:solidFill>
                  <a:srgbClr val="3F3F3F"/>
                </a:solidFill>
              </a:defRPr>
            </a:pPr>
            <a:r>
              <a:t>Combined with distillation: 20x compression possible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600">
                <a:solidFill>
                  <a:srgbClr val="3F3F3F"/>
                </a:solidFill>
              </a:defRPr>
            </a:pPr>
            <a:r>
              <a:t>Techniques stack: distill + quantize + prune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2E5090"/>
          </a:solidFill>
          <a:ln>
            <a:solidFill>
              <a:srgbClr val="2E50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bIns="91440" tIns="91440" lIns="365760"/>
          <a:lstStyle/>
          <a:p>
            <a:pPr algn="ctr">
              <a:defRPr sz="3200" b="1">
                <a:solidFill>
                  <a:srgbClr val="FFFFFF"/>
                </a:solidFill>
              </a:defRPr>
            </a:pPr>
            <a:r>
              <a:t>Real-World Optimization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97280"/>
            <a:ext cx="80467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spcAft>
                <a:spcPts val="400"/>
              </a:spcAft>
              <a:defRPr sz="1600">
                <a:solidFill>
                  <a:srgbClr val="3F3F3F"/>
                </a:solidFill>
              </a:defRPr>
            </a:pPr>
            <a:r>
              <a:t>Netflix: Thompson bandits → 5-15% engagement increase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600">
                <a:solidFill>
                  <a:srgbClr val="3F3F3F"/>
                </a:solidFill>
              </a:defRPr>
            </a:pPr>
            <a:r>
              <a:t>Google: Online learning → real-time bid optimization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600">
                <a:solidFill>
                  <a:srgbClr val="3F3F3F"/>
                </a:solidFill>
              </a:defRPr>
            </a:pPr>
            <a:r>
              <a:t>Apple: Federated + differential privacy → on-device AI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600">
                <a:solidFill>
                  <a:srgbClr val="3F3F3F"/>
                </a:solidFill>
              </a:defRPr>
            </a:pPr>
            <a:r>
              <a:t>LinkedIn: Differential privacy → sensitive data safety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600">
                <a:solidFill>
                  <a:srgbClr val="3F3F3F"/>
                </a:solidFill>
              </a:defRPr>
            </a:pPr>
            <a:r>
              <a:t>Tesla: Distillation + quantization → 4M cars with real-time inference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2E5090"/>
          </a:solidFill>
          <a:ln>
            <a:solidFill>
              <a:srgbClr val="2E50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bIns="91440" tIns="91440" lIns="365760"/>
          <a:lstStyle/>
          <a:p>
            <a:pPr algn="ctr">
              <a:defRPr sz="3200" b="1">
                <a:solidFill>
                  <a:srgbClr val="FFFFFF"/>
                </a:solidFill>
              </a:defRPr>
            </a:pPr>
            <a:r>
              <a:t>Choosing the Right Technique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97280"/>
            <a:ext cx="80467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spcAft>
                <a:spcPts val="400"/>
              </a:spcAft>
              <a:defRPr sz="1600">
                <a:solidFill>
                  <a:srgbClr val="3F3F3F"/>
                </a:solidFill>
              </a:defRPr>
            </a:pPr>
            <a:r>
              <a:t>Cost high? → Distillation, quantization, online learning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600">
                <a:solidFill>
                  <a:srgbClr val="3F3F3F"/>
                </a:solidFill>
              </a:defRPr>
            </a:pPr>
            <a:r>
              <a:t>Latency high? → Quantization, edge deployment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600">
                <a:solidFill>
                  <a:srgbClr val="3F3F3F"/>
                </a:solidFill>
              </a:defRPr>
            </a:pPr>
            <a:r>
              <a:t>Privacy concerns? → Federated, differential privacy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600">
                <a:solidFill>
                  <a:srgbClr val="3F3F3F"/>
                </a:solidFill>
              </a:defRPr>
            </a:pPr>
            <a:r>
              <a:t>Accuracy low? → Online learning, bandits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600">
                <a:solidFill>
                  <a:srgbClr val="3F3F3F"/>
                </a:solidFill>
              </a:defRPr>
            </a:pPr>
            <a:r>
              <a:t>Start simple, optimize bottleneck as system scales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2E5090"/>
          </a:solidFill>
          <a:ln>
            <a:solidFill>
              <a:srgbClr val="2E50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bIns="91440" tIns="91440" lIns="365760"/>
          <a:lstStyle/>
          <a:p>
            <a:pPr algn="ctr">
              <a:defRPr sz="3200" b="1">
                <a:solidFill>
                  <a:srgbClr val="FFFFFF"/>
                </a:solidFill>
              </a:defRPr>
            </a:pPr>
            <a:r>
              <a:t>Lab: Implement Optimization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97280"/>
            <a:ext cx="80467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spcAft>
                <a:spcPts val="400"/>
              </a:spcAft>
              <a:defRPr sz="1600">
                <a:solidFill>
                  <a:srgbClr val="3F3F3F"/>
                </a:solidFill>
              </a:defRPr>
            </a:pPr>
            <a:r>
              <a:t>Choose one technique for your system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600">
                <a:solidFill>
                  <a:srgbClr val="3F3F3F"/>
                </a:solidFill>
              </a:defRPr>
            </a:pPr>
            <a:r>
              <a:t>Design implementation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600">
                <a:solidFill>
                  <a:srgbClr val="3F3F3F"/>
                </a:solidFill>
              </a:defRPr>
            </a:pPr>
            <a:r>
              <a:t>Measure expected impact (cost, latency, accuracy)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600">
                <a:solidFill>
                  <a:srgbClr val="3F3F3F"/>
                </a:solidFill>
              </a:defRPr>
            </a:pPr>
            <a:r>
              <a:t>Analyze tradeoffs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600">
                <a:solidFill>
                  <a:srgbClr val="3F3F3F"/>
                </a:solidFill>
              </a:defRPr>
            </a:pPr>
            <a:r>
              <a:t>Compare to alternatives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600">
                <a:solidFill>
                  <a:srgbClr val="3F3F3F"/>
                </a:solidFill>
              </a:defRPr>
            </a:pPr>
            <a:r>
              <a:t>Create implementation plan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2E5090"/>
          </a:solidFill>
          <a:ln>
            <a:solidFill>
              <a:srgbClr val="2E50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bIns="91440" tIns="91440" lIns="365760"/>
          <a:lstStyle/>
          <a:p>
            <a:pPr algn="ctr">
              <a:defRPr sz="3200" b="1">
                <a:solidFill>
                  <a:srgbClr val="FFFFFF"/>
                </a:solidFill>
              </a:defRPr>
            </a:pPr>
            <a:r>
              <a:t>Session 9 Key Takeaways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97280"/>
            <a:ext cx="80467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spcAft>
                <a:spcPts val="400"/>
              </a:spcAft>
              <a:defRPr sz="1600">
                <a:solidFill>
                  <a:srgbClr val="3F3F3F"/>
                </a:solidFill>
              </a:defRPr>
            </a:pPr>
            <a:r>
              <a:t>1. Optimization is practical business engineering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600">
                <a:solidFill>
                  <a:srgbClr val="3F3F3F"/>
                </a:solidFill>
              </a:defRPr>
            </a:pPr>
            <a:r>
              <a:t>2. Advanced techniques address real constraints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600">
                <a:solidFill>
                  <a:srgbClr val="3F3F3F"/>
                </a:solidFill>
              </a:defRPr>
            </a:pPr>
            <a:r>
              <a:t>3. Trade-offs are fundamental (size, accuracy, privacy)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600">
                <a:solidFill>
                  <a:srgbClr val="3F3F3F"/>
                </a:solidFill>
              </a:defRPr>
            </a:pPr>
            <a:r>
              <a:t>4. Techniques combine for transformational power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600">
                <a:solidFill>
                  <a:srgbClr val="3F3F3F"/>
                </a:solidFill>
              </a:defRPr>
            </a:pPr>
            <a:r>
              <a:t>5. Measure, then optimize (don't guess)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600">
                <a:solidFill>
                  <a:srgbClr val="3F3F3F"/>
                </a:solidFill>
              </a:defRPr>
            </a:pPr>
            <a:r>
              <a:t>6. Privacy and efficiency increasingly critical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3A5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0"/>
            <a:ext cx="82296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800" b="1">
                <a:solidFill>
                  <a:srgbClr val="FFFFFF"/>
                </a:solidFill>
              </a:defRPr>
            </a:pPr>
            <a:r>
              <a:t>Session 10: Safety &amp; Alignment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657600"/>
            <a:ext cx="73152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defRPr sz="2200">
                <a:solidFill>
                  <a:srgbClr val="F0F0F0"/>
                </a:solidFill>
              </a:defRPr>
            </a:pPr>
            <a:r>
              <a:t>• AI safety and alignment principles</a:t>
            </a:r>
          </a:p>
          <a:p>
            <a:pPr>
              <a:spcBef>
                <a:spcPts val="800"/>
              </a:spcBef>
              <a:defRPr sz="2200">
                <a:solidFill>
                  <a:srgbClr val="F0F0F0"/>
                </a:solidFill>
              </a:defRPr>
            </a:pPr>
            <a:r>
              <a:t>• Bias detection and fairness</a:t>
            </a:r>
          </a:p>
          <a:p>
            <a:pPr>
              <a:spcBef>
                <a:spcPts val="800"/>
              </a:spcBef>
              <a:defRPr sz="2200">
                <a:solidFill>
                  <a:srgbClr val="F0F0F0"/>
                </a:solidFill>
              </a:defRPr>
            </a:pPr>
            <a:r>
              <a:t>• Red teaming and adversarial testing</a:t>
            </a:r>
          </a:p>
          <a:p>
            <a:pPr>
              <a:spcBef>
                <a:spcPts val="800"/>
              </a:spcBef>
              <a:defRPr sz="2200">
                <a:solidFill>
                  <a:srgbClr val="F0F0F0"/>
                </a:solidFill>
              </a:defRPr>
            </a:pPr>
            <a:r>
              <a:t>• Building trustworthy AI systems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